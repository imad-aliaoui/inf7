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24"/>
  </p:notesMasterIdLst>
  <p:handoutMasterIdLst>
    <p:handoutMasterId r:id="rId25"/>
  </p:handoutMasterIdLst>
  <p:sldIdLst>
    <p:sldId id="256" r:id="rId2"/>
    <p:sldId id="319" r:id="rId3"/>
    <p:sldId id="321" r:id="rId4"/>
    <p:sldId id="301" r:id="rId5"/>
    <p:sldId id="323" r:id="rId6"/>
    <p:sldId id="324" r:id="rId7"/>
    <p:sldId id="326" r:id="rId8"/>
    <p:sldId id="325" r:id="rId9"/>
    <p:sldId id="327" r:id="rId10"/>
    <p:sldId id="302" r:id="rId11"/>
    <p:sldId id="290" r:id="rId12"/>
    <p:sldId id="294" r:id="rId13"/>
    <p:sldId id="277" r:id="rId14"/>
    <p:sldId id="297" r:id="rId15"/>
    <p:sldId id="298" r:id="rId16"/>
    <p:sldId id="328" r:id="rId17"/>
    <p:sldId id="330" r:id="rId18"/>
    <p:sldId id="331" r:id="rId19"/>
    <p:sldId id="329" r:id="rId20"/>
    <p:sldId id="320" r:id="rId21"/>
    <p:sldId id="306" r:id="rId22"/>
    <p:sldId id="318" r:id="rId23"/>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87B1D-CCD7-410B-902E-79EE9E9C0530}" v="1" dt="2026-04-03T11:04:38.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34" autoAdjust="0"/>
  </p:normalViewPr>
  <p:slideViewPr>
    <p:cSldViewPr snapToGrid="0">
      <p:cViewPr varScale="1">
        <p:scale>
          <a:sx n="75" d="100"/>
          <a:sy n="75" d="100"/>
        </p:scale>
        <p:origin x="979" y="262"/>
      </p:cViewPr>
      <p:guideLst>
        <p:guide orient="horz" pos="2160"/>
        <p:guide pos="3840"/>
      </p:guideLst>
    </p:cSldViewPr>
  </p:slideViewPr>
  <p:notesTextViewPr>
    <p:cViewPr>
      <p:scale>
        <a:sx n="1" d="1"/>
        <a:sy n="1" d="1"/>
      </p:scale>
      <p:origin x="0" y="0"/>
    </p:cViewPr>
  </p:notesTextViewPr>
  <p:notesViewPr>
    <p:cSldViewPr snapToGrid="0">
      <p:cViewPr varScale="1">
        <p:scale>
          <a:sx n="93" d="100"/>
          <a:sy n="93" d="100"/>
        </p:scale>
        <p:origin x="295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FOVEAU" userId="dabd906ad70badc6" providerId="LiveId" clId="{43F131B2-21F0-476C-A6CD-2431D27944F7}"/>
    <pc:docChg chg="modSld">
      <pc:chgData name="Guillaume FOVEAU" userId="dabd906ad70badc6" providerId="LiveId" clId="{43F131B2-21F0-476C-A6CD-2431D27944F7}" dt="2026-04-09T10:41:41.068" v="1" actId="20577"/>
      <pc:docMkLst>
        <pc:docMk/>
      </pc:docMkLst>
      <pc:sldChg chg="modSp mod">
        <pc:chgData name="Guillaume FOVEAU" userId="dabd906ad70badc6" providerId="LiveId" clId="{43F131B2-21F0-476C-A6CD-2431D27944F7}" dt="2026-04-09T10:41:41.068" v="1" actId="20577"/>
        <pc:sldMkLst>
          <pc:docMk/>
          <pc:sldMk cId="4209711902" sldId="256"/>
        </pc:sldMkLst>
        <pc:spChg chg="mod">
          <ac:chgData name="Guillaume FOVEAU" userId="dabd906ad70badc6" providerId="LiveId" clId="{43F131B2-21F0-476C-A6CD-2431D27944F7}" dt="2026-04-09T10:41:41.068" v="1" actId="20577"/>
          <ac:spMkLst>
            <pc:docMk/>
            <pc:sldMk cId="4209711902" sldId="256"/>
            <ac:spMk id="3" creationId="{A4F4068D-37AE-4B7D-BC75-216B123A6C4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26D37A0-F398-4276-AAF6-E62AA90BC9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7D96B402-FD6E-4995-8160-C6DD76DAAC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E7AF26-C5F5-4F83-9BCC-79FC7D6C84FB}" type="datetime1">
              <a:rPr lang="fr-FR" smtClean="0"/>
              <a:t>09/04/2026</a:t>
            </a:fld>
            <a:endParaRPr lang="fr-FR"/>
          </a:p>
        </p:txBody>
      </p:sp>
      <p:sp>
        <p:nvSpPr>
          <p:cNvPr id="4" name="Espace réservé du pied de page 3">
            <a:extLst>
              <a:ext uri="{FF2B5EF4-FFF2-40B4-BE49-F238E27FC236}">
                <a16:creationId xmlns:a16="http://schemas.microsoft.com/office/drawing/2014/main" id="{67BA7967-B488-405D-84A2-64F6D9128F3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6A65115A-3EB4-4B47-8F4B-4F42519BF9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D0885D5-D443-4228-8B2C-B9DF9A30D578}" type="slidenum">
              <a:rPr lang="fr-FR" smtClean="0"/>
              <a:t>‹N°›</a:t>
            </a:fld>
            <a:endParaRPr lang="fr-FR"/>
          </a:p>
        </p:txBody>
      </p:sp>
    </p:spTree>
    <p:extLst>
      <p:ext uri="{BB962C8B-B14F-4D97-AF65-F5344CB8AC3E}">
        <p14:creationId xmlns:p14="http://schemas.microsoft.com/office/powerpoint/2010/main" val="41478913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1A845AF-11F2-4347-97C4-4CF5A0EEB147}" type="datetime1">
              <a:rPr lang="fr-FR" noProof="0" smtClean="0"/>
              <a:t>09/04/2026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9D2F9AB-3C90-481E-8C34-4F549BF455D7}" type="slidenum">
              <a:rPr lang="fr-FR" noProof="0" smtClean="0"/>
              <a:t>‹N°›</a:t>
            </a:fld>
            <a:endParaRPr lang="fr-FR" noProof="0"/>
          </a:p>
        </p:txBody>
      </p:sp>
    </p:spTree>
    <p:extLst>
      <p:ext uri="{BB962C8B-B14F-4D97-AF65-F5344CB8AC3E}">
        <p14:creationId xmlns:p14="http://schemas.microsoft.com/office/powerpoint/2010/main" val="38917179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1</a:t>
            </a:fld>
            <a:endParaRPr lang="fr-FR"/>
          </a:p>
        </p:txBody>
      </p:sp>
    </p:spTree>
    <p:extLst>
      <p:ext uri="{BB962C8B-B14F-4D97-AF65-F5344CB8AC3E}">
        <p14:creationId xmlns:p14="http://schemas.microsoft.com/office/powerpoint/2010/main" val="61691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a:t>
            </a:fld>
            <a:endParaRPr lang="fr-FR"/>
          </a:p>
        </p:txBody>
      </p:sp>
    </p:spTree>
    <p:extLst>
      <p:ext uri="{BB962C8B-B14F-4D97-AF65-F5344CB8AC3E}">
        <p14:creationId xmlns:p14="http://schemas.microsoft.com/office/powerpoint/2010/main" val="3098280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3</a:t>
            </a:fld>
            <a:endParaRPr lang="fr-FR"/>
          </a:p>
        </p:txBody>
      </p:sp>
    </p:spTree>
    <p:extLst>
      <p:ext uri="{BB962C8B-B14F-4D97-AF65-F5344CB8AC3E}">
        <p14:creationId xmlns:p14="http://schemas.microsoft.com/office/powerpoint/2010/main" val="1454866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4</a:t>
            </a:fld>
            <a:endParaRPr lang="fr-FR"/>
          </a:p>
        </p:txBody>
      </p:sp>
    </p:spTree>
    <p:extLst>
      <p:ext uri="{BB962C8B-B14F-4D97-AF65-F5344CB8AC3E}">
        <p14:creationId xmlns:p14="http://schemas.microsoft.com/office/powerpoint/2010/main" val="2944921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9C1-66BB-E823-A631-A42F43DFC8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A2F9E5-7406-C2CC-54B4-89D15C8D9D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CA458DB-5DAE-2EE9-BB49-3A0C5C05D72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491B3FE7-84D1-5D00-A91A-3787B93F9118}"/>
              </a:ext>
            </a:extLst>
          </p:cNvPr>
          <p:cNvSpPr>
            <a:spLocks noGrp="1"/>
          </p:cNvSpPr>
          <p:nvPr>
            <p:ph type="sldNum" sz="quarter" idx="5"/>
          </p:nvPr>
        </p:nvSpPr>
        <p:spPr/>
        <p:txBody>
          <a:bodyPr rtlCol="0"/>
          <a:lstStyle/>
          <a:p>
            <a:pPr rtl="0"/>
            <a:fld id="{69D2F9AB-3C90-481E-8C34-4F549BF455D7}" type="slidenum">
              <a:rPr lang="fr-FR" smtClean="0"/>
              <a:t>5</a:t>
            </a:fld>
            <a:endParaRPr lang="fr-FR"/>
          </a:p>
        </p:txBody>
      </p:sp>
    </p:spTree>
    <p:extLst>
      <p:ext uri="{BB962C8B-B14F-4D97-AF65-F5344CB8AC3E}">
        <p14:creationId xmlns:p14="http://schemas.microsoft.com/office/powerpoint/2010/main" val="1462180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9C1-66BB-E823-A631-A42F43DFC8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A2F9E5-7406-C2CC-54B4-89D15C8D9D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CA458DB-5DAE-2EE9-BB49-3A0C5C05D72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491B3FE7-84D1-5D00-A91A-3787B93F9118}"/>
              </a:ext>
            </a:extLst>
          </p:cNvPr>
          <p:cNvSpPr>
            <a:spLocks noGrp="1"/>
          </p:cNvSpPr>
          <p:nvPr>
            <p:ph type="sldNum" sz="quarter" idx="5"/>
          </p:nvPr>
        </p:nvSpPr>
        <p:spPr/>
        <p:txBody>
          <a:bodyPr rtlCol="0"/>
          <a:lstStyle/>
          <a:p>
            <a:pPr rtl="0"/>
            <a:fld id="{69D2F9AB-3C90-481E-8C34-4F549BF455D7}" type="slidenum">
              <a:rPr lang="fr-FR" smtClean="0"/>
              <a:t>6</a:t>
            </a:fld>
            <a:endParaRPr lang="fr-FR"/>
          </a:p>
        </p:txBody>
      </p:sp>
    </p:spTree>
    <p:extLst>
      <p:ext uri="{BB962C8B-B14F-4D97-AF65-F5344CB8AC3E}">
        <p14:creationId xmlns:p14="http://schemas.microsoft.com/office/powerpoint/2010/main" val="2382804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9C1-66BB-E823-A631-A42F43DFC8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A2F9E5-7406-C2CC-54B4-89D15C8D9D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CA458DB-5DAE-2EE9-BB49-3A0C5C05D72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491B3FE7-84D1-5D00-A91A-3787B93F9118}"/>
              </a:ext>
            </a:extLst>
          </p:cNvPr>
          <p:cNvSpPr>
            <a:spLocks noGrp="1"/>
          </p:cNvSpPr>
          <p:nvPr>
            <p:ph type="sldNum" sz="quarter" idx="5"/>
          </p:nvPr>
        </p:nvSpPr>
        <p:spPr/>
        <p:txBody>
          <a:bodyPr rtlCol="0"/>
          <a:lstStyle/>
          <a:p>
            <a:pPr rtl="0"/>
            <a:fld id="{69D2F9AB-3C90-481E-8C34-4F549BF455D7}" type="slidenum">
              <a:rPr lang="fr-FR" smtClean="0"/>
              <a:t>7</a:t>
            </a:fld>
            <a:endParaRPr lang="fr-FR"/>
          </a:p>
        </p:txBody>
      </p:sp>
    </p:spTree>
    <p:extLst>
      <p:ext uri="{BB962C8B-B14F-4D97-AF65-F5344CB8AC3E}">
        <p14:creationId xmlns:p14="http://schemas.microsoft.com/office/powerpoint/2010/main" val="593217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9C1-66BB-E823-A631-A42F43DFC8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A2F9E5-7406-C2CC-54B4-89D15C8D9D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CA458DB-5DAE-2EE9-BB49-3A0C5C05D72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491B3FE7-84D1-5D00-A91A-3787B93F9118}"/>
              </a:ext>
            </a:extLst>
          </p:cNvPr>
          <p:cNvSpPr>
            <a:spLocks noGrp="1"/>
          </p:cNvSpPr>
          <p:nvPr>
            <p:ph type="sldNum" sz="quarter" idx="5"/>
          </p:nvPr>
        </p:nvSpPr>
        <p:spPr/>
        <p:txBody>
          <a:bodyPr rtlCol="0"/>
          <a:lstStyle/>
          <a:p>
            <a:pPr rtl="0"/>
            <a:fld id="{69D2F9AB-3C90-481E-8C34-4F549BF455D7}" type="slidenum">
              <a:rPr lang="fr-FR" smtClean="0"/>
              <a:t>8</a:t>
            </a:fld>
            <a:endParaRPr lang="fr-FR"/>
          </a:p>
        </p:txBody>
      </p:sp>
    </p:spTree>
    <p:extLst>
      <p:ext uri="{BB962C8B-B14F-4D97-AF65-F5344CB8AC3E}">
        <p14:creationId xmlns:p14="http://schemas.microsoft.com/office/powerpoint/2010/main" val="762458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9C1-66BB-E823-A631-A42F43DFC8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A2F9E5-7406-C2CC-54B4-89D15C8D9D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CA458DB-5DAE-2EE9-BB49-3A0C5C05D72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491B3FE7-84D1-5D00-A91A-3787B93F9118}"/>
              </a:ext>
            </a:extLst>
          </p:cNvPr>
          <p:cNvSpPr>
            <a:spLocks noGrp="1"/>
          </p:cNvSpPr>
          <p:nvPr>
            <p:ph type="sldNum" sz="quarter" idx="5"/>
          </p:nvPr>
        </p:nvSpPr>
        <p:spPr/>
        <p:txBody>
          <a:bodyPr rtlCol="0"/>
          <a:lstStyle/>
          <a:p>
            <a:pPr rtl="0"/>
            <a:fld id="{69D2F9AB-3C90-481E-8C34-4F549BF455D7}" type="slidenum">
              <a:rPr lang="fr-FR" smtClean="0"/>
              <a:t>9</a:t>
            </a:fld>
            <a:endParaRPr lang="fr-FR"/>
          </a:p>
        </p:txBody>
      </p:sp>
    </p:spTree>
    <p:extLst>
      <p:ext uri="{BB962C8B-B14F-4D97-AF65-F5344CB8AC3E}">
        <p14:creationId xmlns:p14="http://schemas.microsoft.com/office/powerpoint/2010/main" val="3007565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20</a:t>
            </a:fld>
            <a:endParaRPr lang="fr-FR"/>
          </a:p>
        </p:txBody>
      </p:sp>
    </p:spTree>
    <p:extLst>
      <p:ext uri="{BB962C8B-B14F-4D97-AF65-F5344CB8AC3E}">
        <p14:creationId xmlns:p14="http://schemas.microsoft.com/office/powerpoint/2010/main" val="1121368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21</a:t>
            </a:fld>
            <a:endParaRPr lang="fr-FR"/>
          </a:p>
        </p:txBody>
      </p:sp>
    </p:spTree>
    <p:extLst>
      <p:ext uri="{BB962C8B-B14F-4D97-AF65-F5344CB8AC3E}">
        <p14:creationId xmlns:p14="http://schemas.microsoft.com/office/powerpoint/2010/main" val="3130172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22</a:t>
            </a:fld>
            <a:endParaRPr lang="fr-FR"/>
          </a:p>
        </p:txBody>
      </p:sp>
    </p:spTree>
    <p:extLst>
      <p:ext uri="{BB962C8B-B14F-4D97-AF65-F5344CB8AC3E}">
        <p14:creationId xmlns:p14="http://schemas.microsoft.com/office/powerpoint/2010/main" val="4250445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fr-FR" noProof="0"/>
              <a:t>Modifiez le style du titre</a:t>
            </a:r>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Modifiez le style des sous-titres du masque</a:t>
            </a:r>
            <a:endParaRPr lang="fr-FR" noProof="0" dirty="0"/>
          </a:p>
        </p:txBody>
      </p:sp>
      <p:sp>
        <p:nvSpPr>
          <p:cNvPr id="8" name="Espace réservé de la date 7">
            <a:extLst>
              <a:ext uri="{FF2B5EF4-FFF2-40B4-BE49-F238E27FC236}">
                <a16:creationId xmlns:a16="http://schemas.microsoft.com/office/drawing/2014/main" id="{7FA0ACE7-29A8-47D3-A7D9-257B711D8023}"/>
              </a:ext>
            </a:extLst>
          </p:cNvPr>
          <p:cNvSpPr>
            <a:spLocks noGrp="1"/>
          </p:cNvSpPr>
          <p:nvPr>
            <p:ph type="dt" sz="half" idx="10"/>
          </p:nvPr>
        </p:nvSpPr>
        <p:spPr>
          <a:xfrm>
            <a:off x="7605951" y="6423914"/>
            <a:ext cx="2844799" cy="365125"/>
          </a:xfrm>
        </p:spPr>
        <p:txBody>
          <a:bodyPr rtlCol="0"/>
          <a:lstStyle/>
          <a:p>
            <a:pPr rtl="0"/>
            <a:fld id="{72C4FEF8-FC68-411A-899A-F928A33D24FB}" type="datetime1">
              <a:rPr lang="fr-FR" noProof="0" smtClean="0"/>
              <a:t>09/04/2026</a:t>
            </a:fld>
            <a:endParaRPr lang="fr-FR" noProof="0"/>
          </a:p>
        </p:txBody>
      </p:sp>
      <p:sp>
        <p:nvSpPr>
          <p:cNvPr id="10" name="Espace réservé du numéro de diapositive 9">
            <a:extLst>
              <a:ext uri="{FF2B5EF4-FFF2-40B4-BE49-F238E27FC236}">
                <a16:creationId xmlns:a16="http://schemas.microsoft.com/office/drawing/2014/main" id="{5898A89F-CA25-400F-B05A-AECBF2517E4F}"/>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3FB45199-F13E-4CB5-AF62-71432CD4898C}"/>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380092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a:xfrm>
            <a:off x="7605951" y="6423914"/>
            <a:ext cx="2844799" cy="365125"/>
          </a:xfrm>
        </p:spPr>
        <p:txBody>
          <a:bodyPr rtlCol="0"/>
          <a:lstStyle/>
          <a:p>
            <a:pPr rtl="0"/>
            <a:fld id="{AB28707F-B17E-493F-8659-F94ED40A7C4F}" type="datetime1">
              <a:rPr lang="fr-FR" noProof="0" smtClean="0"/>
              <a:t>09/04/2026</a:t>
            </a:fld>
            <a:endParaRPr lang="fr-FR" noProof="0"/>
          </a:p>
        </p:txBody>
      </p:sp>
      <p:sp>
        <p:nvSpPr>
          <p:cNvPr id="6" name="Espace réservé du numéro de diapositive 5"/>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7" name="Espace réservé du pied de page 5">
            <a:extLst>
              <a:ext uri="{FF2B5EF4-FFF2-40B4-BE49-F238E27FC236}">
                <a16:creationId xmlns:a16="http://schemas.microsoft.com/office/drawing/2014/main" id="{D5D91A8B-765C-4E59-8109-94DA4EA55B3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0F0F318B-B2C4-4893-95F3-E1AB652A1F17}"/>
              </a:ext>
            </a:extLst>
          </p:cNvPr>
          <p:cNvSpPr>
            <a:spLocks noChangeAspect="1"/>
          </p:cNvSpPr>
          <p:nvPr userDrawn="1"/>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34FB09F2-FC78-4161-B5F8-C064B938BE73}"/>
              </a:ext>
            </a:extLst>
          </p:cNvPr>
          <p:cNvSpPr>
            <a:spLocks noGrp="1"/>
          </p:cNvSpPr>
          <p:nvPr>
            <p:ph type="title"/>
          </p:nvPr>
        </p:nvSpPr>
        <p:spPr>
          <a:xfrm>
            <a:off x="581192" y="702156"/>
            <a:ext cx="11029616" cy="1013800"/>
          </a:xfrm>
        </p:spPr>
        <p:txBody>
          <a:bodyPr rtlCol="0"/>
          <a:lstStyle>
            <a:lvl1pPr>
              <a:defRPr>
                <a:solidFill>
                  <a:schemeClr val="bg1"/>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08CB40EA-D0BA-41DA-91DE-15B4C161DD28}"/>
              </a:ext>
            </a:extLst>
          </p:cNvPr>
          <p:cNvSpPr>
            <a:spLocks noGrp="1"/>
          </p:cNvSpPr>
          <p:nvPr>
            <p:ph idx="1" hasCustomPrompt="1"/>
          </p:nvPr>
        </p:nvSpPr>
        <p:spPr>
          <a:xfrm>
            <a:off x="581192" y="2180496"/>
            <a:ext cx="11029615" cy="3678303"/>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Tree>
    <p:extLst>
      <p:ext uri="{BB962C8B-B14F-4D97-AF65-F5344CB8AC3E}">
        <p14:creationId xmlns:p14="http://schemas.microsoft.com/office/powerpoint/2010/main" val="4118494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lvl1pPr>
              <a:defRPr>
                <a:solidFill>
                  <a:schemeClr val="accent1">
                    <a:lumMod val="75000"/>
                    <a:lumOff val="25000"/>
                  </a:schemeClr>
                </a:solidFill>
              </a:defRPr>
            </a:lvl1pPr>
          </a:lstStyle>
          <a:p>
            <a:pPr rtl="0"/>
            <a:fld id="{DF21822C-2B95-4501-9F00-B76E51440D72}" type="datetime1">
              <a:rPr lang="fr-FR" noProof="0" smtClean="0"/>
              <a:t>09/04/2026</a:t>
            </a:fld>
            <a:endParaRPr lang="fr-FR" noProof="0"/>
          </a:p>
        </p:txBody>
      </p:sp>
      <p:sp>
        <p:nvSpPr>
          <p:cNvPr id="5" name="Espace réservé du pied de page 4"/>
          <p:cNvSpPr>
            <a:spLocks noGrp="1"/>
          </p:cNvSpPr>
          <p:nvPr>
            <p:ph type="ftr" sz="quarter" idx="11"/>
          </p:nvPr>
        </p:nvSpPr>
        <p:spPr/>
        <p:txBody>
          <a:bodyPr rtlCol="0"/>
          <a:lstStyle>
            <a:lvl1pPr>
              <a:defRPr>
                <a:solidFill>
                  <a:schemeClr val="accent1">
                    <a:lumMod val="75000"/>
                    <a:lumOff val="25000"/>
                  </a:schemeClr>
                </a:solidFill>
              </a:defRPr>
            </a:lvl1pPr>
          </a:lstStyle>
          <a:p>
            <a:pPr rtl="0"/>
            <a:r>
              <a:rPr lang="fr-FR" noProof="0"/>
              <a:t>Guillaume FOVEAU 2026</a:t>
            </a:r>
          </a:p>
        </p:txBody>
      </p:sp>
      <p:sp>
        <p:nvSpPr>
          <p:cNvPr id="6" name="Espace réservé du numéro de diapositiv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159F479D-7533-4EEF-A06F-7CD2FE3DB90D}" type="slidenum">
              <a:rPr lang="fr-FR" noProof="0" smtClean="0"/>
              <a:t>‹N°›</a:t>
            </a:fld>
            <a:endParaRPr lang="fr-FR" noProof="0"/>
          </a:p>
        </p:txBody>
      </p:sp>
    </p:spTree>
    <p:extLst>
      <p:ext uri="{BB962C8B-B14F-4D97-AF65-F5344CB8AC3E}">
        <p14:creationId xmlns:p14="http://schemas.microsoft.com/office/powerpoint/2010/main" val="370703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eux contenus">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782D47D-B0DC-4C40-BCC6-BBBA32584A38}"/>
              </a:ext>
            </a:extLst>
          </p:cNvPr>
          <p:cNvSpPr>
            <a:spLocks noGrp="1"/>
          </p:cNvSpPr>
          <p:nvPr>
            <p:ph type="dt" sz="half" idx="10"/>
          </p:nvPr>
        </p:nvSpPr>
        <p:spPr>
          <a:xfrm>
            <a:off x="7605951" y="6423914"/>
            <a:ext cx="2844799" cy="365125"/>
          </a:xfrm>
        </p:spPr>
        <p:txBody>
          <a:bodyPr rtlCol="0"/>
          <a:lstStyle/>
          <a:p>
            <a:pPr rtl="0"/>
            <a:fld id="{9B6A2529-DCD0-461E-91DC-CFED96164CA3}" type="datetime1">
              <a:rPr lang="fr-FR" noProof="0" smtClean="0"/>
              <a:t>09/04/2026</a:t>
            </a:fld>
            <a:endParaRPr lang="fr-FR" noProof="0"/>
          </a:p>
        </p:txBody>
      </p:sp>
      <p:sp>
        <p:nvSpPr>
          <p:cNvPr id="10" name="Espace réservé du numéro de diapositive 9">
            <a:extLst>
              <a:ext uri="{FF2B5EF4-FFF2-40B4-BE49-F238E27FC236}">
                <a16:creationId xmlns:a16="http://schemas.microsoft.com/office/drawing/2014/main" id="{2AC511A1-9BBD-42DE-92FB-2AF44F8E97A9}"/>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CAD31966-421C-41DC-9B46-21B1CD73A77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2" name="Rectangle 11">
            <a:extLst>
              <a:ext uri="{FF2B5EF4-FFF2-40B4-BE49-F238E27FC236}">
                <a16:creationId xmlns:a16="http://schemas.microsoft.com/office/drawing/2014/main" id="{AF9102ED-C049-4F62-A2D8-58981A0621E3}"/>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Titre 1">
            <a:extLst>
              <a:ext uri="{FF2B5EF4-FFF2-40B4-BE49-F238E27FC236}">
                <a16:creationId xmlns:a16="http://schemas.microsoft.com/office/drawing/2014/main" id="{CF5F73D5-EFB4-4DAE-8CBA-1128F10DF1B2}"/>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4" name="Espace réservé du contenu 2">
            <a:extLst>
              <a:ext uri="{FF2B5EF4-FFF2-40B4-BE49-F238E27FC236}">
                <a16:creationId xmlns:a16="http://schemas.microsoft.com/office/drawing/2014/main" id="{2B92446D-E0AD-4899-86E1-DFBB50D92144}"/>
              </a:ext>
            </a:extLst>
          </p:cNvPr>
          <p:cNvSpPr>
            <a:spLocks noGrp="1"/>
          </p:cNvSpPr>
          <p:nvPr>
            <p:ph sz="half" idx="1" hasCustomPrompt="1"/>
          </p:nvPr>
        </p:nvSpPr>
        <p:spPr>
          <a:xfrm>
            <a:off x="581193" y="2228003"/>
            <a:ext cx="5422390"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contenu 3">
            <a:extLst>
              <a:ext uri="{FF2B5EF4-FFF2-40B4-BE49-F238E27FC236}">
                <a16:creationId xmlns:a16="http://schemas.microsoft.com/office/drawing/2014/main" id="{9BF0768A-BCD3-4064-8FE0-C439326F00DD}"/>
              </a:ext>
            </a:extLst>
          </p:cNvPr>
          <p:cNvSpPr>
            <a:spLocks noGrp="1"/>
          </p:cNvSpPr>
          <p:nvPr>
            <p:ph sz="half" idx="2" hasCustomPrompt="1"/>
          </p:nvPr>
        </p:nvSpPr>
        <p:spPr>
          <a:xfrm>
            <a:off x="6188417" y="2228003"/>
            <a:ext cx="5422392"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3635230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7" name="Espace réservé de la date 6">
            <a:extLst>
              <a:ext uri="{FF2B5EF4-FFF2-40B4-BE49-F238E27FC236}">
                <a16:creationId xmlns:a16="http://schemas.microsoft.com/office/drawing/2014/main" id="{950CE4CA-34EA-472D-A23C-1DE165FCAA2F}"/>
              </a:ext>
            </a:extLst>
          </p:cNvPr>
          <p:cNvSpPr>
            <a:spLocks noGrp="1"/>
          </p:cNvSpPr>
          <p:nvPr>
            <p:ph type="dt" sz="half" idx="10"/>
          </p:nvPr>
        </p:nvSpPr>
        <p:spPr>
          <a:xfrm>
            <a:off x="7605951" y="6423914"/>
            <a:ext cx="2844799" cy="365125"/>
          </a:xfrm>
        </p:spPr>
        <p:txBody>
          <a:bodyPr rtlCol="0"/>
          <a:lstStyle/>
          <a:p>
            <a:pPr rtl="0"/>
            <a:fld id="{E03D07D3-1F42-4F7A-8CD2-DE183165AFFE}" type="datetime1">
              <a:rPr lang="fr-FR" noProof="0" smtClean="0"/>
              <a:t>09/04/2026</a:t>
            </a:fld>
            <a:endParaRPr lang="fr-FR" noProof="0"/>
          </a:p>
        </p:txBody>
      </p:sp>
      <p:sp>
        <p:nvSpPr>
          <p:cNvPr id="9" name="Espace réservé du numéro de diapositive 8">
            <a:extLst>
              <a:ext uri="{FF2B5EF4-FFF2-40B4-BE49-F238E27FC236}">
                <a16:creationId xmlns:a16="http://schemas.microsoft.com/office/drawing/2014/main" id="{52AC1173-613F-48B1-B860-00397875FEEA}"/>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0" name="Espace réservé du pied de page 5">
            <a:extLst>
              <a:ext uri="{FF2B5EF4-FFF2-40B4-BE49-F238E27FC236}">
                <a16:creationId xmlns:a16="http://schemas.microsoft.com/office/drawing/2014/main" id="{94036C93-814B-4155-A748-7731CA60AC88}"/>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1" name="Rectangle 10">
            <a:extLst>
              <a:ext uri="{FF2B5EF4-FFF2-40B4-BE49-F238E27FC236}">
                <a16:creationId xmlns:a16="http://schemas.microsoft.com/office/drawing/2014/main" id="{DA4EE69F-D906-40FA-8109-46DF1B1A16FA}"/>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re 1">
            <a:extLst>
              <a:ext uri="{FF2B5EF4-FFF2-40B4-BE49-F238E27FC236}">
                <a16:creationId xmlns:a16="http://schemas.microsoft.com/office/drawing/2014/main" id="{7DC41C5E-3615-4EA8-B8E6-E2B196256B1C}"/>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3" name="Espace réservé du texte 2">
            <a:extLst>
              <a:ext uri="{FF2B5EF4-FFF2-40B4-BE49-F238E27FC236}">
                <a16:creationId xmlns:a16="http://schemas.microsoft.com/office/drawing/2014/main" id="{9555D9C2-1EA2-4557-9496-E7AEA7A128B8}"/>
              </a:ext>
            </a:extLst>
          </p:cNvPr>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14" name="Espace réservé du contenu 3">
            <a:extLst>
              <a:ext uri="{FF2B5EF4-FFF2-40B4-BE49-F238E27FC236}">
                <a16:creationId xmlns:a16="http://schemas.microsoft.com/office/drawing/2014/main" id="{A464C6A4-3497-4DA5-945D-7A771E383ACF}"/>
              </a:ext>
            </a:extLst>
          </p:cNvPr>
          <p:cNvSpPr>
            <a:spLocks noGrp="1"/>
          </p:cNvSpPr>
          <p:nvPr>
            <p:ph sz="half" idx="2" hasCustomPrompt="1"/>
          </p:nvPr>
        </p:nvSpPr>
        <p:spPr>
          <a:xfrm>
            <a:off x="581194"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texte 4">
            <a:extLst>
              <a:ext uri="{FF2B5EF4-FFF2-40B4-BE49-F238E27FC236}">
                <a16:creationId xmlns:a16="http://schemas.microsoft.com/office/drawing/2014/main" id="{91C3F39A-C070-4EEB-9285-4EFBEE5FB54A}"/>
              </a:ext>
            </a:extLst>
          </p:cNvPr>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16" name="Espace réservé du contenu 5">
            <a:extLst>
              <a:ext uri="{FF2B5EF4-FFF2-40B4-BE49-F238E27FC236}">
                <a16:creationId xmlns:a16="http://schemas.microsoft.com/office/drawing/2014/main" id="{07E4AC67-32FA-4B42-9340-5E57C82F7437}"/>
              </a:ext>
            </a:extLst>
          </p:cNvPr>
          <p:cNvSpPr>
            <a:spLocks noGrp="1"/>
          </p:cNvSpPr>
          <p:nvPr>
            <p:ph sz="quarter" idx="4" hasCustomPrompt="1"/>
          </p:nvPr>
        </p:nvSpPr>
        <p:spPr>
          <a:xfrm>
            <a:off x="6217709"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1193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00F8786A-FA64-402F-9ADA-1A6AD9AA1CDD}" type="datetime1">
              <a:rPr lang="fr-FR" noProof="0" smtClean="0"/>
              <a:t>09/04/2026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Rectangle 6">
            <a:extLst>
              <a:ext uri="{FF2B5EF4-FFF2-40B4-BE49-F238E27FC236}">
                <a16:creationId xmlns:a16="http://schemas.microsoft.com/office/drawing/2014/main" id="{0020220C-6241-4A3B-9017-445FC82876DD}"/>
              </a:ext>
            </a:extLst>
          </p:cNvPr>
          <p:cNvSpPr>
            <a:spLocks noChangeAspect="1"/>
          </p:cNvSpPr>
          <p:nvPr userDrawn="1"/>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fr-FR" noProof="0"/>
              <a:t>Modifiez le style du titre</a:t>
            </a:r>
          </a:p>
        </p:txBody>
      </p:sp>
    </p:spTree>
    <p:extLst>
      <p:ext uri="{BB962C8B-B14F-4D97-AF65-F5344CB8AC3E}">
        <p14:creationId xmlns:p14="http://schemas.microsoft.com/office/powerpoint/2010/main" val="2300412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A4B42F-2C80-4037-BF8E-C209D59D9300}"/>
              </a:ext>
            </a:extLst>
          </p:cNvPr>
          <p:cNvSpPr>
            <a:spLocks noGrp="1"/>
          </p:cNvSpPr>
          <p:nvPr>
            <p:ph type="dt" sz="half" idx="10"/>
          </p:nvPr>
        </p:nvSpPr>
        <p:spPr>
          <a:xfrm>
            <a:off x="7605951" y="6435376"/>
            <a:ext cx="2844799" cy="365125"/>
          </a:xfrm>
        </p:spPr>
        <p:txBody>
          <a:bodyPr rtlCol="0"/>
          <a:lstStyle/>
          <a:p>
            <a:pPr rtl="0"/>
            <a:fld id="{7E75F61B-9D60-4BD2-A7B8-4B48A2BDEF68}" type="datetime1">
              <a:rPr lang="fr-FR" noProof="0" smtClean="0"/>
              <a:t>09/04/2026</a:t>
            </a:fld>
            <a:endParaRPr lang="fr-FR" noProof="0"/>
          </a:p>
        </p:txBody>
      </p:sp>
      <p:sp>
        <p:nvSpPr>
          <p:cNvPr id="4" name="Espace réservé du numéro de diapositive 3">
            <a:extLst>
              <a:ext uri="{FF2B5EF4-FFF2-40B4-BE49-F238E27FC236}">
                <a16:creationId xmlns:a16="http://schemas.microsoft.com/office/drawing/2014/main" id="{78E56474-3A38-4097-8649-FAF662D8CFF7}"/>
              </a:ext>
            </a:extLst>
          </p:cNvPr>
          <p:cNvSpPr>
            <a:spLocks noGrp="1"/>
          </p:cNvSpPr>
          <p:nvPr>
            <p:ph type="sldNum" sz="quarter" idx="12"/>
          </p:nvPr>
        </p:nvSpPr>
        <p:spPr>
          <a:xfrm>
            <a:off x="10795363" y="6435376"/>
            <a:ext cx="1052510" cy="365125"/>
          </a:xfrm>
        </p:spPr>
        <p:txBody>
          <a:bodyPr rtlCol="0"/>
          <a:lstStyle/>
          <a:p>
            <a:pPr rtl="0"/>
            <a:fld id="{F603CDE5-C1D8-4EDD-870F-A498BAFA520F}" type="slidenum">
              <a:rPr lang="fr-FR" noProof="0" smtClean="0"/>
              <a:t>‹N°›</a:t>
            </a:fld>
            <a:endParaRPr lang="fr-FR" noProof="0"/>
          </a:p>
        </p:txBody>
      </p:sp>
      <p:sp>
        <p:nvSpPr>
          <p:cNvPr id="5" name="Espace réservé du pied de page 5">
            <a:extLst>
              <a:ext uri="{FF2B5EF4-FFF2-40B4-BE49-F238E27FC236}">
                <a16:creationId xmlns:a16="http://schemas.microsoft.com/office/drawing/2014/main" id="{FF907DD0-6A5F-4994-AB77-82E297226896}"/>
              </a:ext>
            </a:extLst>
          </p:cNvPr>
          <p:cNvSpPr>
            <a:spLocks noGrp="1"/>
          </p:cNvSpPr>
          <p:nvPr>
            <p:ph type="ftr" sz="quarter" idx="11"/>
          </p:nvPr>
        </p:nvSpPr>
        <p:spPr>
          <a:xfrm>
            <a:off x="355101" y="6435376"/>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90211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B11BF3AA-AA64-40B2-94AA-20312968771D}"/>
              </a:ext>
            </a:extLst>
          </p:cNvPr>
          <p:cNvSpPr>
            <a:spLocks noGrp="1"/>
          </p:cNvSpPr>
          <p:nvPr>
            <p:ph type="dt" sz="half" idx="10"/>
          </p:nvPr>
        </p:nvSpPr>
        <p:spPr>
          <a:xfrm>
            <a:off x="7605951" y="6423914"/>
            <a:ext cx="2844799" cy="365125"/>
          </a:xfrm>
        </p:spPr>
        <p:txBody>
          <a:bodyPr rtlCol="0"/>
          <a:lstStyle/>
          <a:p>
            <a:pPr rtl="0"/>
            <a:fld id="{6A6E1FF0-0DCE-4A7A-8B7C-F079FC057990}"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E1444EA1-5452-4A23-B72D-9B65C311F2FC}"/>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3A5BB48A-749C-4DBB-8723-91ACE9CEA73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24F70AE1-0373-4B8E-9C6F-A87681145315}"/>
              </a:ext>
            </a:extLst>
          </p:cNvPr>
          <p:cNvSpPr>
            <a:spLocks noChangeAspect="1"/>
          </p:cNvSpPr>
          <p:nvPr userDrawn="1"/>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A4CFD6FA-0DEF-4E30-82DA-0BAB26B41E5B}"/>
              </a:ext>
            </a:extLst>
          </p:cNvPr>
          <p:cNvSpPr>
            <a:spLocks noGrp="1"/>
          </p:cNvSpPr>
          <p:nvPr>
            <p:ph type="title"/>
          </p:nvPr>
        </p:nvSpPr>
        <p:spPr>
          <a:xfrm>
            <a:off x="581192" y="5262296"/>
            <a:ext cx="4909445" cy="689514"/>
          </a:xfrm>
        </p:spPr>
        <p:txBody>
          <a:bodyPr rtlCol="0" anchor="ctr"/>
          <a:lstStyle>
            <a:lvl1pPr algn="l">
              <a:defRPr sz="2000" b="0">
                <a:solidFill>
                  <a:schemeClr val="accent1">
                    <a:lumMod val="50000"/>
                  </a:schemeClr>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C01EE411-05BB-43B4-BF85-4222430030F4}"/>
              </a:ext>
            </a:extLst>
          </p:cNvPr>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u texte 3">
            <a:extLst>
              <a:ext uri="{FF2B5EF4-FFF2-40B4-BE49-F238E27FC236}">
                <a16:creationId xmlns:a16="http://schemas.microsoft.com/office/drawing/2014/main" id="{7C2A48C1-57D3-4A3D-B843-6ACC41EEE8E6}"/>
              </a:ext>
            </a:extLst>
          </p:cNvPr>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Tree>
    <p:extLst>
      <p:ext uri="{BB962C8B-B14F-4D97-AF65-F5344CB8AC3E}">
        <p14:creationId xmlns:p14="http://schemas.microsoft.com/office/powerpoint/2010/main" val="1402279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768215D8-2A7F-478F-B222-54ABC6E7DE77}"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D740D193-BF72-46A1-AFE9-DA960BABE46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Titre 1">
            <a:extLst>
              <a:ext uri="{FF2B5EF4-FFF2-40B4-BE49-F238E27FC236}">
                <a16:creationId xmlns:a16="http://schemas.microsoft.com/office/drawing/2014/main" id="{F47352EA-4890-4FE1-97BD-8CCB09F58794}"/>
              </a:ext>
            </a:extLst>
          </p:cNvPr>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fr-FR" noProof="0"/>
              <a:t>Modifiez le style du titre</a:t>
            </a:r>
          </a:p>
        </p:txBody>
      </p:sp>
      <p:sp>
        <p:nvSpPr>
          <p:cNvPr id="10" name="Espace réservé de l’image 2">
            <a:extLst>
              <a:ext uri="{FF2B5EF4-FFF2-40B4-BE49-F238E27FC236}">
                <a16:creationId xmlns:a16="http://schemas.microsoft.com/office/drawing/2014/main" id="{EEBAE269-6AC1-4BFB-8694-696AFD04DC84}"/>
              </a:ext>
            </a:extLst>
          </p:cNvPr>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11" name="Espace réservé du texte 3">
            <a:extLst>
              <a:ext uri="{FF2B5EF4-FFF2-40B4-BE49-F238E27FC236}">
                <a16:creationId xmlns:a16="http://schemas.microsoft.com/office/drawing/2014/main" id="{F67E35A4-831E-477F-9962-C62C2A6492CD}"/>
              </a:ext>
            </a:extLst>
          </p:cNvPr>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Tree>
    <p:extLst>
      <p:ext uri="{BB962C8B-B14F-4D97-AF65-F5344CB8AC3E}">
        <p14:creationId xmlns:p14="http://schemas.microsoft.com/office/powerpoint/2010/main" val="3008106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images avec légende">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242275"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358529"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4" name="Espace réservé du texte 3">
            <a:extLst>
              <a:ext uri="{FF2B5EF4-FFF2-40B4-BE49-F238E27FC236}">
                <a16:creationId xmlns:a16="http://schemas.microsoft.com/office/drawing/2014/main" id="{9AC935A1-3DFF-457D-8C70-E337C3D84F5A}"/>
              </a:ext>
            </a:extLst>
          </p:cNvPr>
          <p:cNvSpPr>
            <a:spLocks noGrp="1"/>
          </p:cNvSpPr>
          <p:nvPr>
            <p:ph type="body" sz="half" idx="2" hasCustomPrompt="1"/>
          </p:nvPr>
        </p:nvSpPr>
        <p:spPr>
          <a:xfrm>
            <a:off x="358529" y="2057400"/>
            <a:ext cx="3790884" cy="3811588"/>
          </a:xfrm>
        </p:spPr>
        <p:txBody>
          <a:bodyPr rtlCol="0"/>
          <a:lstStyle>
            <a:lvl1pPr marL="216000" indent="-216000">
              <a:lnSpc>
                <a:spcPct val="90000"/>
              </a:lnSpc>
              <a:buFont typeface="Wingdings" panose="05000000000000000000" pitchFamily="2" charset="2"/>
              <a:buChar char="§"/>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dirty="0"/>
              <a:t>Modifiez les styles du texte du masque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8086C623-2744-4C1D-B12B-6077ECAA34FF}"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A620A17C-5577-4021-9044-146DC609ECC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68622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images avec légende_1">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4144457"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1FD79FD2-7E24-43DD-8943-16127A3D89FF}"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4144457" y="2057400"/>
            <a:ext cx="3791456" cy="3862388"/>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12" name="Espace réservé du pied de page 5">
            <a:extLst>
              <a:ext uri="{FF2B5EF4-FFF2-40B4-BE49-F238E27FC236}">
                <a16:creationId xmlns:a16="http://schemas.microsoft.com/office/drawing/2014/main" id="{3D444C08-6A3A-4BFB-9494-43F3DE33E91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1445521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images avec légende_2">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4244562"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8355530" y="457200"/>
            <a:ext cx="357739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07C49F2E-3F32-44E0-B686-35E2F63CE58E}"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8355530" y="2057400"/>
            <a:ext cx="3577934" cy="3862388"/>
          </a:xfrm>
        </p:spPr>
        <p:txBody>
          <a:bodyPr rtlCol="0"/>
          <a:lstStyle>
            <a:lvl1pPr marL="0" indent="0">
              <a:lnSpc>
                <a:spcPct val="90000"/>
              </a:lnSpc>
              <a:buNone/>
              <a:defRPr lang="ru-RU" sz="1600" kern="1200" dirty="0">
                <a:solidFill>
                  <a:schemeClr val="tx1">
                    <a:lumMod val="75000"/>
                    <a:lumOff val="25000"/>
                  </a:schemeClr>
                </a:solidFill>
                <a:latin typeface="+mn-lt"/>
                <a:ea typeface="+mn-ea"/>
                <a:cs typeface="+mn-cs"/>
              </a:defRPr>
            </a:lvl1pPr>
            <a:lvl2pPr marL="306000" indent="-306000">
              <a:defRPr/>
            </a:lvl2pPr>
            <a:lvl3pPr marL="306000" indent="-306000">
              <a:defRPr/>
            </a:lvl3pPr>
            <a:lvl4pPr marL="306000" indent="-306000">
              <a:defRPr/>
            </a:lvl4pPr>
            <a:lvl5pPr marL="306000" indent="-306000">
              <a:defRPr/>
            </a:lvl5pPr>
          </a:lstStyle>
          <a:p>
            <a:pPr marL="216000" lvl="0"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Modifiez les styles du texte du masque</a:t>
            </a:r>
          </a:p>
          <a:p>
            <a:pPr marL="216000" lvl="1"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Deuxième niveau</a:t>
            </a:r>
          </a:p>
        </p:txBody>
      </p:sp>
      <p:sp>
        <p:nvSpPr>
          <p:cNvPr id="9" name="Espace réservé du pied de page 5">
            <a:extLst>
              <a:ext uri="{FF2B5EF4-FFF2-40B4-BE49-F238E27FC236}">
                <a16:creationId xmlns:a16="http://schemas.microsoft.com/office/drawing/2014/main" id="{FE695AAC-8311-4518-A219-DE58BF92AEA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917956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Image à gauche avec légende">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CF262E62-E8FA-42DE-BC7E-BA73A13FCBFF}"/>
              </a:ext>
            </a:extLst>
          </p:cNvPr>
          <p:cNvSpPr>
            <a:spLocks noGrp="1"/>
          </p:cNvSpPr>
          <p:nvPr>
            <p:ph type="pic" sz="quarter" idx="15" hasCustomPrompt="1"/>
          </p:nvPr>
        </p:nvSpPr>
        <p:spPr>
          <a:xfrm>
            <a:off x="0" y="0"/>
            <a:ext cx="7537685" cy="6858000"/>
          </a:xfrm>
        </p:spPr>
        <p:txBody>
          <a:bodyPr rtlCol="0" anchor="ctr" anchorCtr="0"/>
          <a:lstStyle>
            <a:lvl1pPr algn="ctr">
              <a:defRPr/>
            </a:lvl1pPr>
          </a:lstStyle>
          <a:p>
            <a:pPr rtl="0"/>
            <a:r>
              <a:rPr lang="fr-FR" noProof="0"/>
              <a:t>Cliquez sur l’icône pour ajouter une image</a:t>
            </a:r>
          </a:p>
        </p:txBody>
      </p:sp>
      <p:sp>
        <p:nvSpPr>
          <p:cNvPr id="2" name="Titre 1">
            <a:extLst>
              <a:ext uri="{FF2B5EF4-FFF2-40B4-BE49-F238E27FC236}">
                <a16:creationId xmlns:a16="http://schemas.microsoft.com/office/drawing/2014/main" id="{93696899-6846-4B29-AD05-49215C31489C}"/>
              </a:ext>
            </a:extLst>
          </p:cNvPr>
          <p:cNvSpPr>
            <a:spLocks noGrp="1"/>
          </p:cNvSpPr>
          <p:nvPr>
            <p:ph type="title"/>
          </p:nvPr>
        </p:nvSpPr>
        <p:spPr>
          <a:xfrm>
            <a:off x="7955459" y="197123"/>
            <a:ext cx="3392382" cy="1675219"/>
          </a:xfrm>
        </p:spPr>
        <p:txBody>
          <a:bodyPr rtlCol="0"/>
          <a:lstStyle>
            <a:lvl1pPr>
              <a:defRPr>
                <a:solidFill>
                  <a:schemeClr val="accent1">
                    <a:lumMod val="75000"/>
                  </a:schemeClr>
                </a:solidFill>
              </a:defRPr>
            </a:lvl1pPr>
          </a:lstStyle>
          <a:p>
            <a:pPr rtl="0"/>
            <a:r>
              <a:rPr lang="fr-FR" noProof="0"/>
              <a:t>Modifiez le style du titre</a:t>
            </a:r>
          </a:p>
        </p:txBody>
      </p:sp>
      <p:sp>
        <p:nvSpPr>
          <p:cNvPr id="19" name="Espace réservé du contenu 8">
            <a:extLst>
              <a:ext uri="{FF2B5EF4-FFF2-40B4-BE49-F238E27FC236}">
                <a16:creationId xmlns:a16="http://schemas.microsoft.com/office/drawing/2014/main" id="{2939FABB-D58D-4DAF-878D-EB51A2AA620A}"/>
              </a:ext>
            </a:extLst>
          </p:cNvPr>
          <p:cNvSpPr>
            <a:spLocks noGrp="1"/>
          </p:cNvSpPr>
          <p:nvPr>
            <p:ph sz="quarter" idx="14" hasCustomPrompt="1"/>
          </p:nvPr>
        </p:nvSpPr>
        <p:spPr>
          <a:xfrm>
            <a:off x="7955459" y="2057400"/>
            <a:ext cx="3392382" cy="3862388"/>
          </a:xfrm>
        </p:spPr>
        <p:txBody>
          <a:bodyPr rtlCol="0"/>
          <a:lstStyle>
            <a:lvl1pPr marL="0" indent="0">
              <a:lnSpc>
                <a:spcPct val="90000"/>
              </a:lnSpc>
              <a:buNone/>
              <a:defRPr lang="ru-RU" sz="1600" kern="1200" dirty="0">
                <a:solidFill>
                  <a:schemeClr val="tx1">
                    <a:lumMod val="75000"/>
                    <a:lumOff val="25000"/>
                  </a:schemeClr>
                </a:solidFill>
                <a:latin typeface="+mn-lt"/>
                <a:ea typeface="+mn-ea"/>
                <a:cs typeface="+mn-cs"/>
              </a:defRPr>
            </a:lvl1pPr>
            <a:lvl2pPr marL="306000" indent="-306000">
              <a:defRPr/>
            </a:lvl2pPr>
            <a:lvl3pPr marL="306000" indent="-306000">
              <a:defRPr/>
            </a:lvl3pPr>
            <a:lvl4pPr marL="306000" indent="-306000">
              <a:defRPr/>
            </a:lvl4pPr>
            <a:lvl5pPr marL="306000" indent="-306000">
              <a:defRPr/>
            </a:lvl5pPr>
          </a:lstStyle>
          <a:p>
            <a:pPr marL="216000" lvl="0"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Modifiez les styles du texte du masque</a:t>
            </a:r>
          </a:p>
          <a:p>
            <a:pPr marL="216000" lvl="1"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Deuxième niveau</a:t>
            </a:r>
          </a:p>
        </p:txBody>
      </p:sp>
      <p:sp>
        <p:nvSpPr>
          <p:cNvPr id="20" name="Rectangle 19">
            <a:extLst>
              <a:ext uri="{FF2B5EF4-FFF2-40B4-BE49-F238E27FC236}">
                <a16:creationId xmlns:a16="http://schemas.microsoft.com/office/drawing/2014/main" id="{82AD5814-D5B6-4BF5-BF94-2F284D0079F8}"/>
              </a:ext>
            </a:extLst>
          </p:cNvPr>
          <p:cNvSpPr/>
          <p:nvPr userDrawn="1"/>
        </p:nvSpPr>
        <p:spPr>
          <a:xfrm>
            <a:off x="8042147" y="453643"/>
            <a:ext cx="3528000" cy="985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2" name="Espace réservé de la date 4">
            <a:extLst>
              <a:ext uri="{FF2B5EF4-FFF2-40B4-BE49-F238E27FC236}">
                <a16:creationId xmlns:a16="http://schemas.microsoft.com/office/drawing/2014/main" id="{1FB18E8B-6111-4A64-AA8C-4CD4C9814C59}"/>
              </a:ext>
            </a:extLst>
          </p:cNvPr>
          <p:cNvSpPr>
            <a:spLocks noGrp="1"/>
          </p:cNvSpPr>
          <p:nvPr>
            <p:ph type="dt" sz="half" idx="10"/>
          </p:nvPr>
        </p:nvSpPr>
        <p:spPr>
          <a:xfrm>
            <a:off x="7605951" y="6423914"/>
            <a:ext cx="2844799" cy="365125"/>
          </a:xfrm>
        </p:spPr>
        <p:txBody>
          <a:bodyPr rtlCol="0"/>
          <a:lstStyle/>
          <a:p>
            <a:pPr rtl="0"/>
            <a:fld id="{D956D8F0-5FDB-42E7-81C7-3C089CC5A3DE}" type="datetime1">
              <a:rPr lang="fr-FR" noProof="0" smtClean="0"/>
              <a:t>09/04/2026</a:t>
            </a:fld>
            <a:endParaRPr lang="fr-FR" noProof="0"/>
          </a:p>
        </p:txBody>
      </p:sp>
      <p:sp>
        <p:nvSpPr>
          <p:cNvPr id="23" name="Espace réservé du numéro de diapositive 6">
            <a:extLst>
              <a:ext uri="{FF2B5EF4-FFF2-40B4-BE49-F238E27FC236}">
                <a16:creationId xmlns:a16="http://schemas.microsoft.com/office/drawing/2014/main" id="{D5311807-ED2F-406C-B107-B5D885AD840F}"/>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24" name="Espace réservé du pied de page 5">
            <a:extLst>
              <a:ext uri="{FF2B5EF4-FFF2-40B4-BE49-F238E27FC236}">
                <a16:creationId xmlns:a16="http://schemas.microsoft.com/office/drawing/2014/main" id="{643FEB5F-C4B2-43B5-B019-DC467A62FAC1}"/>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1715664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Image avec légende_1">
    <p:spTree>
      <p:nvGrpSpPr>
        <p:cNvPr id="1" name=""/>
        <p:cNvGrpSpPr/>
        <p:nvPr/>
      </p:nvGrpSpPr>
      <p:grpSpPr>
        <a:xfrm>
          <a:off x="0" y="0"/>
          <a:ext cx="0" cy="0"/>
          <a:chOff x="0" y="0"/>
          <a:chExt cx="0" cy="0"/>
        </a:xfrm>
      </p:grpSpPr>
      <p:sp>
        <p:nvSpPr>
          <p:cNvPr id="4" name="Espace réservé du texte 3"/>
          <p:cNvSpPr>
            <a:spLocks noGrp="1"/>
          </p:cNvSpPr>
          <p:nvPr>
            <p:ph type="body" sz="half" idx="2" hasCustomPrompt="1"/>
          </p:nvPr>
        </p:nvSpPr>
        <p:spPr>
          <a:xfrm>
            <a:off x="8119868" y="5356067"/>
            <a:ext cx="3625595" cy="1000782"/>
          </a:xfrm>
          <a:solidFill>
            <a:srgbClr val="465359"/>
          </a:solidFill>
        </p:spPr>
        <p:txBody>
          <a:bodyPr lIns="91440" tIns="0" rIns="91440" bIns="0" rtlCol="0">
            <a:normAutofit/>
          </a:bodyPr>
          <a:lstStyle>
            <a:lvl1pPr marL="0" indent="0" algn="ctr">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
        <p:nvSpPr>
          <p:cNvPr id="2" name="Titre 1"/>
          <p:cNvSpPr>
            <a:spLocks noGrp="1"/>
          </p:cNvSpPr>
          <p:nvPr>
            <p:ph type="title"/>
          </p:nvPr>
        </p:nvSpPr>
        <p:spPr>
          <a:xfrm>
            <a:off x="8119869" y="453642"/>
            <a:ext cx="3625595" cy="4826023"/>
          </a:xfrm>
          <a:solidFill>
            <a:schemeClr val="accent1"/>
          </a:solidFill>
        </p:spPr>
        <p:txBody>
          <a:bodyPr tIns="0" bIns="0" rtlCol="0" anchor="ctr" anchorCtr="0">
            <a:noAutofit/>
          </a:bodyPr>
          <a:lstStyle>
            <a:lvl1pPr algn="ctr">
              <a:defRPr sz="3600" b="0">
                <a:solidFill>
                  <a:srgbClr val="FFFFFF"/>
                </a:solidFill>
              </a:defRPr>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439766" y="453642"/>
            <a:ext cx="7602421" cy="5903207"/>
          </a:xfrm>
          <a:solidFill>
            <a:schemeClr val="bg1">
              <a:lumMod val="85000"/>
            </a:schemeClr>
          </a:solidFill>
        </p:spPr>
        <p:txBody>
          <a:bodyPr lIns="457200" tIns="457200" rtlCol="0"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5" name="Espace réservé de la date 4"/>
          <p:cNvSpPr>
            <a:spLocks noGrp="1"/>
          </p:cNvSpPr>
          <p:nvPr>
            <p:ph type="dt" sz="half" idx="10"/>
          </p:nvPr>
        </p:nvSpPr>
        <p:spPr>
          <a:xfrm>
            <a:off x="7605951" y="6423914"/>
            <a:ext cx="2844799" cy="365125"/>
          </a:xfrm>
        </p:spPr>
        <p:txBody>
          <a:bodyPr rtlCol="0"/>
          <a:lstStyle>
            <a:lvl1pPr>
              <a:defRPr/>
            </a:lvl1pPr>
          </a:lstStyle>
          <a:p>
            <a:pPr rtl="0"/>
            <a:fld id="{EE0886A8-3373-4302-B2F5-CF8E161ADF83}" type="datetime1">
              <a:rPr lang="fr-FR" noProof="0" smtClean="0"/>
              <a:t>09/04/2026</a:t>
            </a:fld>
            <a:endParaRPr lang="fr-FR" noProof="0"/>
          </a:p>
        </p:txBody>
      </p:sp>
      <p:sp>
        <p:nvSpPr>
          <p:cNvPr id="6" name="Espace réservé du pied de page 5"/>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numéro de diapositive 6"/>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Tree>
    <p:extLst>
      <p:ext uri="{BB962C8B-B14F-4D97-AF65-F5344CB8AC3E}">
        <p14:creationId xmlns:p14="http://schemas.microsoft.com/office/powerpoint/2010/main" val="161790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vec légende_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1F13A5-61B9-419A-9B13-8BD37BE2841E}"/>
              </a:ext>
            </a:extLst>
          </p:cNvPr>
          <p:cNvSpPr/>
          <p:nvPr userDrawn="1"/>
        </p:nvSpPr>
        <p:spPr>
          <a:xfrm>
            <a:off x="446532" y="4199467"/>
            <a:ext cx="11296732" cy="2191098"/>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1059226" y="4262316"/>
            <a:ext cx="9391524" cy="988332"/>
          </a:xfrm>
        </p:spPr>
        <p:txBody>
          <a:bodyPr rtlCol="0">
            <a:normAutofit/>
          </a:bodyPr>
          <a:lstStyle>
            <a:lvl1pPr>
              <a:defRPr sz="3600">
                <a:solidFill>
                  <a:schemeClr val="bg1"/>
                </a:solidFill>
              </a:defRPr>
            </a:lvl1pPr>
          </a:lstStyle>
          <a:p>
            <a:pPr rtl="0"/>
            <a:r>
              <a:rPr lang="fr-FR" noProof="0"/>
              <a:t>Modifiez le style du titre</a:t>
            </a:r>
          </a:p>
        </p:txBody>
      </p:sp>
      <p:sp>
        <p:nvSpPr>
          <p:cNvPr id="4" name="Espace réservé d’image 3">
            <a:extLst>
              <a:ext uri="{FF2B5EF4-FFF2-40B4-BE49-F238E27FC236}">
                <a16:creationId xmlns:a16="http://schemas.microsoft.com/office/drawing/2014/main" id="{5B084B74-38B3-42C8-B8E4-A0D13B059E92}"/>
              </a:ext>
            </a:extLst>
          </p:cNvPr>
          <p:cNvSpPr>
            <a:spLocks noGrp="1"/>
          </p:cNvSpPr>
          <p:nvPr>
            <p:ph type="pic" sz="quarter" idx="13" hasCustomPrompt="1"/>
          </p:nvPr>
        </p:nvSpPr>
        <p:spPr>
          <a:xfrm>
            <a:off x="441325" y="606425"/>
            <a:ext cx="11304588" cy="3536950"/>
          </a:xfrm>
        </p:spPr>
        <p:txBody>
          <a:bodyPr rtlCol="0"/>
          <a:lstStyle>
            <a:lvl1pPr marL="0" indent="0" algn="ctr">
              <a:buNone/>
              <a:defRPr/>
            </a:lvl1pPr>
          </a:lstStyle>
          <a:p>
            <a:pPr rtl="0"/>
            <a:r>
              <a:rPr lang="fr-FR" noProof="0" dirty="0"/>
              <a:t>Cliquez sur l’icône pour ajouter une image</a:t>
            </a:r>
          </a:p>
        </p:txBody>
      </p:sp>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4F2D6550-445E-49B3-9F29-2D811B6E2330}" type="datetime1">
              <a:rPr lang="fr-FR" noProof="0" smtClean="0"/>
              <a:t>09/04/2026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texte 6">
            <a:extLst>
              <a:ext uri="{FF2B5EF4-FFF2-40B4-BE49-F238E27FC236}">
                <a16:creationId xmlns:a16="http://schemas.microsoft.com/office/drawing/2014/main" id="{85EB5327-3B98-4D40-987B-863866194FFC}"/>
              </a:ext>
            </a:extLst>
          </p:cNvPr>
          <p:cNvSpPr>
            <a:spLocks noGrp="1"/>
          </p:cNvSpPr>
          <p:nvPr>
            <p:ph type="body" sz="quarter" idx="14" hasCustomPrompt="1"/>
          </p:nvPr>
        </p:nvSpPr>
        <p:spPr>
          <a:xfrm>
            <a:off x="1058863" y="5303610"/>
            <a:ext cx="9391888" cy="614363"/>
          </a:xfrm>
        </p:spPr>
        <p:txBody>
          <a:bodyPr rtlCol="0">
            <a:normAutofit/>
          </a:bodyPr>
          <a:lstStyle>
            <a:lvl1pPr marL="0" indent="0">
              <a:buNone/>
              <a:defRPr sz="1600">
                <a:solidFill>
                  <a:schemeClr val="bg2">
                    <a:lumMod val="75000"/>
                  </a:schemeClr>
                </a:solidFill>
              </a:defRPr>
            </a:lvl1pPr>
            <a:lvl2pPr marL="324000" indent="0">
              <a:buNone/>
              <a:defRPr/>
            </a:lvl2pPr>
          </a:lstStyle>
          <a:p>
            <a:pPr lvl="0" rtl="0"/>
            <a:r>
              <a:rPr lang="fr-FR" noProof="0" dirty="0"/>
              <a:t>Modifiez les styles du texte du masque</a:t>
            </a:r>
          </a:p>
        </p:txBody>
      </p:sp>
    </p:spTree>
    <p:extLst>
      <p:ext uri="{BB962C8B-B14F-4D97-AF65-F5344CB8AC3E}">
        <p14:creationId xmlns:p14="http://schemas.microsoft.com/office/powerpoint/2010/main" val="2130529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accent1"/>
                </a:solidFill>
              </a:defRPr>
            </a:lvl1pPr>
          </a:lstStyle>
          <a:p>
            <a:pPr rtl="0"/>
            <a:fld id="{C59E88B8-A31A-4118-B169-14E31189281A}" type="datetime1">
              <a:rPr lang="fr-FR" noProof="0" smtClean="0"/>
              <a:t>09/04/2026</a:t>
            </a:fld>
            <a:endParaRPr lang="fr-FR" noProof="0"/>
          </a:p>
        </p:txBody>
      </p:sp>
      <p:sp>
        <p:nvSpPr>
          <p:cNvPr id="5" name="Espace réservé du pied de page 4"/>
          <p:cNvSpPr>
            <a:spLocks noGrp="1"/>
          </p:cNvSpPr>
          <p:nvPr>
            <p:ph type="ftr" sz="quarter" idx="3"/>
          </p:nvPr>
        </p:nvSpPr>
        <p:spPr>
          <a:xfrm>
            <a:off x="484940" y="6423914"/>
            <a:ext cx="6917210" cy="365125"/>
          </a:xfrm>
          <a:prstGeom prst="rect">
            <a:avLst/>
          </a:prstGeom>
        </p:spPr>
        <p:txBody>
          <a:bodyPr vert="horz" lIns="91440" tIns="45720" rIns="91440" bIns="45720" rtlCol="0" anchor="ctr"/>
          <a:lstStyle>
            <a:lvl1pPr algn="l">
              <a:defRPr sz="900" cap="all">
                <a:solidFill>
                  <a:schemeClr val="accent1"/>
                </a:solidFill>
              </a:defRPr>
            </a:lvl1pPr>
          </a:lstStyle>
          <a:p>
            <a:pPr rtl="0"/>
            <a:r>
              <a:rPr lang="fr-FR" noProof="0"/>
              <a:t>Guillaume FOVEAU 2026</a:t>
            </a:r>
          </a:p>
        </p:txBody>
      </p:sp>
      <p:sp>
        <p:nvSpPr>
          <p:cNvPr id="6" name="Espace réservé du numéro de diapositive 5"/>
          <p:cNvSpPr>
            <a:spLocks noGrp="1"/>
          </p:cNvSpPr>
          <p:nvPr>
            <p:ph type="sldNum" sz="quarter" idx="4"/>
          </p:nvPr>
        </p:nvSpPr>
        <p:spPr>
          <a:xfrm>
            <a:off x="10795363" y="6423914"/>
            <a:ext cx="1052510" cy="365125"/>
          </a:xfrm>
          <a:prstGeom prst="rect">
            <a:avLst/>
          </a:prstGeom>
        </p:spPr>
        <p:txBody>
          <a:bodyPr vert="horz" lIns="91440" tIns="45720" rIns="91440" bIns="45720" rtlCol="0" anchor="ctr"/>
          <a:lstStyle>
            <a:lvl1pPr algn="r">
              <a:defRPr sz="900">
                <a:solidFill>
                  <a:schemeClr val="accent1"/>
                </a:solidFill>
              </a:defRPr>
            </a:lvl1pPr>
          </a:lstStyle>
          <a:p>
            <a:pPr rtl="0"/>
            <a:fld id="{3A98EE3D-8CD1-4C3F-BD1C-C98C9596463C}" type="slidenum">
              <a:rPr lang="fr-FR" noProof="0" smtClean="0"/>
              <a:pPr/>
              <a:t>‹N°›</a:t>
            </a:fld>
            <a:endParaRPr lang="fr-FR" noProof="0"/>
          </a:p>
        </p:txBody>
      </p:sp>
      <p:sp>
        <p:nvSpPr>
          <p:cNvPr id="9" name="Rectangle 8"/>
          <p:cNvSpPr/>
          <p:nvPr/>
        </p:nvSpPr>
        <p:spPr>
          <a:xfrm>
            <a:off x="446534" y="455422"/>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6120"/>
            <a:ext cx="3703320" cy="93600"/>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6120"/>
            <a:ext cx="3703320" cy="93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093872371"/>
      </p:ext>
    </p:extLst>
  </p:cSld>
  <p:clrMap bg1="lt1" tx1="dk1" bg2="lt2" tx2="dk2" accent1="accent1" accent2="accent2" accent3="accent3" accent4="accent4" accent5="accent5" accent6="accent6" hlink="hlink" folHlink="folHlink"/>
  <p:sldLayoutIdLst>
    <p:sldLayoutId id="2147483714" r:id="rId1"/>
    <p:sldLayoutId id="2147483728" r:id="rId2"/>
    <p:sldLayoutId id="2147483743" r:id="rId3"/>
    <p:sldLayoutId id="2147483726" r:id="rId4"/>
    <p:sldLayoutId id="2147483734" r:id="rId5"/>
    <p:sldLayoutId id="2147483735" r:id="rId6"/>
    <p:sldLayoutId id="2147483736" r:id="rId7"/>
    <p:sldLayoutId id="2147483737" r:id="rId8"/>
    <p:sldLayoutId id="2147483738" r:id="rId9"/>
    <p:sldLayoutId id="2147483740" r:id="rId10"/>
    <p:sldLayoutId id="2147483741" r:id="rId11"/>
    <p:sldLayoutId id="2147483742" r:id="rId12"/>
    <p:sldLayoutId id="2147483730" r:id="rId13"/>
    <p:sldLayoutId id="2147483739" r:id="rId14"/>
    <p:sldLayoutId id="2147483744" r:id="rId15"/>
  </p:sldLayoutIdLst>
  <p:hf hd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apachefriends.org/fr/index.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2D4960A-896E-4F6B-BF65-B4662AC9D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outerShdw blurRad="38100" dist="38100" dir="2700000" algn="tl">
                  <a:srgbClr val="000000">
                    <a:alpha val="43137"/>
                  </a:srgbClr>
                </a:outerShdw>
              </a:effectLst>
              <a:uLnTx/>
              <a:uFillTx/>
              <a:latin typeface="Gill Sans MT" panose="020B0502020104020203"/>
              <a:ea typeface="+mn-ea"/>
              <a:cs typeface="+mn-cs"/>
            </a:endParaRPr>
          </a:p>
        </p:txBody>
      </p:sp>
      <p:sp>
        <p:nvSpPr>
          <p:cNvPr id="20" name="Rectangle 19">
            <a:extLst>
              <a:ext uri="{FF2B5EF4-FFF2-40B4-BE49-F238E27FC236}">
                <a16:creationId xmlns:a16="http://schemas.microsoft.com/office/drawing/2014/main" id="{5684944A-8803-462C-84C5-4576C56A7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457199"/>
            <a:ext cx="3618827" cy="482246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Rectangle 21">
            <a:extLst>
              <a:ext uri="{FF2B5EF4-FFF2-40B4-BE49-F238E27FC236}">
                <a16:creationId xmlns:a16="http://schemas.microsoft.com/office/drawing/2014/main" id="{E07F3B49-8C20-42F5-831D-59306D05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5367338"/>
            <a:ext cx="3618828" cy="9895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F3AA242D-B507-4381-A8CB-EFA346570379}"/>
              </a:ext>
            </a:extLst>
          </p:cNvPr>
          <p:cNvSpPr>
            <a:spLocks noGrp="1"/>
          </p:cNvSpPr>
          <p:nvPr>
            <p:ph type="ctrTitle"/>
          </p:nvPr>
        </p:nvSpPr>
        <p:spPr>
          <a:xfrm>
            <a:off x="8372723" y="850791"/>
            <a:ext cx="3202016" cy="4198288"/>
          </a:xfrm>
        </p:spPr>
        <p:txBody>
          <a:bodyPr rtlCol="0" anchor="ctr">
            <a:normAutofit/>
          </a:bodyPr>
          <a:lstStyle/>
          <a:p>
            <a:pPr rtl="0"/>
            <a:r>
              <a:rPr lang="fr-FR" dirty="0">
                <a:solidFill>
                  <a:srgbClr val="FFFFFF"/>
                </a:solidFill>
              </a:rPr>
              <a:t>PHP BASICS</a:t>
            </a:r>
          </a:p>
        </p:txBody>
      </p:sp>
      <p:sp>
        <p:nvSpPr>
          <p:cNvPr id="3" name="Sous-titre 2">
            <a:extLst>
              <a:ext uri="{FF2B5EF4-FFF2-40B4-BE49-F238E27FC236}">
                <a16:creationId xmlns:a16="http://schemas.microsoft.com/office/drawing/2014/main" id="{A4F4068D-37AE-4B7D-BC75-216B123A6C44}"/>
              </a:ext>
            </a:extLst>
          </p:cNvPr>
          <p:cNvSpPr>
            <a:spLocks noGrp="1"/>
          </p:cNvSpPr>
          <p:nvPr>
            <p:ph type="subTitle" idx="1"/>
          </p:nvPr>
        </p:nvSpPr>
        <p:spPr>
          <a:xfrm>
            <a:off x="8372723" y="5545331"/>
            <a:ext cx="3202016" cy="649222"/>
          </a:xfrm>
          <a:noFill/>
        </p:spPr>
        <p:txBody>
          <a:bodyPr rtlCol="0" anchor="ctr">
            <a:normAutofit/>
          </a:bodyPr>
          <a:lstStyle/>
          <a:p>
            <a:pPr rtl="0"/>
            <a:r>
              <a:rPr lang="fr-FR" sz="1800" dirty="0">
                <a:solidFill>
                  <a:schemeClr val="tx2">
                    <a:lumMod val="25000"/>
                    <a:lumOff val="75000"/>
                    <a:alpha val="75000"/>
                  </a:schemeClr>
                </a:solidFill>
              </a:rPr>
              <a:t>Guillaume FOVEAU 2026</a:t>
            </a:r>
          </a:p>
        </p:txBody>
      </p:sp>
      <p:pic>
        <p:nvPicPr>
          <p:cNvPr id="4" name="Image 3" descr="personnes assemblées autour d'un plan">
            <a:extLst>
              <a:ext uri="{FF2B5EF4-FFF2-40B4-BE49-F238E27FC236}">
                <a16:creationId xmlns:a16="http://schemas.microsoft.com/office/drawing/2014/main" id="{424717DA-0300-4297-B453-65314C5BEA09}"/>
              </a:ext>
            </a:extLst>
          </p:cNvPr>
          <p:cNvPicPr>
            <a:picLocks noChangeAspect="1"/>
          </p:cNvPicPr>
          <p:nvPr/>
        </p:nvPicPr>
        <p:blipFill>
          <a:blip r:embed="rId3"/>
          <a:srcRect/>
          <a:stretch/>
        </p:blipFill>
        <p:spPr>
          <a:xfrm>
            <a:off x="453302" y="458611"/>
            <a:ext cx="7588885" cy="5894002"/>
          </a:xfrm>
          <a:prstGeom prst="rect">
            <a:avLst/>
          </a:prstGeom>
        </p:spPr>
      </p:pic>
    </p:spTree>
    <p:extLst>
      <p:ext uri="{BB962C8B-B14F-4D97-AF65-F5344CB8AC3E}">
        <p14:creationId xmlns:p14="http://schemas.microsoft.com/office/powerpoint/2010/main" val="420971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D5A4A71-BF4C-4D5C-BFC7-87532A78DCB1}"/>
              </a:ext>
            </a:extLst>
          </p:cNvPr>
          <p:cNvSpPr>
            <a:spLocks noGrp="1"/>
          </p:cNvSpPr>
          <p:nvPr>
            <p:ph type="title"/>
          </p:nvPr>
        </p:nvSpPr>
        <p:spPr>
          <a:xfrm>
            <a:off x="358529" y="457200"/>
            <a:ext cx="3790884" cy="728133"/>
          </a:xfrm>
        </p:spPr>
        <p:txBody>
          <a:bodyPr rtlCol="0"/>
          <a:lstStyle/>
          <a:p>
            <a:pPr rtl="0"/>
            <a:r>
              <a:rPr lang="fr-FR" dirty="0"/>
              <a:t>PHP</a:t>
            </a:r>
          </a:p>
        </p:txBody>
      </p:sp>
      <p:sp>
        <p:nvSpPr>
          <p:cNvPr id="5" name="Espace réservé du texte 4">
            <a:extLst>
              <a:ext uri="{FF2B5EF4-FFF2-40B4-BE49-F238E27FC236}">
                <a16:creationId xmlns:a16="http://schemas.microsoft.com/office/drawing/2014/main" id="{192DC2B5-5E26-4712-A72B-C467FF94253F}"/>
              </a:ext>
            </a:extLst>
          </p:cNvPr>
          <p:cNvSpPr>
            <a:spLocks noGrp="1"/>
          </p:cNvSpPr>
          <p:nvPr>
            <p:ph type="body" sz="half" idx="2"/>
          </p:nvPr>
        </p:nvSpPr>
        <p:spPr>
          <a:xfrm>
            <a:off x="358529" y="1127276"/>
            <a:ext cx="3702877" cy="5432748"/>
          </a:xfrm>
        </p:spPr>
        <p:txBody>
          <a:bodyPr rtlCol="0">
            <a:normAutofit fontScale="70000" lnSpcReduction="20000"/>
          </a:bodyPr>
          <a:lstStyle/>
          <a:p>
            <a:r>
              <a:rPr lang="fr-FR" dirty="0">
                <a:solidFill>
                  <a:schemeClr val="tx1"/>
                </a:solidFill>
              </a:rPr>
              <a:t>Histoire</a:t>
            </a:r>
          </a:p>
          <a:p>
            <a:pPr lvl="1"/>
            <a:r>
              <a:rPr lang="fr-FR" dirty="0"/>
              <a:t>Le langage PHP fut créé en 1994 par </a:t>
            </a:r>
            <a:r>
              <a:rPr lang="fr-FR" dirty="0" err="1"/>
              <a:t>Rasmus</a:t>
            </a:r>
            <a:r>
              <a:rPr lang="fr-FR" dirty="0"/>
              <a:t> </a:t>
            </a:r>
            <a:r>
              <a:rPr lang="fr-FR" dirty="0" err="1"/>
              <a:t>Lerdorf</a:t>
            </a:r>
            <a:r>
              <a:rPr lang="fr-FR" dirty="0"/>
              <a:t> pour son site web. En 1995 il décide de publier son code, pour que tout le monde puisse l'utiliser. En 1997, deux étudiants, Andi </a:t>
            </a:r>
            <a:r>
              <a:rPr lang="fr-FR" dirty="0" err="1"/>
              <a:t>Gutmans</a:t>
            </a:r>
            <a:r>
              <a:rPr lang="fr-FR" dirty="0"/>
              <a:t> et </a:t>
            </a:r>
            <a:r>
              <a:rPr lang="fr-FR" dirty="0" err="1"/>
              <a:t>Zeev</a:t>
            </a:r>
            <a:r>
              <a:rPr lang="fr-FR" dirty="0"/>
              <a:t> Suraski redéveloppèrent le cœur de PHP qui devient PHP 3, puis PHP 4. Ils fondent la société Zend.</a:t>
            </a:r>
            <a:endParaRPr lang="fr-FR" b="1" dirty="0">
              <a:solidFill>
                <a:srgbClr val="FF0000"/>
              </a:solidFill>
            </a:endParaRPr>
          </a:p>
          <a:p>
            <a:endParaRPr lang="fr-FR" b="1" dirty="0">
              <a:solidFill>
                <a:srgbClr val="FF0000"/>
              </a:solidFill>
            </a:endParaRPr>
          </a:p>
          <a:p>
            <a:r>
              <a:rPr lang="fr-FR" dirty="0">
                <a:solidFill>
                  <a:schemeClr val="tx1"/>
                </a:solidFill>
              </a:rPr>
              <a:t>Principe</a:t>
            </a:r>
          </a:p>
          <a:p>
            <a:pPr lvl="1"/>
            <a:r>
              <a:rPr lang="fr-FR" dirty="0">
                <a:solidFill>
                  <a:schemeClr val="tx1"/>
                </a:solidFill>
              </a:rPr>
              <a:t>PHP est un langage de script qui génère du code (HTML, XHTML, CSS par exemple) et des données (JPEG, GIF, PNG par exemple) pouvant être interprétés et rendus par un navigateur.</a:t>
            </a:r>
          </a:p>
          <a:p>
            <a:pPr lvl="1"/>
            <a:r>
              <a:rPr lang="fr-FR" dirty="0">
                <a:solidFill>
                  <a:schemeClr val="tx1"/>
                </a:solidFill>
              </a:rPr>
              <a:t>Il a été conçu pour permettre la création d'applications Web. PHP est le plus souvent couplé à un serveur Apache,.</a:t>
            </a:r>
          </a:p>
          <a:p>
            <a:pPr lvl="1"/>
            <a:r>
              <a:rPr lang="fr-FR" b="0" i="0" dirty="0">
                <a:solidFill>
                  <a:srgbClr val="0D0D0D"/>
                </a:solidFill>
                <a:effectLst/>
                <a:latin typeface="Söhne"/>
              </a:rPr>
              <a:t>PHP est un langage de programmation polyvalent largement utilisé pour le développement web. Ses principaux avantages incluent sa facilité d'apprentissage, sa compatibilité avec de nombreux serveurs web, sa grande communauté de développeurs et sa vaste bibliothèque de fonctions. PHP est également open source, ce qui signifie qu'il est gratuit à utiliser et à distribuer.</a:t>
            </a:r>
          </a:p>
          <a:p>
            <a:pPr lvl="1"/>
            <a:r>
              <a:rPr lang="fr-FR" b="0" i="0" dirty="0">
                <a:solidFill>
                  <a:srgbClr val="0D0D0D"/>
                </a:solidFill>
                <a:effectLst/>
                <a:latin typeface="Söhne"/>
              </a:rPr>
              <a:t>Cependant, PHP peut être critiqué pour sa syntaxe parfois peu intuitive, ses performances inférieures à certains autres langages et ses problèmes de sécurité potentiels si mal utilisé. De plus, PHP a été développé à l'origine pour les scripts côté serveur, ce qui peut entraîner des limitations pour les applications nécessitant beaucoup de calculs côté client</a:t>
            </a:r>
          </a:p>
          <a:p>
            <a:pPr lvl="1"/>
            <a:r>
              <a:rPr lang="fr-FR" dirty="0">
                <a:solidFill>
                  <a:schemeClr val="tx1"/>
                </a:solidFill>
              </a:rPr>
              <a:t>. La dernière version est la 8,3. Il est </a:t>
            </a:r>
            <a:r>
              <a:rPr lang="fr-FR" dirty="0" err="1">
                <a:solidFill>
                  <a:schemeClr val="tx1"/>
                </a:solidFill>
              </a:rPr>
              <a:t>multiplate-forme</a:t>
            </a:r>
            <a:r>
              <a:rPr lang="fr-FR" dirty="0">
                <a:solidFill>
                  <a:schemeClr val="tx1"/>
                </a:solidFill>
              </a:rPr>
              <a:t> : autant sur Linux qu'avec Windows il permet aisément de reconduire le même code sur un environnement à peu près semblable (prendre en compte les règles d'arborescences de répertoires qui peuvent changer).</a:t>
            </a:r>
          </a:p>
        </p:txBody>
      </p:sp>
      <p:pic>
        <p:nvPicPr>
          <p:cNvPr id="10" name="Espace réservé d’image 9" descr="deux femmes regardent deux ordinateurs portables&#10;">
            <a:extLst>
              <a:ext uri="{FF2B5EF4-FFF2-40B4-BE49-F238E27FC236}">
                <a16:creationId xmlns:a16="http://schemas.microsoft.com/office/drawing/2014/main" id="{109874DF-4483-4899-A10C-B0C5378B0136}"/>
              </a:ext>
            </a:extLst>
          </p:cNvPr>
          <p:cNvPicPr>
            <a:picLocks noGrp="1" noChangeAspect="1"/>
          </p:cNvPicPr>
          <p:nvPr>
            <p:ph type="pic" idx="1"/>
          </p:nvPr>
        </p:nvPicPr>
        <p:blipFill>
          <a:blip r:embed="rId3"/>
          <a:srcRect t="6" b="6"/>
          <a:stretch>
            <a:fillRect/>
          </a:stretch>
        </p:blipFill>
        <p:spPr/>
      </p:pic>
      <p:pic>
        <p:nvPicPr>
          <p:cNvPr id="9" name="Espace réservé d’image 8" descr="femme qui lit">
            <a:extLst>
              <a:ext uri="{FF2B5EF4-FFF2-40B4-BE49-F238E27FC236}">
                <a16:creationId xmlns:a16="http://schemas.microsoft.com/office/drawing/2014/main" id="{BADCDF53-1AD6-4ACB-AABB-AE333D04A938}"/>
              </a:ext>
            </a:extLst>
          </p:cNvPr>
          <p:cNvPicPr>
            <a:picLocks noGrp="1" noChangeAspect="1"/>
          </p:cNvPicPr>
          <p:nvPr>
            <p:ph type="pic" idx="13"/>
          </p:nvPr>
        </p:nvPicPr>
        <p:blipFill>
          <a:blip r:embed="rId4"/>
          <a:srcRect t="6" b="6"/>
          <a:stretch>
            <a:fillRect/>
          </a:stretch>
        </p:blipFill>
        <p:spPr/>
      </p:pic>
      <p:sp>
        <p:nvSpPr>
          <p:cNvPr id="2" name="Espace réservé du pied de page 1">
            <a:extLst>
              <a:ext uri="{FF2B5EF4-FFF2-40B4-BE49-F238E27FC236}">
                <a16:creationId xmlns:a16="http://schemas.microsoft.com/office/drawing/2014/main" id="{54C18C30-67CC-4DDB-826C-ED4C714025BA}"/>
              </a:ext>
            </a:extLst>
          </p:cNvPr>
          <p:cNvSpPr>
            <a:spLocks noGrp="1"/>
          </p:cNvSpPr>
          <p:nvPr>
            <p:ph type="ftr" sz="quarter" idx="11"/>
          </p:nvPr>
        </p:nvSpPr>
        <p:spPr/>
        <p:txBody>
          <a:bodyPr/>
          <a:lstStyle/>
          <a:p>
            <a:pPr algn="l" rtl="0"/>
            <a:r>
              <a:rPr lang="fr-FR" noProof="0"/>
              <a:t>Guillaume FOVEAU 2026</a:t>
            </a:r>
            <a:endParaRPr lang="fr" noProof="0" dirty="0"/>
          </a:p>
        </p:txBody>
      </p:sp>
      <p:sp>
        <p:nvSpPr>
          <p:cNvPr id="3" name="Espace réservé du numéro de diapositive 2">
            <a:extLst>
              <a:ext uri="{FF2B5EF4-FFF2-40B4-BE49-F238E27FC236}">
                <a16:creationId xmlns:a16="http://schemas.microsoft.com/office/drawing/2014/main" id="{0FF2B37E-4039-4551-802B-8F2BD04D9636}"/>
              </a:ext>
            </a:extLst>
          </p:cNvPr>
          <p:cNvSpPr>
            <a:spLocks noGrp="1"/>
          </p:cNvSpPr>
          <p:nvPr>
            <p:ph type="sldNum" sz="quarter" idx="12"/>
          </p:nvPr>
        </p:nvSpPr>
        <p:spPr/>
        <p:txBody>
          <a:bodyPr/>
          <a:lstStyle/>
          <a:p>
            <a:pPr rtl="0"/>
            <a:fld id="{F603CDE5-C1D8-4EDD-870F-A498BAFA520F}" type="slidenum">
              <a:rPr lang="en-US" noProof="0" smtClean="0"/>
              <a:t>2</a:t>
            </a:fld>
            <a:endParaRPr lang="en-US" noProof="0" dirty="0"/>
          </a:p>
        </p:txBody>
      </p:sp>
    </p:spTree>
    <p:extLst>
      <p:ext uri="{BB962C8B-B14F-4D97-AF65-F5344CB8AC3E}">
        <p14:creationId xmlns:p14="http://schemas.microsoft.com/office/powerpoint/2010/main" val="985652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11E0DA9-F80F-4FD2-86AD-FCB7040886B0}"/>
              </a:ext>
            </a:extLst>
          </p:cNvPr>
          <p:cNvSpPr>
            <a:spLocks noGrp="1"/>
          </p:cNvSpPr>
          <p:nvPr>
            <p:ph type="title"/>
          </p:nvPr>
        </p:nvSpPr>
        <p:spPr>
          <a:xfrm>
            <a:off x="522304" y="534066"/>
            <a:ext cx="11029616" cy="1013800"/>
          </a:xfrm>
        </p:spPr>
        <p:txBody>
          <a:bodyPr rtlCol="0"/>
          <a:lstStyle/>
          <a:p>
            <a:pPr rtl="0"/>
            <a:r>
              <a:rPr lang="fr-FR" dirty="0"/>
              <a:t>ARCHITECTURE WEB PHP</a:t>
            </a:r>
          </a:p>
        </p:txBody>
      </p:sp>
      <p:sp>
        <p:nvSpPr>
          <p:cNvPr id="6" name="Espace réservé du pied de page 5">
            <a:extLst>
              <a:ext uri="{FF2B5EF4-FFF2-40B4-BE49-F238E27FC236}">
                <a16:creationId xmlns:a16="http://schemas.microsoft.com/office/drawing/2014/main" id="{E458AC06-BBE5-463F-B65E-06AEB3D198DC}"/>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7EF7D016-5018-4FAF-9BC9-EB8A77294C6E}"/>
              </a:ext>
            </a:extLst>
          </p:cNvPr>
          <p:cNvSpPr>
            <a:spLocks noGrp="1"/>
          </p:cNvSpPr>
          <p:nvPr>
            <p:ph type="sldNum" sz="quarter" idx="12"/>
          </p:nvPr>
        </p:nvSpPr>
        <p:spPr/>
        <p:txBody>
          <a:bodyPr/>
          <a:lstStyle/>
          <a:p>
            <a:pPr rtl="0"/>
            <a:fld id="{3A98EE3D-8CD1-4C3F-BD1C-C98C9596463C}" type="slidenum">
              <a:rPr lang="fr-FR" noProof="0" smtClean="0"/>
              <a:t>3</a:t>
            </a:fld>
            <a:endParaRPr lang="fr-FR" noProof="0"/>
          </a:p>
        </p:txBody>
      </p:sp>
      <p:sp>
        <p:nvSpPr>
          <p:cNvPr id="2" name="Rectangle 1">
            <a:extLst>
              <a:ext uri="{FF2B5EF4-FFF2-40B4-BE49-F238E27FC236}">
                <a16:creationId xmlns:a16="http://schemas.microsoft.com/office/drawing/2014/main" id="{98FD031F-963F-19DD-7248-6EC1AA261FA4}"/>
              </a:ext>
            </a:extLst>
          </p:cNvPr>
          <p:cNvSpPr/>
          <p:nvPr/>
        </p:nvSpPr>
        <p:spPr>
          <a:xfrm>
            <a:off x="899159" y="2956560"/>
            <a:ext cx="2327287" cy="131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Navigateur</a:t>
            </a:r>
          </a:p>
          <a:p>
            <a:pPr algn="ctr"/>
            <a:r>
              <a:rPr lang="fr-FR" dirty="0"/>
              <a:t> de l’utilisateur</a:t>
            </a:r>
          </a:p>
        </p:txBody>
      </p:sp>
      <p:sp>
        <p:nvSpPr>
          <p:cNvPr id="3" name="Rectangle 2">
            <a:extLst>
              <a:ext uri="{FF2B5EF4-FFF2-40B4-BE49-F238E27FC236}">
                <a16:creationId xmlns:a16="http://schemas.microsoft.com/office/drawing/2014/main" id="{0E0DF1AD-F230-7E4F-A6A9-A01B024A2423}"/>
              </a:ext>
            </a:extLst>
          </p:cNvPr>
          <p:cNvSpPr/>
          <p:nvPr/>
        </p:nvSpPr>
        <p:spPr>
          <a:xfrm>
            <a:off x="8534399" y="2956560"/>
            <a:ext cx="3017521" cy="131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Serveur HTTP </a:t>
            </a:r>
          </a:p>
          <a:p>
            <a:pPr algn="ctr"/>
            <a:r>
              <a:rPr lang="fr-FR" dirty="0"/>
              <a:t>(</a:t>
            </a:r>
            <a:r>
              <a:rPr lang="fr-FR" dirty="0" err="1"/>
              <a:t>Apache,Nginx</a:t>
            </a:r>
            <a:r>
              <a:rPr lang="fr-FR" dirty="0"/>
              <a:t>, IIS)</a:t>
            </a:r>
          </a:p>
        </p:txBody>
      </p:sp>
      <p:cxnSp>
        <p:nvCxnSpPr>
          <p:cNvPr id="8" name="Connecteur droit avec flèche 7">
            <a:extLst>
              <a:ext uri="{FF2B5EF4-FFF2-40B4-BE49-F238E27FC236}">
                <a16:creationId xmlns:a16="http://schemas.microsoft.com/office/drawing/2014/main" id="{4BA834F8-FA32-01CF-21C6-921D1710C7F6}"/>
              </a:ext>
            </a:extLst>
          </p:cNvPr>
          <p:cNvCxnSpPr/>
          <p:nvPr/>
        </p:nvCxnSpPr>
        <p:spPr>
          <a:xfrm flipV="1">
            <a:off x="3352800" y="3139440"/>
            <a:ext cx="5181600" cy="152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F1AD36D4-A446-7EF0-D19F-979401011E6D}"/>
              </a:ext>
            </a:extLst>
          </p:cNvPr>
          <p:cNvCxnSpPr/>
          <p:nvPr/>
        </p:nvCxnSpPr>
        <p:spPr>
          <a:xfrm flipV="1">
            <a:off x="3444240" y="4022589"/>
            <a:ext cx="4876800" cy="3125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C0631807-ABFC-F696-9F86-900E5BA74CE9}"/>
              </a:ext>
            </a:extLst>
          </p:cNvPr>
          <p:cNvSpPr txBox="1"/>
          <p:nvPr/>
        </p:nvSpPr>
        <p:spPr>
          <a:xfrm>
            <a:off x="1362248" y="1920240"/>
            <a:ext cx="2564753" cy="923330"/>
          </a:xfrm>
          <a:prstGeom prst="rect">
            <a:avLst/>
          </a:prstGeom>
          <a:noFill/>
        </p:spPr>
        <p:txBody>
          <a:bodyPr wrap="square" rtlCol="0">
            <a:spAutoFit/>
          </a:bodyPr>
          <a:lstStyle/>
          <a:p>
            <a:r>
              <a:rPr lang="fr-FR" dirty="0"/>
              <a:t>1 </a:t>
            </a:r>
            <a:r>
              <a:rPr lang="mr-IN" dirty="0"/>
              <a:t>–</a:t>
            </a:r>
            <a:r>
              <a:rPr lang="fr-FR" dirty="0"/>
              <a:t> Le navigateur envoi une requête HTTP</a:t>
            </a:r>
          </a:p>
        </p:txBody>
      </p:sp>
      <p:sp>
        <p:nvSpPr>
          <p:cNvPr id="11" name="Rectangle 10">
            <a:extLst>
              <a:ext uri="{FF2B5EF4-FFF2-40B4-BE49-F238E27FC236}">
                <a16:creationId xmlns:a16="http://schemas.microsoft.com/office/drawing/2014/main" id="{B8E1B431-7573-44D3-D738-502E3CDD767A}"/>
              </a:ext>
            </a:extLst>
          </p:cNvPr>
          <p:cNvSpPr/>
          <p:nvPr/>
        </p:nvSpPr>
        <p:spPr>
          <a:xfrm>
            <a:off x="2014461" y="4573543"/>
            <a:ext cx="2804160" cy="1590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Réponse HTTP 200 OK</a:t>
            </a:r>
          </a:p>
          <a:p>
            <a:pPr algn="ctr"/>
            <a:endParaRPr lang="fr-FR" dirty="0"/>
          </a:p>
          <a:p>
            <a:pPr algn="ctr"/>
            <a:r>
              <a:rPr lang="fr-FR" dirty="0"/>
              <a:t>&lt;HTML&gt;</a:t>
            </a:r>
          </a:p>
          <a:p>
            <a:pPr algn="ctr"/>
            <a:r>
              <a:rPr lang="fr-FR" dirty="0"/>
              <a:t>Hello World</a:t>
            </a:r>
          </a:p>
          <a:p>
            <a:pPr algn="ctr"/>
            <a:r>
              <a:rPr lang="fr-FR" dirty="0"/>
              <a:t>&lt;/HTML&gt;</a:t>
            </a:r>
          </a:p>
        </p:txBody>
      </p:sp>
      <p:sp>
        <p:nvSpPr>
          <p:cNvPr id="12" name="Rectangle 11">
            <a:extLst>
              <a:ext uri="{FF2B5EF4-FFF2-40B4-BE49-F238E27FC236}">
                <a16:creationId xmlns:a16="http://schemas.microsoft.com/office/drawing/2014/main" id="{8B6926B1-2C29-F89B-9501-9C065B5D1B6D}"/>
              </a:ext>
            </a:extLst>
          </p:cNvPr>
          <p:cNvSpPr/>
          <p:nvPr/>
        </p:nvSpPr>
        <p:spPr>
          <a:xfrm>
            <a:off x="3927001" y="1924705"/>
            <a:ext cx="2758441"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Requête HTTP</a:t>
            </a:r>
          </a:p>
          <a:p>
            <a:pPr algn="ctr"/>
            <a:endParaRPr lang="fr-FR" dirty="0"/>
          </a:p>
          <a:p>
            <a:pPr algn="ctr"/>
            <a:r>
              <a:rPr lang="fr-FR" dirty="0"/>
              <a:t>/GET </a:t>
            </a:r>
            <a:r>
              <a:rPr lang="fr-FR" dirty="0" err="1"/>
              <a:t>index.php</a:t>
            </a:r>
            <a:endParaRPr lang="fr-FR" dirty="0"/>
          </a:p>
        </p:txBody>
      </p:sp>
      <p:sp>
        <p:nvSpPr>
          <p:cNvPr id="13" name="Rectangle 12">
            <a:extLst>
              <a:ext uri="{FF2B5EF4-FFF2-40B4-BE49-F238E27FC236}">
                <a16:creationId xmlns:a16="http://schemas.microsoft.com/office/drawing/2014/main" id="{84D6C5EB-B923-6B72-59AC-543C00E4773D}"/>
              </a:ext>
            </a:extLst>
          </p:cNvPr>
          <p:cNvSpPr/>
          <p:nvPr/>
        </p:nvSpPr>
        <p:spPr>
          <a:xfrm>
            <a:off x="5054841" y="5219699"/>
            <a:ext cx="3124958" cy="136267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Fichier </a:t>
            </a:r>
            <a:r>
              <a:rPr lang="fr-FR" b="1" i="1" u="sng" dirty="0" err="1"/>
              <a:t>index.php</a:t>
            </a:r>
            <a:endParaRPr lang="fr-FR" b="1" i="1" u="sng" dirty="0"/>
          </a:p>
          <a:p>
            <a:pPr algn="ctr"/>
            <a:r>
              <a:rPr lang="fr-FR" dirty="0"/>
              <a:t>&lt;HTML&gt;</a:t>
            </a:r>
          </a:p>
          <a:p>
            <a:pPr algn="ctr"/>
            <a:r>
              <a:rPr lang="fr-FR" dirty="0"/>
              <a:t>&lt;?</a:t>
            </a:r>
            <a:r>
              <a:rPr lang="fr-FR" dirty="0" err="1"/>
              <a:t>php</a:t>
            </a:r>
            <a:r>
              <a:rPr lang="fr-FR" dirty="0"/>
              <a:t> </a:t>
            </a:r>
            <a:r>
              <a:rPr lang="fr-FR" dirty="0" err="1"/>
              <a:t>echo</a:t>
            </a:r>
            <a:r>
              <a:rPr lang="fr-FR" dirty="0"/>
              <a:t> « Hello World »?&gt;</a:t>
            </a:r>
          </a:p>
          <a:p>
            <a:pPr algn="ctr"/>
            <a:r>
              <a:rPr lang="fr-FR" dirty="0"/>
              <a:t>&lt;/HTML&gt;</a:t>
            </a:r>
          </a:p>
        </p:txBody>
      </p:sp>
      <p:sp>
        <p:nvSpPr>
          <p:cNvPr id="14" name="Rectangle 13">
            <a:extLst>
              <a:ext uri="{FF2B5EF4-FFF2-40B4-BE49-F238E27FC236}">
                <a16:creationId xmlns:a16="http://schemas.microsoft.com/office/drawing/2014/main" id="{E578F95C-8E1C-A473-E596-C5164A24B3B7}"/>
              </a:ext>
            </a:extLst>
          </p:cNvPr>
          <p:cNvSpPr/>
          <p:nvPr/>
        </p:nvSpPr>
        <p:spPr>
          <a:xfrm>
            <a:off x="8720603" y="4950078"/>
            <a:ext cx="3017521" cy="472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PHP</a:t>
            </a:r>
          </a:p>
        </p:txBody>
      </p:sp>
      <p:sp>
        <p:nvSpPr>
          <p:cNvPr id="15" name="ZoneTexte 14">
            <a:extLst>
              <a:ext uri="{FF2B5EF4-FFF2-40B4-BE49-F238E27FC236}">
                <a16:creationId xmlns:a16="http://schemas.microsoft.com/office/drawing/2014/main" id="{C7ABDC30-39D0-54D6-9583-7F2AB3E42664}"/>
              </a:ext>
            </a:extLst>
          </p:cNvPr>
          <p:cNvSpPr txBox="1"/>
          <p:nvPr/>
        </p:nvSpPr>
        <p:spPr>
          <a:xfrm>
            <a:off x="7799070" y="1781770"/>
            <a:ext cx="2902249" cy="923330"/>
          </a:xfrm>
          <a:prstGeom prst="rect">
            <a:avLst/>
          </a:prstGeom>
          <a:noFill/>
        </p:spPr>
        <p:txBody>
          <a:bodyPr wrap="square" rtlCol="0">
            <a:spAutoFit/>
          </a:bodyPr>
          <a:lstStyle/>
          <a:p>
            <a:r>
              <a:rPr lang="fr-FR" dirty="0"/>
              <a:t>2 </a:t>
            </a:r>
            <a:r>
              <a:rPr lang="mr-IN" dirty="0"/>
              <a:t>–</a:t>
            </a:r>
            <a:r>
              <a:rPr lang="fr-FR" dirty="0"/>
              <a:t> Le serveur HTTP reçoit la requête et l’analyse </a:t>
            </a:r>
          </a:p>
        </p:txBody>
      </p:sp>
      <p:sp>
        <p:nvSpPr>
          <p:cNvPr id="16" name="ZoneTexte 15">
            <a:extLst>
              <a:ext uri="{FF2B5EF4-FFF2-40B4-BE49-F238E27FC236}">
                <a16:creationId xmlns:a16="http://schemas.microsoft.com/office/drawing/2014/main" id="{415D81BD-FF6D-E866-BC87-BE3B2E00D380}"/>
              </a:ext>
            </a:extLst>
          </p:cNvPr>
          <p:cNvSpPr txBox="1"/>
          <p:nvPr/>
        </p:nvSpPr>
        <p:spPr>
          <a:xfrm>
            <a:off x="8720603" y="5439372"/>
            <a:ext cx="2902249" cy="923330"/>
          </a:xfrm>
          <a:prstGeom prst="rect">
            <a:avLst/>
          </a:prstGeom>
          <a:noFill/>
        </p:spPr>
        <p:txBody>
          <a:bodyPr wrap="square" rtlCol="0">
            <a:spAutoFit/>
          </a:bodyPr>
          <a:lstStyle/>
          <a:p>
            <a:r>
              <a:rPr lang="fr-FR" dirty="0"/>
              <a:t>3 </a:t>
            </a:r>
            <a:r>
              <a:rPr lang="mr-IN" dirty="0"/>
              <a:t>–</a:t>
            </a:r>
            <a:r>
              <a:rPr lang="fr-FR" dirty="0"/>
              <a:t> Le serveur HTTP soustraite l’exécution de la page à PHP</a:t>
            </a:r>
          </a:p>
        </p:txBody>
      </p:sp>
      <p:cxnSp>
        <p:nvCxnSpPr>
          <p:cNvPr id="17" name="Connecteur droit avec flèche 16">
            <a:extLst>
              <a:ext uri="{FF2B5EF4-FFF2-40B4-BE49-F238E27FC236}">
                <a16:creationId xmlns:a16="http://schemas.microsoft.com/office/drawing/2014/main" id="{70108580-8EAC-7559-CD6E-0D2CCD3F240C}"/>
              </a:ext>
            </a:extLst>
          </p:cNvPr>
          <p:cNvCxnSpPr/>
          <p:nvPr/>
        </p:nvCxnSpPr>
        <p:spPr>
          <a:xfrm>
            <a:off x="8966387" y="4267200"/>
            <a:ext cx="0" cy="548640"/>
          </a:xfrm>
          <a:prstGeom prst="straightConnector1">
            <a:avLst/>
          </a:prstGeom>
          <a:ln w="381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6D27897E-60DE-CA7C-C0CD-2C38F67E3A4D}"/>
              </a:ext>
            </a:extLst>
          </p:cNvPr>
          <p:cNvSpPr txBox="1"/>
          <p:nvPr/>
        </p:nvSpPr>
        <p:spPr>
          <a:xfrm>
            <a:off x="5241489" y="4191000"/>
            <a:ext cx="3247191" cy="923330"/>
          </a:xfrm>
          <a:prstGeom prst="rect">
            <a:avLst/>
          </a:prstGeom>
          <a:noFill/>
        </p:spPr>
        <p:txBody>
          <a:bodyPr wrap="square" rtlCol="0">
            <a:spAutoFit/>
          </a:bodyPr>
          <a:lstStyle/>
          <a:p>
            <a:r>
              <a:rPr lang="fr-FR" dirty="0"/>
              <a:t>4 </a:t>
            </a:r>
            <a:r>
              <a:rPr lang="mr-IN" dirty="0"/>
              <a:t>–</a:t>
            </a:r>
            <a:r>
              <a:rPr lang="fr-FR" dirty="0"/>
              <a:t> Le serveur HTTP envoie la réponse calculée par PHP au navigateur</a:t>
            </a:r>
          </a:p>
        </p:txBody>
      </p:sp>
    </p:spTree>
    <p:extLst>
      <p:ext uri="{BB962C8B-B14F-4D97-AF65-F5344CB8AC3E}">
        <p14:creationId xmlns:p14="http://schemas.microsoft.com/office/powerpoint/2010/main" val="3409159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1" name="Rectangle 6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 name="Rectangle 6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5" name="Rectangle 64">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87071E00-ABE1-44FD-92BD-2769C2C9C727}"/>
              </a:ext>
            </a:extLst>
          </p:cNvPr>
          <p:cNvSpPr>
            <a:spLocks noGrp="1"/>
          </p:cNvSpPr>
          <p:nvPr>
            <p:ph type="title"/>
          </p:nvPr>
        </p:nvSpPr>
        <p:spPr>
          <a:xfrm>
            <a:off x="513654" y="702156"/>
            <a:ext cx="3568661" cy="1188720"/>
          </a:xfrm>
        </p:spPr>
        <p:txBody>
          <a:bodyPr vert="horz" lIns="91440" tIns="45720" rIns="91440" bIns="45720" rtlCol="0" anchor="b">
            <a:normAutofit/>
          </a:bodyPr>
          <a:lstStyle/>
          <a:p>
            <a:pPr rtl="0"/>
            <a:r>
              <a:rPr lang="fr-FR" dirty="0">
                <a:solidFill>
                  <a:schemeClr val="accent1">
                    <a:lumMod val="75000"/>
                  </a:schemeClr>
                </a:solidFill>
              </a:rPr>
              <a:t>INSTALLATION PHP</a:t>
            </a:r>
          </a:p>
        </p:txBody>
      </p:sp>
      <p:sp>
        <p:nvSpPr>
          <p:cNvPr id="67" name="Rectangle 66">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6A7BD30D-629F-49D4-AE04-2D99B365E4B8}"/>
              </a:ext>
            </a:extLst>
          </p:cNvPr>
          <p:cNvSpPr>
            <a:spLocks noGrp="1" noRot="1" noMove="1" noResize="1" noEditPoints="1" noAdjustHandles="1" noChangeArrowheads="1" noChangeShapeType="1"/>
          </p:cNvSpPr>
          <p:nvPr>
            <p:ph sz="half" idx="4294967295"/>
          </p:nvPr>
        </p:nvSpPr>
        <p:spPr>
          <a:xfrm>
            <a:off x="541282" y="1796715"/>
            <a:ext cx="3568661" cy="1996909"/>
          </a:xfrm>
        </p:spPr>
        <p:txBody>
          <a:bodyPr vert="horz" lIns="91440" tIns="45720" rIns="91440" bIns="45720" rtlCol="0" anchor="ctr">
            <a:normAutofit lnSpcReduction="10000"/>
          </a:bodyPr>
          <a:lstStyle/>
          <a:p>
            <a:pPr marL="0" indent="0" rtl="0">
              <a:buNone/>
            </a:pPr>
            <a:r>
              <a:rPr lang="fr-FR" sz="1600" dirty="0"/>
              <a:t>Il existe de nombreux </a:t>
            </a:r>
            <a:r>
              <a:rPr lang="fr-FR" sz="1600" dirty="0" err="1"/>
              <a:t>framework</a:t>
            </a:r>
            <a:r>
              <a:rPr lang="fr-FR" sz="1600" dirty="0"/>
              <a:t>  pour le cours nous utiliserons un multiplateforme XAMPP </a:t>
            </a:r>
          </a:p>
          <a:p>
            <a:pPr marL="0" indent="0" rtl="0">
              <a:buNone/>
            </a:pPr>
            <a:r>
              <a:rPr lang="fr-FR" sz="1600" dirty="0">
                <a:hlinkClick r:id="rId3"/>
              </a:rPr>
              <a:t>https://www.apachefriends.org/fr/index.html</a:t>
            </a:r>
            <a:endParaRPr lang="fr-FR" sz="1600" dirty="0"/>
          </a:p>
          <a:p>
            <a:pPr marL="0" indent="0" rtl="0">
              <a:buNone/>
            </a:pPr>
            <a:r>
              <a:rPr lang="fr-FR" sz="1600" dirty="0"/>
              <a:t>Il contient notamment PHP et MYSQL, APACHE</a:t>
            </a:r>
          </a:p>
        </p:txBody>
      </p:sp>
      <p:pic>
        <p:nvPicPr>
          <p:cNvPr id="6" name="Espace réservé du contenu 5" descr="femmes travaillant ensemble&#10;">
            <a:extLst>
              <a:ext uri="{FF2B5EF4-FFF2-40B4-BE49-F238E27FC236}">
                <a16:creationId xmlns:a16="http://schemas.microsoft.com/office/drawing/2014/main" id="{BF79C0FC-6A53-48FD-A2FB-DC1F7E6C6B69}"/>
              </a:ext>
            </a:extLst>
          </p:cNvPr>
          <p:cNvPicPr>
            <a:picLocks noGrp="1" noRot="1" noChangeAspect="1" noMove="1" noResize="1" noEditPoints="1" noAdjustHandles="1" noChangeArrowheads="1" noChangeShapeType="1" noCrop="1"/>
          </p:cNvPicPr>
          <p:nvPr>
            <p:ph sz="half" idx="4294967295"/>
          </p:nvPr>
        </p:nvPicPr>
        <p:blipFill>
          <a:blip r:embed="rId4"/>
          <a:srcRect/>
          <a:stretch/>
        </p:blipFill>
        <p:spPr>
          <a:xfrm>
            <a:off x="4656010" y="0"/>
            <a:ext cx="7534275" cy="6858000"/>
          </a:xfrm>
          <a:prstGeom prst="rect">
            <a:avLst/>
          </a:prstGeom>
        </p:spPr>
      </p:pic>
      <p:sp>
        <p:nvSpPr>
          <p:cNvPr id="7" name="Espace réservé du pied de page 6">
            <a:extLst>
              <a:ext uri="{FF2B5EF4-FFF2-40B4-BE49-F238E27FC236}">
                <a16:creationId xmlns:a16="http://schemas.microsoft.com/office/drawing/2014/main" id="{07D91225-790F-4C13-A8A5-F2C3F67C8055}"/>
              </a:ext>
            </a:extLst>
          </p:cNvPr>
          <p:cNvSpPr>
            <a:spLocks noGrp="1"/>
          </p:cNvSpPr>
          <p:nvPr>
            <p:ph type="ftr" sz="quarter" idx="11"/>
          </p:nvPr>
        </p:nvSpPr>
        <p:spPr/>
        <p:txBody>
          <a:bodyPr/>
          <a:lstStyle/>
          <a:p>
            <a:pPr algn="l" rtl="0"/>
            <a:r>
              <a:rPr lang="fr-FR"/>
              <a:t>Guillaume FOVEAU 2026</a:t>
            </a:r>
            <a:endParaRPr lang="fr"/>
          </a:p>
        </p:txBody>
      </p:sp>
      <p:sp>
        <p:nvSpPr>
          <p:cNvPr id="8" name="Espace réservé du numéro de diapositive 7">
            <a:extLst>
              <a:ext uri="{FF2B5EF4-FFF2-40B4-BE49-F238E27FC236}">
                <a16:creationId xmlns:a16="http://schemas.microsoft.com/office/drawing/2014/main" id="{315A15AC-D6F8-4815-95AC-BE31E2458FE3}"/>
              </a:ext>
            </a:extLst>
          </p:cNvPr>
          <p:cNvSpPr>
            <a:spLocks noGrp="1"/>
          </p:cNvSpPr>
          <p:nvPr>
            <p:ph type="sldNum" sz="quarter" idx="12"/>
          </p:nvPr>
        </p:nvSpPr>
        <p:spPr/>
        <p:txBody>
          <a:bodyPr/>
          <a:lstStyle/>
          <a:p>
            <a:pPr rtl="0"/>
            <a:fld id="{3A98EE3D-8CD1-4C3F-BD1C-C98C9596463C}" type="slidenum">
              <a:rPr lang="en-US" smtClean="0"/>
              <a:t>4</a:t>
            </a:fld>
            <a:endParaRPr lang="en-US" dirty="0"/>
          </a:p>
        </p:txBody>
      </p:sp>
    </p:spTree>
    <p:extLst>
      <p:ext uri="{BB962C8B-B14F-4D97-AF65-F5344CB8AC3E}">
        <p14:creationId xmlns:p14="http://schemas.microsoft.com/office/powerpoint/2010/main" val="178987338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C361-6E4C-B35B-3B2C-65D507201FC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5414C40-7ECF-E69A-7162-BBB9AFE928A5}"/>
              </a:ext>
            </a:extLst>
          </p:cNvPr>
          <p:cNvSpPr>
            <a:spLocks noGrp="1"/>
          </p:cNvSpPr>
          <p:nvPr>
            <p:ph type="title"/>
          </p:nvPr>
        </p:nvSpPr>
        <p:spPr>
          <a:xfrm>
            <a:off x="522304" y="534066"/>
            <a:ext cx="11029616" cy="1013800"/>
          </a:xfrm>
        </p:spPr>
        <p:txBody>
          <a:bodyPr rtlCol="0"/>
          <a:lstStyle/>
          <a:p>
            <a:pPr rtl="0"/>
            <a:r>
              <a:rPr lang="fr-FR" dirty="0"/>
              <a:t>PHP BASICS</a:t>
            </a:r>
          </a:p>
        </p:txBody>
      </p:sp>
      <p:sp>
        <p:nvSpPr>
          <p:cNvPr id="6" name="Espace réservé du pied de page 5">
            <a:extLst>
              <a:ext uri="{FF2B5EF4-FFF2-40B4-BE49-F238E27FC236}">
                <a16:creationId xmlns:a16="http://schemas.microsoft.com/office/drawing/2014/main" id="{3CBF130B-4FAF-C262-1775-B06AD7411A21}"/>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918969A7-2BE8-9865-56FC-6FA73AEDB81B}"/>
              </a:ext>
            </a:extLst>
          </p:cNvPr>
          <p:cNvSpPr>
            <a:spLocks noGrp="1"/>
          </p:cNvSpPr>
          <p:nvPr>
            <p:ph type="sldNum" sz="quarter" idx="12"/>
          </p:nvPr>
        </p:nvSpPr>
        <p:spPr/>
        <p:txBody>
          <a:bodyPr/>
          <a:lstStyle/>
          <a:p>
            <a:pPr rtl="0"/>
            <a:fld id="{3A98EE3D-8CD1-4C3F-BD1C-C98C9596463C}" type="slidenum">
              <a:rPr lang="fr-FR" noProof="0" smtClean="0"/>
              <a:t>5</a:t>
            </a:fld>
            <a:endParaRPr lang="fr-FR" noProof="0"/>
          </a:p>
        </p:txBody>
      </p:sp>
      <p:sp>
        <p:nvSpPr>
          <p:cNvPr id="19" name="ZoneTexte 18">
            <a:extLst>
              <a:ext uri="{FF2B5EF4-FFF2-40B4-BE49-F238E27FC236}">
                <a16:creationId xmlns:a16="http://schemas.microsoft.com/office/drawing/2014/main" id="{66738B3D-833A-3263-C5C3-F7F45C5DEA68}"/>
              </a:ext>
            </a:extLst>
          </p:cNvPr>
          <p:cNvSpPr txBox="1"/>
          <p:nvPr/>
        </p:nvSpPr>
        <p:spPr>
          <a:xfrm>
            <a:off x="433009" y="2000731"/>
            <a:ext cx="11325981" cy="3970318"/>
          </a:xfrm>
          <a:prstGeom prst="rect">
            <a:avLst/>
          </a:prstGeom>
          <a:noFill/>
        </p:spPr>
        <p:txBody>
          <a:bodyPr wrap="square">
            <a:spAutoFit/>
          </a:bodyPr>
          <a:lstStyle/>
          <a:p>
            <a:r>
              <a:rPr lang="fr-FR" dirty="0"/>
              <a:t>Le fichier PHP</a:t>
            </a:r>
          </a:p>
          <a:p>
            <a:pPr lvl="1"/>
            <a:r>
              <a:rPr lang="fr-FR" dirty="0"/>
              <a:t>Les fichiers PHP peuvent contenir du HTML et du PHP</a:t>
            </a:r>
          </a:p>
          <a:p>
            <a:pPr lvl="1"/>
            <a:r>
              <a:rPr lang="fr-FR" dirty="0"/>
              <a:t>Le code PHP se défini entre les balise &lt;?</a:t>
            </a:r>
            <a:r>
              <a:rPr lang="fr-FR" dirty="0" err="1"/>
              <a:t>php</a:t>
            </a:r>
            <a:r>
              <a:rPr lang="fr-FR" dirty="0"/>
              <a:t> et ?&gt;</a:t>
            </a:r>
          </a:p>
          <a:p>
            <a:pPr lvl="1"/>
            <a:r>
              <a:rPr lang="fr-FR" dirty="0"/>
              <a:t>Si le fichier ne contient que du PHP, alors il ne faut pas mettre de « ?&gt; » en bas de page</a:t>
            </a:r>
          </a:p>
          <a:p>
            <a:r>
              <a:rPr lang="fr-FR" dirty="0"/>
              <a:t>Les variables</a:t>
            </a:r>
          </a:p>
          <a:p>
            <a:pPr lvl="1"/>
            <a:r>
              <a:rPr lang="fr-FR" dirty="0"/>
              <a:t>Les variables sont déclarés avec le symbole $ et ne sont pas typés par défaut</a:t>
            </a:r>
          </a:p>
          <a:p>
            <a:pPr lvl="2"/>
            <a:r>
              <a:rPr lang="fr-FR" dirty="0"/>
              <a:t>$nom, $</a:t>
            </a:r>
            <a:r>
              <a:rPr lang="fr-FR" dirty="0" err="1"/>
              <a:t>prenom</a:t>
            </a:r>
            <a:r>
              <a:rPr lang="fr-FR" dirty="0"/>
              <a:t>, $toto </a:t>
            </a:r>
            <a:r>
              <a:rPr lang="fr-FR" dirty="0" err="1"/>
              <a:t>etc</a:t>
            </a:r>
            <a:r>
              <a:rPr lang="mr-IN" dirty="0"/>
              <a:t>…</a:t>
            </a:r>
            <a:endParaRPr lang="fr-FR" dirty="0"/>
          </a:p>
          <a:p>
            <a:r>
              <a:rPr lang="fr-FR" dirty="0"/>
              <a:t>Les chaines de caractère</a:t>
            </a:r>
          </a:p>
          <a:p>
            <a:pPr lvl="1"/>
            <a:r>
              <a:rPr lang="fr-FR" dirty="0"/>
              <a:t>Les chaines de caractère peuvent d’écrire entre ‘ ou ‘’</a:t>
            </a:r>
          </a:p>
          <a:p>
            <a:pPr lvl="1"/>
            <a:r>
              <a:rPr lang="fr-FR" dirty="0"/>
              <a:t>Dans le cas des double </a:t>
            </a:r>
            <a:r>
              <a:rPr lang="fr-FR" dirty="0" err="1"/>
              <a:t>quote</a:t>
            </a:r>
            <a:r>
              <a:rPr lang="fr-FR" dirty="0"/>
              <a:t>, on peut directement utiliser une variable à l’intérieur alors qu’il faut concaténer avec des . les chaines entre </a:t>
            </a:r>
            <a:r>
              <a:rPr lang="fr-FR" dirty="0" err="1"/>
              <a:t>quote</a:t>
            </a:r>
            <a:endParaRPr lang="fr-FR" dirty="0"/>
          </a:p>
          <a:p>
            <a:pPr lvl="2"/>
            <a:r>
              <a:rPr lang="fr-FR" dirty="0"/>
              <a:t>« Bonjour $</a:t>
            </a:r>
            <a:r>
              <a:rPr lang="fr-FR" dirty="0" err="1"/>
              <a:t>name</a:t>
            </a:r>
            <a:r>
              <a:rPr lang="fr-FR" dirty="0"/>
              <a:t> » </a:t>
            </a:r>
            <a:r>
              <a:rPr lang="fr-FR" dirty="0">
                <a:sym typeface="Wingdings"/>
              </a:rPr>
              <a:t> Bonjour Guillaume (si la variable $</a:t>
            </a:r>
            <a:r>
              <a:rPr lang="fr-FR" dirty="0" err="1">
                <a:sym typeface="Wingdings"/>
              </a:rPr>
              <a:t>name</a:t>
            </a:r>
            <a:r>
              <a:rPr lang="fr-FR" dirty="0">
                <a:sym typeface="Wingdings"/>
              </a:rPr>
              <a:t> à pour valeur Guillaume)</a:t>
            </a:r>
          </a:p>
          <a:p>
            <a:pPr lvl="2"/>
            <a:r>
              <a:rPr lang="fr-FR" dirty="0">
                <a:sym typeface="Wingdings"/>
              </a:rPr>
              <a:t>‘Bonjour $</a:t>
            </a:r>
            <a:r>
              <a:rPr lang="fr-FR" dirty="0" err="1">
                <a:sym typeface="Wingdings"/>
              </a:rPr>
              <a:t>name</a:t>
            </a:r>
            <a:r>
              <a:rPr lang="fr-FR" dirty="0">
                <a:sym typeface="Wingdings"/>
              </a:rPr>
              <a:t>’  Bonjour $</a:t>
            </a:r>
            <a:r>
              <a:rPr lang="fr-FR" dirty="0" err="1">
                <a:sym typeface="Wingdings"/>
              </a:rPr>
              <a:t>name</a:t>
            </a:r>
            <a:endParaRPr lang="fr-FR" dirty="0">
              <a:sym typeface="Wingdings"/>
            </a:endParaRPr>
          </a:p>
          <a:p>
            <a:pPr lvl="2"/>
            <a:r>
              <a:rPr lang="fr-FR" dirty="0">
                <a:sym typeface="Wingdings"/>
              </a:rPr>
              <a:t>‘Bonjour ‘.$</a:t>
            </a:r>
            <a:r>
              <a:rPr lang="fr-FR" dirty="0" err="1">
                <a:sym typeface="Wingdings"/>
              </a:rPr>
              <a:t>name</a:t>
            </a:r>
            <a:r>
              <a:rPr lang="fr-FR" dirty="0">
                <a:sym typeface="Wingdings"/>
              </a:rPr>
              <a:t>  Bonjour Guillaume (si la variable $</a:t>
            </a:r>
            <a:r>
              <a:rPr lang="fr-FR" dirty="0" err="1">
                <a:sym typeface="Wingdings"/>
              </a:rPr>
              <a:t>name</a:t>
            </a:r>
            <a:r>
              <a:rPr lang="fr-FR" dirty="0">
                <a:sym typeface="Wingdings"/>
              </a:rPr>
              <a:t> à pour valeur Guillaume)</a:t>
            </a:r>
            <a:endParaRPr lang="fr-FR" dirty="0"/>
          </a:p>
        </p:txBody>
      </p:sp>
    </p:spTree>
    <p:extLst>
      <p:ext uri="{BB962C8B-B14F-4D97-AF65-F5344CB8AC3E}">
        <p14:creationId xmlns:p14="http://schemas.microsoft.com/office/powerpoint/2010/main" val="285881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C361-6E4C-B35B-3B2C-65D507201FC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5414C40-7ECF-E69A-7162-BBB9AFE928A5}"/>
              </a:ext>
            </a:extLst>
          </p:cNvPr>
          <p:cNvSpPr>
            <a:spLocks noGrp="1"/>
          </p:cNvSpPr>
          <p:nvPr>
            <p:ph type="title"/>
          </p:nvPr>
        </p:nvSpPr>
        <p:spPr>
          <a:xfrm>
            <a:off x="522304" y="534066"/>
            <a:ext cx="11029616" cy="1013800"/>
          </a:xfrm>
        </p:spPr>
        <p:txBody>
          <a:bodyPr rtlCol="0"/>
          <a:lstStyle/>
          <a:p>
            <a:pPr rtl="0"/>
            <a:r>
              <a:rPr lang="fr-FR" dirty="0"/>
              <a:t>PHP BASICS</a:t>
            </a:r>
          </a:p>
        </p:txBody>
      </p:sp>
      <p:sp>
        <p:nvSpPr>
          <p:cNvPr id="6" name="Espace réservé du pied de page 5">
            <a:extLst>
              <a:ext uri="{FF2B5EF4-FFF2-40B4-BE49-F238E27FC236}">
                <a16:creationId xmlns:a16="http://schemas.microsoft.com/office/drawing/2014/main" id="{3CBF130B-4FAF-C262-1775-B06AD7411A21}"/>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918969A7-2BE8-9865-56FC-6FA73AEDB81B}"/>
              </a:ext>
            </a:extLst>
          </p:cNvPr>
          <p:cNvSpPr>
            <a:spLocks noGrp="1"/>
          </p:cNvSpPr>
          <p:nvPr>
            <p:ph type="sldNum" sz="quarter" idx="12"/>
          </p:nvPr>
        </p:nvSpPr>
        <p:spPr/>
        <p:txBody>
          <a:bodyPr/>
          <a:lstStyle/>
          <a:p>
            <a:pPr rtl="0"/>
            <a:fld id="{3A98EE3D-8CD1-4C3F-BD1C-C98C9596463C}" type="slidenum">
              <a:rPr lang="fr-FR" noProof="0" smtClean="0"/>
              <a:t>6</a:t>
            </a:fld>
            <a:endParaRPr lang="fr-FR" noProof="0"/>
          </a:p>
        </p:txBody>
      </p:sp>
      <p:sp>
        <p:nvSpPr>
          <p:cNvPr id="19" name="ZoneTexte 18">
            <a:extLst>
              <a:ext uri="{FF2B5EF4-FFF2-40B4-BE49-F238E27FC236}">
                <a16:creationId xmlns:a16="http://schemas.microsoft.com/office/drawing/2014/main" id="{66738B3D-833A-3263-C5C3-F7F45C5DEA68}"/>
              </a:ext>
            </a:extLst>
          </p:cNvPr>
          <p:cNvSpPr txBox="1"/>
          <p:nvPr/>
        </p:nvSpPr>
        <p:spPr>
          <a:xfrm>
            <a:off x="433009" y="2000731"/>
            <a:ext cx="11325981" cy="3693319"/>
          </a:xfrm>
          <a:prstGeom prst="rect">
            <a:avLst/>
          </a:prstGeom>
          <a:noFill/>
        </p:spPr>
        <p:txBody>
          <a:bodyPr wrap="square">
            <a:spAutoFit/>
          </a:bodyPr>
          <a:lstStyle/>
          <a:p>
            <a:r>
              <a:rPr lang="fr-FR" dirty="0"/>
              <a:t>Les instructions doivent se terminer par des </a:t>
            </a:r>
            <a:r>
              <a:rPr lang="fr-FR" b="1" dirty="0"/>
              <a:t>« ; »</a:t>
            </a:r>
          </a:p>
          <a:p>
            <a:pPr lvl="1"/>
            <a:r>
              <a:rPr lang="fr-FR" dirty="0"/>
              <a:t>On retrouve les instructions classiques : </a:t>
            </a:r>
          </a:p>
          <a:p>
            <a:pPr lvl="2"/>
            <a:r>
              <a:rPr lang="fr-FR" dirty="0"/>
              <a:t>if/</a:t>
            </a:r>
            <a:r>
              <a:rPr lang="fr-FR" dirty="0" err="1"/>
              <a:t>else</a:t>
            </a:r>
            <a:r>
              <a:rPr lang="fr-FR" dirty="0"/>
              <a:t>, for, </a:t>
            </a:r>
            <a:r>
              <a:rPr lang="fr-FR" dirty="0" err="1"/>
              <a:t>foreach</a:t>
            </a:r>
            <a:r>
              <a:rPr lang="fr-FR" dirty="0"/>
              <a:t>, switch/case, do/</a:t>
            </a:r>
            <a:r>
              <a:rPr lang="fr-FR" dirty="0" err="1"/>
              <a:t>while</a:t>
            </a:r>
            <a:r>
              <a:rPr lang="fr-FR" dirty="0"/>
              <a:t>, break, return</a:t>
            </a:r>
          </a:p>
          <a:p>
            <a:r>
              <a:rPr lang="fr-FR" dirty="0"/>
              <a:t>L’instruction </a:t>
            </a:r>
            <a:r>
              <a:rPr lang="fr-FR" dirty="0" err="1"/>
              <a:t>echo</a:t>
            </a:r>
            <a:endParaRPr lang="fr-FR" dirty="0"/>
          </a:p>
          <a:p>
            <a:pPr lvl="1"/>
            <a:r>
              <a:rPr lang="fr-FR" dirty="0"/>
              <a:t>L’instruction </a:t>
            </a:r>
            <a:r>
              <a:rPr lang="fr-FR" dirty="0" err="1"/>
              <a:t>echo</a:t>
            </a:r>
            <a:r>
              <a:rPr lang="fr-FR" dirty="0"/>
              <a:t> permet d’alimenter le contenue de la réponse. Autrement dit, pour afficher des éléments calculés par PHP, il faut utiliser l’instruction </a:t>
            </a:r>
            <a:r>
              <a:rPr lang="fr-FR" dirty="0" err="1"/>
              <a:t>echo</a:t>
            </a:r>
            <a:endParaRPr lang="fr-FR" dirty="0"/>
          </a:p>
          <a:p>
            <a:pPr lvl="2"/>
            <a:r>
              <a:rPr lang="fr-FR" b="1" dirty="0"/>
              <a:t>&lt;?</a:t>
            </a:r>
            <a:r>
              <a:rPr lang="fr-FR" b="1" dirty="0" err="1"/>
              <a:t>php</a:t>
            </a:r>
            <a:r>
              <a:rPr lang="fr-FR" b="1" dirty="0"/>
              <a:t> </a:t>
            </a:r>
            <a:r>
              <a:rPr lang="fr-FR" b="1" dirty="0" err="1"/>
              <a:t>echo</a:t>
            </a:r>
            <a:r>
              <a:rPr lang="fr-FR" b="1" dirty="0"/>
              <a:t> « Bonjour Guillaume »; ?&gt;</a:t>
            </a:r>
          </a:p>
          <a:p>
            <a:pPr lvl="2"/>
            <a:endParaRPr lang="fr-FR" dirty="0"/>
          </a:p>
          <a:p>
            <a:r>
              <a:rPr lang="fr-FR" dirty="0"/>
              <a:t>Les instructions « </a:t>
            </a:r>
            <a:r>
              <a:rPr lang="fr-FR" dirty="0" err="1"/>
              <a:t>include</a:t>
            </a:r>
            <a:r>
              <a:rPr lang="fr-FR" dirty="0"/>
              <a:t> » et « </a:t>
            </a:r>
            <a:r>
              <a:rPr lang="fr-FR" dirty="0" err="1"/>
              <a:t>require</a:t>
            </a:r>
            <a:r>
              <a:rPr lang="fr-FR" dirty="0"/>
              <a:t> »</a:t>
            </a:r>
          </a:p>
          <a:p>
            <a:pPr lvl="1"/>
            <a:r>
              <a:rPr lang="fr-FR" dirty="0"/>
              <a:t>Ces instructions permettent d’inclure un fichier PHP dans un autre fichier (comme le ferait un copier/coller).</a:t>
            </a:r>
          </a:p>
          <a:p>
            <a:pPr lvl="1"/>
            <a:r>
              <a:rPr lang="fr-FR" dirty="0"/>
              <a:t>Si le fichier n’est pas trouvé, « </a:t>
            </a:r>
            <a:r>
              <a:rPr lang="fr-FR" dirty="0" err="1"/>
              <a:t>require</a:t>
            </a:r>
            <a:r>
              <a:rPr lang="fr-FR" dirty="0"/>
              <a:t> » provoque une erreur bloquante contrairement à </a:t>
            </a:r>
            <a:r>
              <a:rPr lang="fr-FR" dirty="0" err="1"/>
              <a:t>include</a:t>
            </a:r>
            <a:r>
              <a:rPr lang="fr-FR" dirty="0"/>
              <a:t>.</a:t>
            </a:r>
          </a:p>
          <a:p>
            <a:pPr lvl="1"/>
            <a:r>
              <a:rPr lang="fr-FR" dirty="0"/>
              <a:t>Il existe des variantes </a:t>
            </a:r>
            <a:r>
              <a:rPr lang="fr-FR" dirty="0" err="1"/>
              <a:t>include_once</a:t>
            </a:r>
            <a:r>
              <a:rPr lang="fr-FR" dirty="0"/>
              <a:t> et </a:t>
            </a:r>
            <a:r>
              <a:rPr lang="fr-FR" dirty="0" err="1"/>
              <a:t>require_once</a:t>
            </a:r>
            <a:r>
              <a:rPr lang="fr-FR" dirty="0"/>
              <a:t> qui s’assure de n’inclure qu’une seule fois le fichier.</a:t>
            </a:r>
          </a:p>
          <a:p>
            <a:pPr lvl="1"/>
            <a:r>
              <a:rPr lang="fr-FR" dirty="0"/>
              <a:t>Utilisation :&lt;?</a:t>
            </a:r>
            <a:r>
              <a:rPr lang="fr-FR" dirty="0" err="1"/>
              <a:t>php</a:t>
            </a:r>
            <a:r>
              <a:rPr lang="fr-FR" dirty="0"/>
              <a:t> </a:t>
            </a:r>
            <a:r>
              <a:rPr lang="fr-FR" dirty="0" err="1"/>
              <a:t>include</a:t>
            </a:r>
            <a:r>
              <a:rPr lang="fr-FR" dirty="0"/>
              <a:t> ‘</a:t>
            </a:r>
            <a:r>
              <a:rPr lang="fr-FR" dirty="0" err="1"/>
              <a:t>menu.php</a:t>
            </a:r>
            <a:r>
              <a:rPr lang="fr-FR" dirty="0"/>
              <a:t>’; ?&gt; et &lt;?</a:t>
            </a:r>
            <a:r>
              <a:rPr lang="fr-FR" dirty="0" err="1"/>
              <a:t>php</a:t>
            </a:r>
            <a:r>
              <a:rPr lang="fr-FR" dirty="0"/>
              <a:t> </a:t>
            </a:r>
            <a:r>
              <a:rPr lang="fr-FR" dirty="0" err="1"/>
              <a:t>require</a:t>
            </a:r>
            <a:r>
              <a:rPr lang="fr-FR" dirty="0"/>
              <a:t> ‘</a:t>
            </a:r>
            <a:r>
              <a:rPr lang="fr-FR" dirty="0" err="1"/>
              <a:t>function.php</a:t>
            </a:r>
            <a:r>
              <a:rPr lang="fr-FR" dirty="0"/>
              <a:t>’; ?&gt;</a:t>
            </a:r>
          </a:p>
        </p:txBody>
      </p:sp>
    </p:spTree>
    <p:extLst>
      <p:ext uri="{BB962C8B-B14F-4D97-AF65-F5344CB8AC3E}">
        <p14:creationId xmlns:p14="http://schemas.microsoft.com/office/powerpoint/2010/main" val="359729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C361-6E4C-B35B-3B2C-65D507201FC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5414C40-7ECF-E69A-7162-BBB9AFE928A5}"/>
              </a:ext>
            </a:extLst>
          </p:cNvPr>
          <p:cNvSpPr>
            <a:spLocks noGrp="1"/>
          </p:cNvSpPr>
          <p:nvPr>
            <p:ph type="title"/>
          </p:nvPr>
        </p:nvSpPr>
        <p:spPr>
          <a:xfrm>
            <a:off x="522304" y="534066"/>
            <a:ext cx="11029616" cy="1013800"/>
          </a:xfrm>
        </p:spPr>
        <p:txBody>
          <a:bodyPr rtlCol="0"/>
          <a:lstStyle/>
          <a:p>
            <a:pPr rtl="0"/>
            <a:r>
              <a:rPr lang="fr-FR" dirty="0"/>
              <a:t>PHP BASICS</a:t>
            </a:r>
          </a:p>
        </p:txBody>
      </p:sp>
      <p:sp>
        <p:nvSpPr>
          <p:cNvPr id="6" name="Espace réservé du pied de page 5">
            <a:extLst>
              <a:ext uri="{FF2B5EF4-FFF2-40B4-BE49-F238E27FC236}">
                <a16:creationId xmlns:a16="http://schemas.microsoft.com/office/drawing/2014/main" id="{3CBF130B-4FAF-C262-1775-B06AD7411A21}"/>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918969A7-2BE8-9865-56FC-6FA73AEDB81B}"/>
              </a:ext>
            </a:extLst>
          </p:cNvPr>
          <p:cNvSpPr>
            <a:spLocks noGrp="1"/>
          </p:cNvSpPr>
          <p:nvPr>
            <p:ph type="sldNum" sz="quarter" idx="12"/>
          </p:nvPr>
        </p:nvSpPr>
        <p:spPr/>
        <p:txBody>
          <a:bodyPr/>
          <a:lstStyle/>
          <a:p>
            <a:pPr rtl="0"/>
            <a:fld id="{3A98EE3D-8CD1-4C3F-BD1C-C98C9596463C}" type="slidenum">
              <a:rPr lang="fr-FR" noProof="0" smtClean="0"/>
              <a:t>7</a:t>
            </a:fld>
            <a:endParaRPr lang="fr-FR" noProof="0"/>
          </a:p>
        </p:txBody>
      </p:sp>
      <p:sp>
        <p:nvSpPr>
          <p:cNvPr id="9" name="Rectangle 8">
            <a:extLst>
              <a:ext uri="{FF2B5EF4-FFF2-40B4-BE49-F238E27FC236}">
                <a16:creationId xmlns:a16="http://schemas.microsoft.com/office/drawing/2014/main" id="{329190E3-7813-E449-EE6F-6D6C80A96E11}"/>
              </a:ext>
            </a:extLst>
          </p:cNvPr>
          <p:cNvSpPr/>
          <p:nvPr/>
        </p:nvSpPr>
        <p:spPr>
          <a:xfrm>
            <a:off x="1835084" y="1846620"/>
            <a:ext cx="8081282" cy="453008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dirty="0">
                <a:solidFill>
                  <a:schemeClr val="dk1"/>
                </a:solidFill>
                <a:latin typeface="Consolas" panose="020B0609020204030204" pitchFamily="49" charset="0"/>
                <a:cs typeface="Consolas" panose="020B0609020204030204" pitchFamily="49" charset="0"/>
              </a:rPr>
              <a:t>$toto = </a:t>
            </a:r>
            <a:r>
              <a:rPr lang="fr-FR" sz="1600" b="1" dirty="0" err="1">
                <a:solidFill>
                  <a:schemeClr val="dk1"/>
                </a:solidFill>
                <a:latin typeface="Consolas" panose="020B0609020204030204" pitchFamily="49" charset="0"/>
                <a:cs typeface="Consolas" panose="020B0609020204030204" pitchFamily="49" charset="0"/>
              </a:rPr>
              <a:t>null</a:t>
            </a:r>
            <a:r>
              <a:rPr lang="fr-FR" sz="1600" dirty="0">
                <a:solidFill>
                  <a:schemeClr val="dk1"/>
                </a:solidFill>
                <a:latin typeface="Consolas" panose="020B0609020204030204" pitchFamily="49" charset="0"/>
                <a:cs typeface="Consolas" panose="020B0609020204030204" pitchFamily="49" charset="0"/>
              </a:rPr>
              <a:t>; // toto prend la valeur </a:t>
            </a:r>
            <a:r>
              <a:rPr lang="fr-FR" sz="1600" dirty="0" err="1">
                <a:solidFill>
                  <a:schemeClr val="dk1"/>
                </a:solidFill>
                <a:latin typeface="Consolas" panose="020B0609020204030204" pitchFamily="49" charset="0"/>
                <a:cs typeface="Consolas" panose="020B0609020204030204" pitchFamily="49" charset="0"/>
              </a:rPr>
              <a:t>null</a:t>
            </a:r>
            <a:endParaRPr lang="fr-FR" sz="1600" dirty="0">
              <a:solidFill>
                <a:schemeClr val="dk1"/>
              </a:solidFill>
              <a:latin typeface="Consolas" panose="020B0609020204030204" pitchFamily="49" charset="0"/>
              <a:cs typeface="Consolas" panose="020B0609020204030204" pitchFamily="49" charset="0"/>
            </a:endParaRPr>
          </a:p>
          <a:p>
            <a:r>
              <a:rPr lang="fr-FR" sz="1600" dirty="0">
                <a:solidFill>
                  <a:schemeClr val="dk1"/>
                </a:solidFill>
                <a:latin typeface="Consolas" panose="020B0609020204030204" pitchFamily="49" charset="0"/>
                <a:cs typeface="Consolas" panose="020B0609020204030204" pitchFamily="49" charset="0"/>
              </a:rPr>
              <a:t>$toto = `Ma </a:t>
            </a:r>
            <a:r>
              <a:rPr lang="fr-FR" sz="1600" dirty="0">
                <a:latin typeface="Consolas" panose="020B0609020204030204" pitchFamily="49" charset="0"/>
                <a:cs typeface="Consolas" panose="020B0609020204030204" pitchFamily="49" charset="0"/>
              </a:rPr>
              <a:t>v</a:t>
            </a:r>
            <a:r>
              <a:rPr lang="fr-FR" sz="1600" dirty="0">
                <a:solidFill>
                  <a:schemeClr val="dk1"/>
                </a:solidFill>
                <a:latin typeface="Consolas" panose="020B0609020204030204" pitchFamily="49" charset="0"/>
                <a:cs typeface="Consolas" panose="020B0609020204030204" pitchFamily="49" charset="0"/>
              </a:rPr>
              <a:t>aleur`; // toto prend la valeur ma valeur</a:t>
            </a:r>
          </a:p>
          <a:p>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res</a:t>
            </a:r>
            <a:r>
              <a:rPr lang="fr-FR" sz="1600" dirty="0">
                <a:latin typeface="Consolas" panose="020B0609020204030204" pitchFamily="49" charset="0"/>
                <a:cs typeface="Consolas" panose="020B0609020204030204" pitchFamily="49" charset="0"/>
              </a:rPr>
              <a:t> = 2 + 2; // </a:t>
            </a:r>
            <a:r>
              <a:rPr lang="fr-FR" sz="1600" dirty="0" err="1">
                <a:latin typeface="Consolas" panose="020B0609020204030204" pitchFamily="49" charset="0"/>
                <a:cs typeface="Consolas" panose="020B0609020204030204" pitchFamily="49" charset="0"/>
              </a:rPr>
              <a:t>res</a:t>
            </a:r>
            <a:r>
              <a:rPr lang="fr-FR" sz="1600" dirty="0">
                <a:latin typeface="Consolas" panose="020B0609020204030204" pitchFamily="49" charset="0"/>
                <a:cs typeface="Consolas" panose="020B0609020204030204" pitchFamily="49" charset="0"/>
              </a:rPr>
              <a:t> prend la valeur 4</a:t>
            </a:r>
          </a:p>
          <a:p>
            <a:endParaRPr lang="fr-FR" sz="1600" dirty="0">
              <a:solidFill>
                <a:schemeClr val="dk1"/>
              </a:solidFill>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t</a:t>
            </a:r>
            <a:r>
              <a:rPr lang="fr-FR" sz="1600" dirty="0">
                <a:latin typeface="Consolas" panose="020B0609020204030204" pitchFamily="49" charset="0"/>
                <a:cs typeface="Consolas" panose="020B0609020204030204" pitchFamily="49" charset="0"/>
              </a:rPr>
              <a:t> = []; // </a:t>
            </a:r>
            <a:r>
              <a:rPr lang="fr-FR" sz="1600" dirty="0" err="1">
                <a:latin typeface="Consolas" panose="020B0609020204030204" pitchFamily="49" charset="0"/>
                <a:cs typeface="Consolas" panose="020B0609020204030204" pitchFamily="49" charset="0"/>
              </a:rPr>
              <a:t>t</a:t>
            </a:r>
            <a:r>
              <a:rPr lang="fr-FR" sz="1600" dirty="0">
                <a:latin typeface="Consolas" panose="020B0609020204030204" pitchFamily="49" charset="0"/>
                <a:cs typeface="Consolas" panose="020B0609020204030204" pitchFamily="49" charset="0"/>
              </a:rPr>
              <a:t> est un tableau vide</a:t>
            </a:r>
          </a:p>
          <a:p>
            <a:r>
              <a:rPr lang="fr-FR" sz="1600" dirty="0">
                <a:solidFill>
                  <a:schemeClr val="dk1"/>
                </a:solidFill>
                <a:latin typeface="Consolas" panose="020B0609020204030204" pitchFamily="49" charset="0"/>
                <a:cs typeface="Consolas" panose="020B0609020204030204" pitchFamily="49" charset="0"/>
              </a:rPr>
              <a:t>$</a:t>
            </a:r>
            <a:r>
              <a:rPr lang="fr-FR" sz="1600" dirty="0" err="1">
                <a:solidFill>
                  <a:schemeClr val="dk1"/>
                </a:solidFill>
                <a:latin typeface="Consolas" panose="020B0609020204030204" pitchFamily="49" charset="0"/>
                <a:cs typeface="Consolas" panose="020B0609020204030204" pitchFamily="49" charset="0"/>
              </a:rPr>
              <a:t>t</a:t>
            </a:r>
            <a:r>
              <a:rPr lang="fr-FR" sz="1600" dirty="0">
                <a:solidFill>
                  <a:schemeClr val="dk1"/>
                </a:solidFill>
                <a:latin typeface="Consolas" panose="020B0609020204030204" pitchFamily="49" charset="0"/>
                <a:cs typeface="Consolas" panose="020B0609020204030204" pitchFamily="49" charset="0"/>
              </a:rPr>
              <a:t> = [1,2,3]; // </a:t>
            </a:r>
            <a:r>
              <a:rPr lang="fr-FR" sz="1600" dirty="0" err="1">
                <a:solidFill>
                  <a:schemeClr val="dk1"/>
                </a:solidFill>
                <a:latin typeface="Consolas" panose="020B0609020204030204" pitchFamily="49" charset="0"/>
                <a:cs typeface="Consolas" panose="020B0609020204030204" pitchFamily="49" charset="0"/>
              </a:rPr>
              <a:t>t</a:t>
            </a:r>
            <a:r>
              <a:rPr lang="fr-FR" sz="1600" dirty="0">
                <a:solidFill>
                  <a:schemeClr val="dk1"/>
                </a:solidFill>
                <a:latin typeface="Consolas" panose="020B0609020204030204" pitchFamily="49" charset="0"/>
                <a:cs typeface="Consolas" panose="020B0609020204030204" pitchFamily="49" charset="0"/>
              </a:rPr>
              <a:t> est un tableau avec les valeur 1, 2 et 3</a:t>
            </a:r>
          </a:p>
          <a:p>
            <a:endParaRPr lang="fr-FR" sz="1600" dirty="0">
              <a:latin typeface="Consolas" panose="020B0609020204030204" pitchFamily="49" charset="0"/>
              <a:cs typeface="Consolas" panose="020B0609020204030204" pitchFamily="49" charset="0"/>
            </a:endParaRPr>
          </a:p>
          <a:p>
            <a:r>
              <a:rPr lang="fr-FR" sz="1600" b="1" dirty="0" err="1">
                <a:latin typeface="Consolas" panose="020B0609020204030204" pitchFamily="49" charset="0"/>
                <a:cs typeface="Consolas" panose="020B0609020204030204" pitchFamily="49" charset="0"/>
              </a:rPr>
              <a:t>f</a:t>
            </a:r>
            <a:r>
              <a:rPr lang="fr-FR" sz="1600" b="1" dirty="0" err="1">
                <a:solidFill>
                  <a:schemeClr val="dk1"/>
                </a:solidFill>
                <a:latin typeface="Consolas" panose="020B0609020204030204" pitchFamily="49" charset="0"/>
                <a:cs typeface="Consolas" panose="020B0609020204030204" pitchFamily="49" charset="0"/>
              </a:rPr>
              <a:t>oreach</a:t>
            </a:r>
            <a:r>
              <a:rPr lang="fr-FR" sz="1600" dirty="0">
                <a:solidFill>
                  <a:schemeClr val="dk1"/>
                </a:solidFill>
                <a:latin typeface="Consolas" panose="020B0609020204030204" pitchFamily="49" charset="0"/>
                <a:cs typeface="Consolas" panose="020B0609020204030204" pitchFamily="49" charset="0"/>
              </a:rPr>
              <a:t>($i </a:t>
            </a:r>
            <a:r>
              <a:rPr lang="fr-FR" sz="1600" b="1" dirty="0">
                <a:solidFill>
                  <a:schemeClr val="dk1"/>
                </a:solidFill>
                <a:latin typeface="Consolas" panose="020B0609020204030204" pitchFamily="49" charset="0"/>
                <a:cs typeface="Consolas" panose="020B0609020204030204" pitchFamily="49" charset="0"/>
              </a:rPr>
              <a:t>in</a:t>
            </a:r>
            <a:r>
              <a:rPr lang="fr-FR" sz="1600" dirty="0">
                <a:solidFill>
                  <a:schemeClr val="dk1"/>
                </a:solidFill>
                <a:latin typeface="Consolas" panose="020B0609020204030204" pitchFamily="49" charset="0"/>
                <a:cs typeface="Consolas" panose="020B0609020204030204" pitchFamily="49" charset="0"/>
              </a:rPr>
              <a:t> $</a:t>
            </a:r>
            <a:r>
              <a:rPr lang="fr-FR" sz="1600" dirty="0" err="1">
                <a:solidFill>
                  <a:schemeClr val="dk1"/>
                </a:solidFill>
                <a:latin typeface="Consolas" panose="020B0609020204030204" pitchFamily="49" charset="0"/>
                <a:cs typeface="Consolas" panose="020B0609020204030204" pitchFamily="49" charset="0"/>
              </a:rPr>
              <a:t>t</a:t>
            </a:r>
            <a:r>
              <a:rPr lang="fr-FR" sz="1600" dirty="0">
                <a:solidFill>
                  <a:schemeClr val="dk1"/>
                </a:solidFill>
                <a:latin typeface="Consolas" panose="020B0609020204030204" pitchFamily="49" charset="0"/>
                <a:cs typeface="Consolas" panose="020B0609020204030204" pitchFamily="49" charset="0"/>
              </a:rPr>
              <a:t>){ // parcours du tableau </a:t>
            </a:r>
            <a:r>
              <a:rPr lang="fr-FR" sz="1600" dirty="0" err="1">
                <a:solidFill>
                  <a:schemeClr val="dk1"/>
                </a:solidFill>
                <a:latin typeface="Consolas" panose="020B0609020204030204" pitchFamily="49" charset="0"/>
                <a:cs typeface="Consolas" panose="020B0609020204030204" pitchFamily="49" charset="0"/>
              </a:rPr>
              <a:t>t</a:t>
            </a:r>
            <a:endParaRPr lang="fr-FR" sz="1600" dirty="0">
              <a:solidFill>
                <a:schemeClr val="dk1"/>
              </a:solidFill>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echo</a:t>
            </a:r>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t</a:t>
            </a:r>
            <a:r>
              <a:rPr lang="fr-FR" sz="1600" dirty="0">
                <a:latin typeface="Consolas" panose="020B0609020204030204" pitchFamily="49" charset="0"/>
                <a:cs typeface="Consolas" panose="020B0609020204030204" pitchFamily="49" charset="0"/>
              </a:rPr>
              <a:t>[$i]; // accès à chaque valeur de </a:t>
            </a:r>
            <a:r>
              <a:rPr lang="fr-FR" sz="1600" dirty="0" err="1">
                <a:latin typeface="Consolas" panose="020B0609020204030204" pitchFamily="49" charset="0"/>
                <a:cs typeface="Consolas" panose="020B0609020204030204" pitchFamily="49" charset="0"/>
              </a:rPr>
              <a:t>t</a:t>
            </a:r>
            <a:r>
              <a:rPr lang="fr-FR" sz="1600" dirty="0">
                <a:latin typeface="Consolas" panose="020B0609020204030204" pitchFamily="49" charset="0"/>
                <a:cs typeface="Consolas" panose="020B0609020204030204" pitchFamily="49" charset="0"/>
              </a:rPr>
              <a:t>, avec l’index i</a:t>
            </a:r>
          </a:p>
          <a:p>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if</a:t>
            </a:r>
            <a:r>
              <a:rPr lang="fr-FR" sz="1600" dirty="0">
                <a:latin typeface="Consolas" panose="020B0609020204030204" pitchFamily="49" charset="0"/>
                <a:cs typeface="Consolas" panose="020B0609020204030204" pitchFamily="49" charset="0"/>
              </a:rPr>
              <a:t>(</a:t>
            </a:r>
            <a:r>
              <a:rPr lang="fr-FR" sz="1600" b="1" dirty="0" err="1">
                <a:latin typeface="Consolas" panose="020B0609020204030204" pitchFamily="49" charset="0"/>
                <a:cs typeface="Consolas" panose="020B0609020204030204" pitchFamily="49" charset="0"/>
              </a:rPr>
              <a:t>isset</a:t>
            </a:r>
            <a:r>
              <a:rPr lang="fr-FR" sz="1600" dirty="0">
                <a:latin typeface="Consolas" panose="020B0609020204030204" pitchFamily="49" charset="0"/>
                <a:cs typeface="Consolas" panose="020B0609020204030204" pitchFamily="49" charset="0"/>
              </a:rPr>
              <a:t>($toto){ // test si toto a une valeur</a:t>
            </a:r>
          </a:p>
          <a:p>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a:t>
            </a:r>
            <a:r>
              <a:rPr lang="fr-FR" sz="1600" b="1" dirty="0" err="1">
                <a:latin typeface="Consolas" panose="020B0609020204030204" pitchFamily="49" charset="0"/>
                <a:cs typeface="Consolas" panose="020B0609020204030204" pitchFamily="49" charset="0"/>
              </a:rPr>
              <a:t>else</a:t>
            </a:r>
            <a:r>
              <a:rPr lang="fr-FR" sz="1600" dirty="0">
                <a:latin typeface="Consolas" panose="020B0609020204030204" pitchFamily="49" charset="0"/>
                <a:cs typeface="Consolas" panose="020B0609020204030204" pitchFamily="49" charset="0"/>
              </a:rPr>
              <a:t>{ // sinon </a:t>
            </a:r>
          </a:p>
          <a:p>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($toto); // appel à une fonction </a:t>
            </a:r>
            <a:r>
              <a:rPr lang="fr-FR" sz="1600" dirty="0" err="1">
                <a:latin typeface="Consolas" panose="020B0609020204030204" pitchFamily="49" charset="0"/>
                <a:cs typeface="Consolas" panose="020B0609020204030204" pitchFamily="49" charset="0"/>
              </a:rPr>
              <a:t>foo</a:t>
            </a:r>
            <a:endParaRPr lang="fr-FR" sz="1600" dirty="0">
              <a:latin typeface="Consolas" panose="020B0609020204030204" pitchFamily="49" charset="0"/>
              <a:cs typeface="Consolas" panose="020B0609020204030204" pitchFamily="49" charset="0"/>
            </a:endParaRPr>
          </a:p>
          <a:p>
            <a:endParaRPr lang="fr-FR" sz="1600" dirty="0">
              <a:solidFill>
                <a:schemeClr val="dk1"/>
              </a:solidFill>
              <a:latin typeface="Consolas" panose="020B0609020204030204" pitchFamily="49" charset="0"/>
              <a:cs typeface="Consolas" panose="020B0609020204030204" pitchFamily="49" charset="0"/>
            </a:endParaRPr>
          </a:p>
          <a:p>
            <a:endParaRPr lang="fr-FR" sz="1600" dirty="0">
              <a:solidFill>
                <a:schemeClr val="dk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6708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C361-6E4C-B35B-3B2C-65D507201FC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5414C40-7ECF-E69A-7162-BBB9AFE928A5}"/>
              </a:ext>
            </a:extLst>
          </p:cNvPr>
          <p:cNvSpPr>
            <a:spLocks noGrp="1"/>
          </p:cNvSpPr>
          <p:nvPr>
            <p:ph type="title"/>
          </p:nvPr>
        </p:nvSpPr>
        <p:spPr>
          <a:xfrm>
            <a:off x="522304" y="534066"/>
            <a:ext cx="11029616" cy="1013800"/>
          </a:xfrm>
        </p:spPr>
        <p:txBody>
          <a:bodyPr rtlCol="0"/>
          <a:lstStyle/>
          <a:p>
            <a:pPr rtl="0"/>
            <a:r>
              <a:rPr lang="fr-FR" dirty="0"/>
              <a:t>PHP BASICS</a:t>
            </a:r>
          </a:p>
        </p:txBody>
      </p:sp>
      <p:sp>
        <p:nvSpPr>
          <p:cNvPr id="6" name="Espace réservé du pied de page 5">
            <a:extLst>
              <a:ext uri="{FF2B5EF4-FFF2-40B4-BE49-F238E27FC236}">
                <a16:creationId xmlns:a16="http://schemas.microsoft.com/office/drawing/2014/main" id="{3CBF130B-4FAF-C262-1775-B06AD7411A21}"/>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918969A7-2BE8-9865-56FC-6FA73AEDB81B}"/>
              </a:ext>
            </a:extLst>
          </p:cNvPr>
          <p:cNvSpPr>
            <a:spLocks noGrp="1"/>
          </p:cNvSpPr>
          <p:nvPr>
            <p:ph type="sldNum" sz="quarter" idx="12"/>
          </p:nvPr>
        </p:nvSpPr>
        <p:spPr/>
        <p:txBody>
          <a:bodyPr/>
          <a:lstStyle/>
          <a:p>
            <a:pPr rtl="0"/>
            <a:fld id="{3A98EE3D-8CD1-4C3F-BD1C-C98C9596463C}" type="slidenum">
              <a:rPr lang="fr-FR" noProof="0" smtClean="0"/>
              <a:t>8</a:t>
            </a:fld>
            <a:endParaRPr lang="fr-FR" noProof="0"/>
          </a:p>
        </p:txBody>
      </p:sp>
      <p:sp>
        <p:nvSpPr>
          <p:cNvPr id="2" name="Espace réservé du contenu 2">
            <a:extLst>
              <a:ext uri="{FF2B5EF4-FFF2-40B4-BE49-F238E27FC236}">
                <a16:creationId xmlns:a16="http://schemas.microsoft.com/office/drawing/2014/main" id="{75439EEF-682D-DAE5-76CC-4345299967B1}"/>
              </a:ext>
            </a:extLst>
          </p:cNvPr>
          <p:cNvSpPr txBox="1">
            <a:spLocks/>
          </p:cNvSpPr>
          <p:nvPr/>
        </p:nvSpPr>
        <p:spPr>
          <a:xfrm>
            <a:off x="661469" y="1866458"/>
            <a:ext cx="8761412" cy="42646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fr-FR"/>
              <a:t>Les Fonctions</a:t>
            </a:r>
          </a:p>
          <a:p>
            <a:pPr lvl="1"/>
            <a:r>
              <a:rPr lang="fr-FR"/>
              <a:t>PHP permet de définir des fonctions afin de factoriser des portions de code.</a:t>
            </a:r>
          </a:p>
          <a:p>
            <a:pPr lvl="1"/>
            <a:r>
              <a:rPr lang="fr-FR"/>
              <a:t>Les fonctions sont utilisables dans les fichiers PHP où elles ont été déclarées, ainsi que dans les fichiers PHP qui y font appel via l’instruction « require »</a:t>
            </a:r>
            <a:endParaRPr lang="fr-FR" dirty="0"/>
          </a:p>
        </p:txBody>
      </p:sp>
      <p:sp>
        <p:nvSpPr>
          <p:cNvPr id="3" name="Rectangle 2">
            <a:extLst>
              <a:ext uri="{FF2B5EF4-FFF2-40B4-BE49-F238E27FC236}">
                <a16:creationId xmlns:a16="http://schemas.microsoft.com/office/drawing/2014/main" id="{B6E76C7E-A9AC-C686-A451-F73B25E9D820}"/>
              </a:ext>
            </a:extLst>
          </p:cNvPr>
          <p:cNvSpPr/>
          <p:nvPr/>
        </p:nvSpPr>
        <p:spPr>
          <a:xfrm>
            <a:off x="661467" y="3633007"/>
            <a:ext cx="4587239" cy="249807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dirty="0">
                <a:solidFill>
                  <a:schemeClr val="dk1"/>
                </a:solidFill>
                <a:latin typeface="Consolas" panose="020B0609020204030204" pitchFamily="49" charset="0"/>
                <a:cs typeface="Consolas" panose="020B0609020204030204" pitchFamily="49" charset="0"/>
              </a:rPr>
              <a:t>&lt;?</a:t>
            </a:r>
            <a:r>
              <a:rPr lang="fr-FR" sz="1600" b="1" dirty="0" err="1">
                <a:solidFill>
                  <a:schemeClr val="dk1"/>
                </a:solidFill>
                <a:latin typeface="Consolas" panose="020B0609020204030204" pitchFamily="49" charset="0"/>
                <a:cs typeface="Consolas" panose="020B0609020204030204" pitchFamily="49" charset="0"/>
              </a:rPr>
              <a:t>php</a:t>
            </a:r>
            <a:endParaRPr lang="fr-FR" sz="1600" b="1" dirty="0">
              <a:solidFill>
                <a:schemeClr val="dk1"/>
              </a:solidFill>
              <a:latin typeface="Consolas" panose="020B0609020204030204" pitchFamily="49" charset="0"/>
              <a:cs typeface="Consolas" panose="020B0609020204030204" pitchFamily="49" charset="0"/>
            </a:endParaRPr>
          </a:p>
          <a:p>
            <a:endParaRPr lang="fr-FR" sz="1600" dirty="0">
              <a:solidFill>
                <a:schemeClr val="dk1"/>
              </a:solidFill>
              <a:latin typeface="Consolas" panose="020B0609020204030204" pitchFamily="49" charset="0"/>
              <a:cs typeface="Consolas" panose="020B0609020204030204" pitchFamily="49" charset="0"/>
            </a:endParaRPr>
          </a:p>
          <a:p>
            <a:r>
              <a:rPr lang="fr-FR" sz="1600" b="1" dirty="0" err="1">
                <a:solidFill>
                  <a:schemeClr val="dk1"/>
                </a:solidFill>
                <a:latin typeface="Consolas" panose="020B0609020204030204" pitchFamily="49" charset="0"/>
                <a:cs typeface="Consolas" panose="020B0609020204030204" pitchFamily="49" charset="0"/>
              </a:rPr>
              <a:t>function</a:t>
            </a:r>
            <a:r>
              <a:rPr lang="fr-FR" sz="1600" dirty="0">
                <a:solidFill>
                  <a:schemeClr val="dk1"/>
                </a:solidFill>
                <a:latin typeface="Consolas" panose="020B0609020204030204" pitchFamily="49" charset="0"/>
                <a:cs typeface="Consolas" panose="020B0609020204030204" pitchFamily="49" charset="0"/>
              </a:rPr>
              <a:t> bar($</a:t>
            </a:r>
            <a:r>
              <a:rPr lang="fr-FR" sz="1600" dirty="0" err="1">
                <a:solidFill>
                  <a:schemeClr val="dk1"/>
                </a:solidFill>
                <a:latin typeface="Consolas" panose="020B0609020204030204" pitchFamily="49" charset="0"/>
                <a:cs typeface="Consolas" panose="020B0609020204030204" pitchFamily="49" charset="0"/>
              </a:rPr>
              <a:t>param</a:t>
            </a:r>
            <a:r>
              <a:rPr lang="fr-FR" sz="1600" dirty="0">
                <a:solidFill>
                  <a:schemeClr val="dk1"/>
                </a:solidFill>
                <a:latin typeface="Consolas" panose="020B0609020204030204" pitchFamily="49" charset="0"/>
                <a:cs typeface="Consolas" panose="020B0609020204030204" pitchFamily="49" charset="0"/>
              </a:rPr>
              <a:t>){</a:t>
            </a:r>
          </a:p>
          <a:p>
            <a:r>
              <a:rPr lang="fr-FR" sz="1600" dirty="0">
                <a:solidFill>
                  <a:schemeClr val="dk1"/>
                </a:solidFill>
                <a:latin typeface="Consolas" panose="020B0609020204030204" pitchFamily="49" charset="0"/>
                <a:cs typeface="Consolas" panose="020B0609020204030204" pitchFamily="49" charset="0"/>
              </a:rPr>
              <a:t>	$</a:t>
            </a:r>
            <a:r>
              <a:rPr lang="fr-FR" sz="1600" dirty="0" err="1">
                <a:solidFill>
                  <a:schemeClr val="dk1"/>
                </a:solidFill>
                <a:latin typeface="Consolas" panose="020B0609020204030204" pitchFamily="49" charset="0"/>
                <a:cs typeface="Consolas" panose="020B0609020204030204" pitchFamily="49" charset="0"/>
              </a:rPr>
              <a:t>param</a:t>
            </a:r>
            <a:r>
              <a:rPr lang="fr-FR" sz="1600" dirty="0">
                <a:solidFill>
                  <a:schemeClr val="dk1"/>
                </a:solidFill>
                <a:latin typeface="Consolas" panose="020B0609020204030204" pitchFamily="49" charset="0"/>
                <a:cs typeface="Consolas" panose="020B0609020204030204" pitchFamily="49" charset="0"/>
              </a:rPr>
              <a:t> = $</a:t>
            </a:r>
            <a:r>
              <a:rPr lang="fr-FR" sz="1600" dirty="0" err="1">
                <a:solidFill>
                  <a:schemeClr val="dk1"/>
                </a:solidFill>
                <a:latin typeface="Consolas" panose="020B0609020204030204" pitchFamily="49" charset="0"/>
                <a:cs typeface="Consolas" panose="020B0609020204030204" pitchFamily="49" charset="0"/>
              </a:rPr>
              <a:t>param</a:t>
            </a:r>
            <a:r>
              <a:rPr lang="fr-FR" sz="1600" dirty="0">
                <a:solidFill>
                  <a:schemeClr val="dk1"/>
                </a:solidFill>
                <a:latin typeface="Consolas" panose="020B0609020204030204" pitchFamily="49" charset="0"/>
                <a:cs typeface="Consolas" panose="020B0609020204030204" pitchFamily="49" charset="0"/>
              </a:rPr>
              <a:t> + 1;</a:t>
            </a:r>
          </a:p>
          <a:p>
            <a:r>
              <a:rPr lang="fr-FR" sz="1600" dirty="0">
                <a:solidFill>
                  <a:schemeClr val="dk1"/>
                </a:solidFill>
                <a:latin typeface="Consolas" panose="020B0609020204030204" pitchFamily="49" charset="0"/>
                <a:cs typeface="Consolas" panose="020B0609020204030204" pitchFamily="49" charset="0"/>
              </a:rPr>
              <a:t>	return $</a:t>
            </a:r>
            <a:r>
              <a:rPr lang="fr-FR" sz="1600" dirty="0" err="1">
                <a:solidFill>
                  <a:schemeClr val="dk1"/>
                </a:solidFill>
                <a:latin typeface="Consolas" panose="020B0609020204030204" pitchFamily="49" charset="0"/>
                <a:cs typeface="Consolas" panose="020B0609020204030204" pitchFamily="49" charset="0"/>
              </a:rPr>
              <a:t>param</a:t>
            </a:r>
            <a:r>
              <a:rPr lang="fr-FR" sz="1600" dirty="0">
                <a:solidFill>
                  <a:schemeClr val="dk1"/>
                </a:solidFill>
                <a:latin typeface="Consolas" panose="020B0609020204030204" pitchFamily="49" charset="0"/>
                <a:cs typeface="Consolas" panose="020B0609020204030204" pitchFamily="49" charset="0"/>
              </a:rPr>
              <a:t>;</a:t>
            </a:r>
          </a:p>
          <a:p>
            <a:r>
              <a:rPr lang="fr-FR" sz="1600" dirty="0">
                <a:solidFill>
                  <a:schemeClr val="dk1"/>
                </a:solidFill>
                <a:latin typeface="Consolas" panose="020B0609020204030204" pitchFamily="49" charset="0"/>
                <a:cs typeface="Consolas" panose="020B0609020204030204" pitchFamily="49" charset="0"/>
              </a:rPr>
              <a:t>}</a:t>
            </a:r>
          </a:p>
          <a:p>
            <a:endParaRPr lang="fr-FR" sz="1600" dirty="0">
              <a:solidFill>
                <a:schemeClr val="dk1"/>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7A691F79-74A9-9625-6781-68ADC0DA13AC}"/>
              </a:ext>
            </a:extLst>
          </p:cNvPr>
          <p:cNvSpPr/>
          <p:nvPr/>
        </p:nvSpPr>
        <p:spPr>
          <a:xfrm>
            <a:off x="6250464" y="3633007"/>
            <a:ext cx="4408441" cy="249807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dirty="0">
                <a:solidFill>
                  <a:schemeClr val="dk1"/>
                </a:solidFill>
                <a:latin typeface="Consolas" panose="020B0609020204030204" pitchFamily="49" charset="0"/>
                <a:cs typeface="Consolas" panose="020B0609020204030204" pitchFamily="49" charset="0"/>
              </a:rPr>
              <a:t>&lt;?</a:t>
            </a:r>
            <a:r>
              <a:rPr lang="fr-FR" sz="1600" b="1" dirty="0" err="1">
                <a:solidFill>
                  <a:schemeClr val="dk1"/>
                </a:solidFill>
                <a:latin typeface="Consolas" panose="020B0609020204030204" pitchFamily="49" charset="0"/>
                <a:cs typeface="Consolas" panose="020B0609020204030204" pitchFamily="49" charset="0"/>
              </a:rPr>
              <a:t>php</a:t>
            </a:r>
            <a:endParaRPr lang="fr-FR" sz="1600" b="1" dirty="0">
              <a:solidFill>
                <a:schemeClr val="dk1"/>
              </a:solidFill>
              <a:latin typeface="Consolas" panose="020B0609020204030204" pitchFamily="49" charset="0"/>
              <a:cs typeface="Consolas" panose="020B0609020204030204" pitchFamily="49" charset="0"/>
            </a:endParaRPr>
          </a:p>
          <a:p>
            <a:endParaRPr lang="fr-FR" sz="1600" dirty="0">
              <a:solidFill>
                <a:schemeClr val="dk1"/>
              </a:solidFill>
              <a:latin typeface="Consolas" panose="020B0609020204030204" pitchFamily="49" charset="0"/>
              <a:cs typeface="Consolas" panose="020B0609020204030204" pitchFamily="49" charset="0"/>
            </a:endParaRPr>
          </a:p>
          <a:p>
            <a:r>
              <a:rPr lang="fr-FR" sz="1600" b="1" dirty="0" err="1">
                <a:latin typeface="Consolas" panose="020B0609020204030204" pitchFamily="49" charset="0"/>
                <a:cs typeface="Consolas" panose="020B0609020204030204" pitchFamily="49" charset="0"/>
              </a:rPr>
              <a:t>r</a:t>
            </a:r>
            <a:r>
              <a:rPr lang="fr-FR" sz="1600" b="1" dirty="0" err="1">
                <a:solidFill>
                  <a:schemeClr val="dk1"/>
                </a:solidFill>
                <a:latin typeface="Consolas" panose="020B0609020204030204" pitchFamily="49" charset="0"/>
                <a:cs typeface="Consolas" panose="020B0609020204030204" pitchFamily="49" charset="0"/>
              </a:rPr>
              <a:t>equire</a:t>
            </a:r>
            <a:r>
              <a:rPr lang="fr-FR" sz="1600" dirty="0">
                <a:solidFill>
                  <a:schemeClr val="dk1"/>
                </a:solidFill>
                <a:latin typeface="Consolas" panose="020B0609020204030204" pitchFamily="49" charset="0"/>
                <a:cs typeface="Consolas" panose="020B0609020204030204" pitchFamily="49" charset="0"/>
              </a:rPr>
              <a:t> ‘</a:t>
            </a:r>
            <a:r>
              <a:rPr lang="fr-FR" sz="1600" dirty="0" err="1">
                <a:solidFill>
                  <a:schemeClr val="dk1"/>
                </a:solidFill>
                <a:latin typeface="Consolas" panose="020B0609020204030204" pitchFamily="49" charset="0"/>
                <a:cs typeface="Consolas" panose="020B0609020204030204" pitchFamily="49" charset="0"/>
              </a:rPr>
              <a:t>foo.php</a:t>
            </a:r>
            <a:r>
              <a:rPr lang="fr-FR" sz="1600" dirty="0">
                <a:solidFill>
                  <a:schemeClr val="dk1"/>
                </a:solidFill>
                <a:latin typeface="Consolas" panose="020B0609020204030204" pitchFamily="49" charset="0"/>
                <a:cs typeface="Consolas" panose="020B0609020204030204" pitchFamily="49" charset="0"/>
              </a:rPr>
              <a:t>’;</a:t>
            </a:r>
          </a:p>
          <a:p>
            <a:endParaRPr lang="fr-FR" sz="1600" dirty="0">
              <a:solidFill>
                <a:schemeClr val="dk1"/>
              </a:solidFill>
              <a:latin typeface="Consolas" panose="020B0609020204030204" pitchFamily="49" charset="0"/>
              <a:cs typeface="Consolas" panose="020B0609020204030204" pitchFamily="49" charset="0"/>
            </a:endParaRPr>
          </a:p>
          <a:p>
            <a:r>
              <a:rPr lang="fr-FR" sz="1600" dirty="0">
                <a:solidFill>
                  <a:schemeClr val="dk1"/>
                </a:solidFill>
                <a:latin typeface="Consolas" panose="020B0609020204030204" pitchFamily="49" charset="0"/>
                <a:cs typeface="Consolas" panose="020B0609020204030204" pitchFamily="49" charset="0"/>
              </a:rPr>
              <a:t>bar(12); //</a:t>
            </a:r>
          </a:p>
          <a:p>
            <a:endParaRPr lang="fr-FR" sz="1600" dirty="0">
              <a:solidFill>
                <a:schemeClr val="dk1"/>
              </a:solidFill>
              <a:latin typeface="Consolas" panose="020B0609020204030204" pitchFamily="49" charset="0"/>
              <a:cs typeface="Consolas" panose="020B0609020204030204" pitchFamily="49" charset="0"/>
            </a:endParaRPr>
          </a:p>
        </p:txBody>
      </p:sp>
      <p:sp>
        <p:nvSpPr>
          <p:cNvPr id="8" name="Flèche vers la droite 5">
            <a:extLst>
              <a:ext uri="{FF2B5EF4-FFF2-40B4-BE49-F238E27FC236}">
                <a16:creationId xmlns:a16="http://schemas.microsoft.com/office/drawing/2014/main" id="{0D87DF6D-95CD-4B58-9B70-8A3B128E4FF8}"/>
              </a:ext>
            </a:extLst>
          </p:cNvPr>
          <p:cNvSpPr/>
          <p:nvPr/>
        </p:nvSpPr>
        <p:spPr>
          <a:xfrm>
            <a:off x="5383825" y="4386742"/>
            <a:ext cx="73152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595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C361-6E4C-B35B-3B2C-65D507201FC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5414C40-7ECF-E69A-7162-BBB9AFE928A5}"/>
              </a:ext>
            </a:extLst>
          </p:cNvPr>
          <p:cNvSpPr>
            <a:spLocks noGrp="1"/>
          </p:cNvSpPr>
          <p:nvPr>
            <p:ph type="title"/>
          </p:nvPr>
        </p:nvSpPr>
        <p:spPr>
          <a:xfrm>
            <a:off x="522304" y="534066"/>
            <a:ext cx="11029616" cy="1013800"/>
          </a:xfrm>
        </p:spPr>
        <p:txBody>
          <a:bodyPr rtlCol="0"/>
          <a:lstStyle/>
          <a:p>
            <a:pPr rtl="0"/>
            <a:r>
              <a:rPr lang="fr-FR" dirty="0"/>
              <a:t>PHP BASICS</a:t>
            </a:r>
          </a:p>
        </p:txBody>
      </p:sp>
      <p:sp>
        <p:nvSpPr>
          <p:cNvPr id="6" name="Espace réservé du pied de page 5">
            <a:extLst>
              <a:ext uri="{FF2B5EF4-FFF2-40B4-BE49-F238E27FC236}">
                <a16:creationId xmlns:a16="http://schemas.microsoft.com/office/drawing/2014/main" id="{3CBF130B-4FAF-C262-1775-B06AD7411A21}"/>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918969A7-2BE8-9865-56FC-6FA73AEDB81B}"/>
              </a:ext>
            </a:extLst>
          </p:cNvPr>
          <p:cNvSpPr>
            <a:spLocks noGrp="1"/>
          </p:cNvSpPr>
          <p:nvPr>
            <p:ph type="sldNum" sz="quarter" idx="12"/>
          </p:nvPr>
        </p:nvSpPr>
        <p:spPr/>
        <p:txBody>
          <a:bodyPr/>
          <a:lstStyle/>
          <a:p>
            <a:pPr rtl="0"/>
            <a:fld id="{3A98EE3D-8CD1-4C3F-BD1C-C98C9596463C}" type="slidenum">
              <a:rPr lang="fr-FR" noProof="0" smtClean="0"/>
              <a:t>9</a:t>
            </a:fld>
            <a:endParaRPr lang="fr-FR" noProof="0"/>
          </a:p>
        </p:txBody>
      </p:sp>
      <p:sp>
        <p:nvSpPr>
          <p:cNvPr id="9" name="Espace réservé du contenu 2">
            <a:extLst>
              <a:ext uri="{FF2B5EF4-FFF2-40B4-BE49-F238E27FC236}">
                <a16:creationId xmlns:a16="http://schemas.microsoft.com/office/drawing/2014/main" id="{510ED66F-4474-BBF5-F494-D687076DB71D}"/>
              </a:ext>
            </a:extLst>
          </p:cNvPr>
          <p:cNvSpPr>
            <a:spLocks noGrp="1"/>
          </p:cNvSpPr>
          <p:nvPr>
            <p:ph idx="1"/>
          </p:nvPr>
        </p:nvSpPr>
        <p:spPr>
          <a:xfrm>
            <a:off x="704579" y="786190"/>
            <a:ext cx="8761412" cy="4264619"/>
          </a:xfrm>
        </p:spPr>
        <p:txBody>
          <a:bodyPr>
            <a:normAutofit/>
          </a:bodyPr>
          <a:lstStyle/>
          <a:p>
            <a:r>
              <a:rPr lang="fr-FR" sz="2400" dirty="0"/>
              <a:t>Traitement des formulaires</a:t>
            </a:r>
          </a:p>
          <a:p>
            <a:pPr lvl="1"/>
            <a:r>
              <a:rPr lang="fr-FR" sz="2000" dirty="0"/>
              <a:t>Les données transmises par des formulaires sont disponibles dans les variables globales $_GET, $_POST et $_REQUEST</a:t>
            </a:r>
          </a:p>
          <a:p>
            <a:pPr lvl="2"/>
            <a:r>
              <a:rPr lang="fr-FR" sz="1800" dirty="0"/>
              <a:t>Exemple :</a:t>
            </a:r>
          </a:p>
        </p:txBody>
      </p:sp>
      <p:sp>
        <p:nvSpPr>
          <p:cNvPr id="10" name="Rectangle 9">
            <a:extLst>
              <a:ext uri="{FF2B5EF4-FFF2-40B4-BE49-F238E27FC236}">
                <a16:creationId xmlns:a16="http://schemas.microsoft.com/office/drawing/2014/main" id="{CEEE53E5-8A86-B45B-F096-50FDEF3447BC}"/>
              </a:ext>
            </a:extLst>
          </p:cNvPr>
          <p:cNvSpPr/>
          <p:nvPr/>
        </p:nvSpPr>
        <p:spPr>
          <a:xfrm>
            <a:off x="864598" y="3887490"/>
            <a:ext cx="4408441" cy="249807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dirty="0">
                <a:solidFill>
                  <a:schemeClr val="dk1"/>
                </a:solidFill>
                <a:latin typeface="Consolas" panose="020B0609020204030204" pitchFamily="49" charset="0"/>
                <a:cs typeface="Consolas" panose="020B0609020204030204" pitchFamily="49" charset="0"/>
              </a:rPr>
              <a:t>[</a:t>
            </a:r>
            <a:r>
              <a:rPr lang="mr-IN" sz="1600" dirty="0">
                <a:solidFill>
                  <a:schemeClr val="dk1"/>
                </a:solidFill>
                <a:latin typeface="Consolas" panose="020B0609020204030204" pitchFamily="49" charset="0"/>
              </a:rPr>
              <a:t>…</a:t>
            </a:r>
            <a:r>
              <a:rPr lang="fr-FR" sz="1600" dirty="0">
                <a:solidFill>
                  <a:schemeClr val="dk1"/>
                </a:solidFill>
                <a:latin typeface="Consolas" panose="020B0609020204030204" pitchFamily="49" charset="0"/>
                <a:cs typeface="Consolas" panose="020B0609020204030204" pitchFamily="49" charset="0"/>
              </a:rPr>
              <a:t>]</a:t>
            </a:r>
          </a:p>
          <a:p>
            <a:r>
              <a:rPr lang="fr-FR" sz="1600" dirty="0">
                <a:solidFill>
                  <a:schemeClr val="dk1"/>
                </a:solidFill>
                <a:latin typeface="Consolas" panose="020B0609020204030204" pitchFamily="49" charset="0"/>
                <a:cs typeface="Consolas" panose="020B0609020204030204" pitchFamily="49" charset="0"/>
              </a:rPr>
              <a:t>&lt;</a:t>
            </a:r>
            <a:r>
              <a:rPr lang="fr-FR" sz="1600" dirty="0" err="1">
                <a:solidFill>
                  <a:schemeClr val="dk1"/>
                </a:solidFill>
                <a:latin typeface="Consolas" panose="020B0609020204030204" pitchFamily="49" charset="0"/>
                <a:cs typeface="Consolas" panose="020B0609020204030204" pitchFamily="49" charset="0"/>
              </a:rPr>
              <a:t>form</a:t>
            </a:r>
            <a:r>
              <a:rPr lang="fr-FR" sz="1600" dirty="0">
                <a:solidFill>
                  <a:schemeClr val="dk1"/>
                </a:solidFill>
                <a:latin typeface="Consolas" panose="020B0609020204030204" pitchFamily="49" charset="0"/>
                <a:cs typeface="Consolas" panose="020B0609020204030204" pitchFamily="49" charset="0"/>
              </a:rPr>
              <a:t> </a:t>
            </a:r>
            <a:r>
              <a:rPr lang="fr-FR" sz="1600" dirty="0" err="1">
                <a:solidFill>
                  <a:schemeClr val="dk1"/>
                </a:solidFill>
                <a:latin typeface="Consolas" panose="020B0609020204030204" pitchFamily="49" charset="0"/>
                <a:cs typeface="Consolas" panose="020B0609020204030204" pitchFamily="49" charset="0"/>
              </a:rPr>
              <a:t>method</a:t>
            </a:r>
            <a:r>
              <a:rPr lang="fr-FR" sz="1600" dirty="0">
                <a:solidFill>
                  <a:schemeClr val="dk1"/>
                </a:solidFill>
                <a:latin typeface="Consolas" panose="020B0609020204030204" pitchFamily="49" charset="0"/>
                <a:cs typeface="Consolas" panose="020B0609020204030204" pitchFamily="49" charset="0"/>
              </a:rPr>
              <a:t>=’</a:t>
            </a:r>
            <a:r>
              <a:rPr lang="fr-FR" sz="1600" dirty="0" err="1">
                <a:solidFill>
                  <a:schemeClr val="dk1"/>
                </a:solidFill>
                <a:latin typeface="Consolas" panose="020B0609020204030204" pitchFamily="49" charset="0"/>
                <a:cs typeface="Consolas" panose="020B0609020204030204" pitchFamily="49" charset="0"/>
              </a:rPr>
              <a:t>get</a:t>
            </a:r>
            <a:r>
              <a:rPr lang="fr-FR" sz="1600" dirty="0">
                <a:solidFill>
                  <a:schemeClr val="dk1"/>
                </a:solidFill>
                <a:latin typeface="Consolas" panose="020B0609020204030204" pitchFamily="49" charset="0"/>
                <a:cs typeface="Consolas" panose="020B0609020204030204" pitchFamily="49" charset="0"/>
              </a:rPr>
              <a:t>’&gt;</a:t>
            </a:r>
          </a:p>
          <a:p>
            <a:r>
              <a:rPr lang="fr-FR" sz="1600" dirty="0">
                <a:solidFill>
                  <a:schemeClr val="dk1"/>
                </a:solidFill>
                <a:latin typeface="Consolas" panose="020B0609020204030204" pitchFamily="49" charset="0"/>
                <a:cs typeface="Consolas" panose="020B0609020204030204" pitchFamily="49" charset="0"/>
              </a:rPr>
              <a:t>	&lt;input </a:t>
            </a:r>
            <a:r>
              <a:rPr lang="fr-FR" sz="1600" dirty="0" err="1">
                <a:solidFill>
                  <a:schemeClr val="dk1"/>
                </a:solidFill>
                <a:latin typeface="Consolas" panose="020B0609020204030204" pitchFamily="49" charset="0"/>
                <a:cs typeface="Consolas" panose="020B0609020204030204" pitchFamily="49" charset="0"/>
              </a:rPr>
              <a:t>name</a:t>
            </a:r>
            <a:r>
              <a:rPr lang="fr-FR" sz="1600" dirty="0">
                <a:solidFill>
                  <a:schemeClr val="dk1"/>
                </a:solidFill>
                <a:latin typeface="Consolas" panose="020B0609020204030204" pitchFamily="49" charset="0"/>
                <a:cs typeface="Consolas" panose="020B0609020204030204" pitchFamily="49" charset="0"/>
              </a:rPr>
              <a:t>=‘</a:t>
            </a:r>
            <a:r>
              <a:rPr lang="fr-FR" sz="1600" dirty="0" err="1">
                <a:solidFill>
                  <a:schemeClr val="dk1"/>
                </a:solidFill>
                <a:latin typeface="Consolas" panose="020B0609020204030204" pitchFamily="49" charset="0"/>
                <a:cs typeface="Consolas" panose="020B0609020204030204" pitchFamily="49" charset="0"/>
              </a:rPr>
              <a:t>foo</a:t>
            </a:r>
            <a:r>
              <a:rPr lang="fr-FR" sz="1600" dirty="0">
                <a:solidFill>
                  <a:schemeClr val="dk1"/>
                </a:solidFill>
                <a:latin typeface="Consolas" panose="020B0609020204030204" pitchFamily="49" charset="0"/>
                <a:cs typeface="Consolas" panose="020B0609020204030204" pitchFamily="49" charset="0"/>
              </a:rPr>
              <a:t>’ /&gt;</a:t>
            </a:r>
          </a:p>
          <a:p>
            <a:r>
              <a:rPr lang="fr-FR" sz="1600" dirty="0">
                <a:solidFill>
                  <a:schemeClr val="dk1"/>
                </a:solidFill>
                <a:latin typeface="Consolas" panose="020B0609020204030204" pitchFamily="49" charset="0"/>
                <a:cs typeface="Consolas" panose="020B0609020204030204" pitchFamily="49" charset="0"/>
              </a:rPr>
              <a:t>	[</a:t>
            </a:r>
            <a:r>
              <a:rPr lang="mr-IN" sz="1600" dirty="0">
                <a:solidFill>
                  <a:schemeClr val="dk1"/>
                </a:solidFill>
                <a:latin typeface="Consolas" panose="020B0609020204030204" pitchFamily="49" charset="0"/>
              </a:rPr>
              <a:t>…</a:t>
            </a:r>
            <a:r>
              <a:rPr lang="fr-FR" sz="1600" dirty="0">
                <a:solidFill>
                  <a:schemeClr val="dk1"/>
                </a:solidFill>
                <a:latin typeface="Consolas" panose="020B0609020204030204" pitchFamily="49" charset="0"/>
                <a:cs typeface="Consolas" panose="020B0609020204030204" pitchFamily="49" charset="0"/>
              </a:rPr>
              <a:t>]</a:t>
            </a:r>
          </a:p>
          <a:p>
            <a:r>
              <a:rPr lang="fr-FR" sz="1600" dirty="0">
                <a:solidFill>
                  <a:schemeClr val="dk1"/>
                </a:solidFill>
                <a:latin typeface="Consolas" panose="020B0609020204030204" pitchFamily="49" charset="0"/>
                <a:cs typeface="Consolas" panose="020B0609020204030204" pitchFamily="49" charset="0"/>
              </a:rPr>
              <a:t>&lt;/</a:t>
            </a:r>
            <a:r>
              <a:rPr lang="fr-FR" sz="1600" dirty="0" err="1">
                <a:solidFill>
                  <a:schemeClr val="dk1"/>
                </a:solidFill>
                <a:latin typeface="Consolas" panose="020B0609020204030204" pitchFamily="49" charset="0"/>
                <a:cs typeface="Consolas" panose="020B0609020204030204" pitchFamily="49" charset="0"/>
              </a:rPr>
              <a:t>form</a:t>
            </a:r>
            <a:r>
              <a:rPr lang="fr-FR" sz="1600" dirty="0">
                <a:solidFill>
                  <a:schemeClr val="dk1"/>
                </a:solidFill>
                <a:latin typeface="Consolas" panose="020B0609020204030204" pitchFamily="49" charset="0"/>
                <a:cs typeface="Consolas" panose="020B0609020204030204" pitchFamily="49" charset="0"/>
              </a:rPr>
              <a:t>&gt;</a:t>
            </a:r>
          </a:p>
          <a:p>
            <a:r>
              <a:rPr lang="fr-FR" sz="1600" dirty="0">
                <a:solidFill>
                  <a:schemeClr val="dk1"/>
                </a:solidFill>
                <a:latin typeface="Consolas" panose="020B0609020204030204" pitchFamily="49" charset="0"/>
                <a:cs typeface="Consolas" panose="020B0609020204030204" pitchFamily="49" charset="0"/>
              </a:rPr>
              <a:t>[</a:t>
            </a:r>
            <a:r>
              <a:rPr lang="mr-IN" sz="1600" dirty="0">
                <a:solidFill>
                  <a:schemeClr val="dk1"/>
                </a:solidFill>
                <a:latin typeface="Consolas" panose="020B0609020204030204" pitchFamily="49" charset="0"/>
              </a:rPr>
              <a:t>…</a:t>
            </a:r>
            <a:r>
              <a:rPr lang="fr-FR" sz="1600" dirty="0">
                <a:solidFill>
                  <a:schemeClr val="dk1"/>
                </a:solidFill>
                <a:latin typeface="Consolas" panose="020B0609020204030204" pitchFamily="49" charset="0"/>
                <a:cs typeface="Consolas" panose="020B0609020204030204" pitchFamily="49" charset="0"/>
              </a:rPr>
              <a:t>]</a:t>
            </a:r>
          </a:p>
          <a:p>
            <a:endParaRPr lang="fr-FR" sz="1600" b="1" dirty="0">
              <a:solidFill>
                <a:schemeClr val="dk1"/>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425CCE61-DFAD-B572-61BA-DF1DB1B7CEF1}"/>
              </a:ext>
            </a:extLst>
          </p:cNvPr>
          <p:cNvSpPr/>
          <p:nvPr/>
        </p:nvSpPr>
        <p:spPr>
          <a:xfrm>
            <a:off x="6274797" y="3887490"/>
            <a:ext cx="4408441" cy="249807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endParaRPr lang="fr-FR" sz="1600" dirty="0">
              <a:solidFill>
                <a:schemeClr val="dk1"/>
              </a:solidFill>
              <a:latin typeface="Consolas" panose="020B0609020204030204" pitchFamily="49" charset="0"/>
              <a:cs typeface="Consolas" panose="020B0609020204030204" pitchFamily="49" charset="0"/>
            </a:endParaRPr>
          </a:p>
          <a:p>
            <a:r>
              <a:rPr lang="fr-FR" sz="1600" b="1" dirty="0">
                <a:solidFill>
                  <a:schemeClr val="dk1"/>
                </a:solidFill>
                <a:latin typeface="Consolas" panose="020B0609020204030204" pitchFamily="49" charset="0"/>
                <a:cs typeface="Consolas" panose="020B0609020204030204" pitchFamily="49" charset="0"/>
              </a:rPr>
              <a:t>$_GET</a:t>
            </a:r>
            <a:r>
              <a:rPr lang="fr-FR" sz="1600" dirty="0">
                <a:solidFill>
                  <a:schemeClr val="dk1"/>
                </a:solidFill>
                <a:latin typeface="Consolas" panose="020B0609020204030204" pitchFamily="49" charset="0"/>
                <a:cs typeface="Consolas" panose="020B0609020204030204" pitchFamily="49" charset="0"/>
              </a:rPr>
              <a:t>[‘</a:t>
            </a:r>
            <a:r>
              <a:rPr lang="fr-FR" sz="1600" dirty="0" err="1">
                <a:solidFill>
                  <a:schemeClr val="dk1"/>
                </a:solidFill>
                <a:latin typeface="Consolas" panose="020B0609020204030204" pitchFamily="49" charset="0"/>
                <a:cs typeface="Consolas" panose="020B0609020204030204" pitchFamily="49" charset="0"/>
              </a:rPr>
              <a:t>foo</a:t>
            </a:r>
            <a:r>
              <a:rPr lang="fr-FR" sz="1600" dirty="0">
                <a:solidFill>
                  <a:schemeClr val="dk1"/>
                </a:solidFill>
                <a:latin typeface="Consolas" panose="020B0609020204030204" pitchFamily="49" charset="0"/>
                <a:cs typeface="Consolas" panose="020B0609020204030204" pitchFamily="49" charset="0"/>
              </a:rPr>
              <a:t>’]; //permet d’accéder à la valeur saisie par l’utilisateur et soumise dans le formulaire</a:t>
            </a:r>
          </a:p>
          <a:p>
            <a:endParaRPr lang="fr-FR" sz="1600" dirty="0">
              <a:solidFill>
                <a:schemeClr val="dk1"/>
              </a:solidFill>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$_REQUEST</a:t>
            </a:r>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 // Idem</a:t>
            </a:r>
            <a:endParaRPr lang="fr-FR" sz="1600" dirty="0">
              <a:solidFill>
                <a:schemeClr val="dk1"/>
              </a:solidFill>
              <a:latin typeface="Consolas" panose="020B0609020204030204" pitchFamily="49" charset="0"/>
              <a:cs typeface="Consolas" panose="020B0609020204030204" pitchFamily="49" charset="0"/>
            </a:endParaRPr>
          </a:p>
        </p:txBody>
      </p:sp>
      <p:sp>
        <p:nvSpPr>
          <p:cNvPr id="12" name="Flèche vers la droite 6">
            <a:extLst>
              <a:ext uri="{FF2B5EF4-FFF2-40B4-BE49-F238E27FC236}">
                <a16:creationId xmlns:a16="http://schemas.microsoft.com/office/drawing/2014/main" id="{886A47E7-8D76-5095-698B-B0FF5644BFAE}"/>
              </a:ext>
            </a:extLst>
          </p:cNvPr>
          <p:cNvSpPr/>
          <p:nvPr/>
        </p:nvSpPr>
        <p:spPr>
          <a:xfrm>
            <a:off x="5408158" y="4641225"/>
            <a:ext cx="73152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370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2F1DC0C-E544-324F-8EAE-57EDFC1A5E6D}"/>
              </a:ext>
            </a:extLst>
          </p:cNvPr>
          <p:cNvSpPr>
            <a:spLocks noGrp="1"/>
          </p:cNvSpPr>
          <p:nvPr>
            <p:ph type="title"/>
          </p:nvPr>
        </p:nvSpPr>
        <p:spPr/>
        <p:txBody>
          <a:bodyPr/>
          <a:lstStyle/>
          <a:p>
            <a:r>
              <a:rPr lang="fr-FR" dirty="0"/>
              <a:t>Erreurs fréquentes</a:t>
            </a:r>
          </a:p>
        </p:txBody>
      </p:sp>
      <p:sp>
        <p:nvSpPr>
          <p:cNvPr id="5" name="Espace réservé du contenu 4">
            <a:extLst>
              <a:ext uri="{FF2B5EF4-FFF2-40B4-BE49-F238E27FC236}">
                <a16:creationId xmlns:a16="http://schemas.microsoft.com/office/drawing/2014/main" id="{13686DAF-3B33-F34B-AA5F-2D345BA7C671}"/>
              </a:ext>
            </a:extLst>
          </p:cNvPr>
          <p:cNvSpPr>
            <a:spLocks noGrp="1"/>
          </p:cNvSpPr>
          <p:nvPr>
            <p:ph idx="1"/>
          </p:nvPr>
        </p:nvSpPr>
        <p:spPr/>
        <p:txBody>
          <a:bodyPr/>
          <a:lstStyle/>
          <a:p>
            <a:r>
              <a:rPr lang="fr-FR" dirty="0"/>
              <a:t>Les erreurs ne s’affichent pas dans PHP (ça ne marche pas mais pas d’erreur, erreur 500)</a:t>
            </a:r>
          </a:p>
          <a:p>
            <a:pPr lvl="1"/>
            <a:r>
              <a:rPr lang="fr-FR" dirty="0"/>
              <a:t>Localiser son fichier </a:t>
            </a:r>
            <a:r>
              <a:rPr lang="fr-FR" dirty="0" err="1"/>
              <a:t>php.ini</a:t>
            </a:r>
            <a:r>
              <a:rPr lang="fr-FR" dirty="0"/>
              <a:t>. Pour cela créé une page </a:t>
            </a:r>
            <a:r>
              <a:rPr lang="fr-FR" dirty="0" err="1"/>
              <a:t>php.info</a:t>
            </a:r>
            <a:r>
              <a:rPr lang="fr-FR" dirty="0"/>
              <a:t> et y copier le code suivant : </a:t>
            </a:r>
          </a:p>
          <a:p>
            <a:pPr marL="914400" lvl="2" indent="0">
              <a:buNone/>
            </a:pPr>
            <a:r>
              <a:rPr lang="fr-FR" dirty="0"/>
              <a:t>&lt;?</a:t>
            </a:r>
            <a:r>
              <a:rPr lang="fr-FR" dirty="0" err="1"/>
              <a:t>php</a:t>
            </a:r>
            <a:r>
              <a:rPr lang="fr-FR" dirty="0"/>
              <a:t> </a:t>
            </a:r>
            <a:r>
              <a:rPr lang="fr-FR" dirty="0" err="1"/>
              <a:t>phpinfo</a:t>
            </a:r>
            <a:r>
              <a:rPr lang="fr-FR" dirty="0"/>
              <a:t>()</a:t>
            </a:r>
          </a:p>
          <a:p>
            <a:pPr lvl="1"/>
            <a:r>
              <a:rPr lang="fr-FR" dirty="0"/>
              <a:t>Ouvrir le fichier </a:t>
            </a:r>
            <a:r>
              <a:rPr lang="fr-FR" dirty="0" err="1"/>
              <a:t>php.ini</a:t>
            </a:r>
            <a:r>
              <a:rPr lang="fr-FR" dirty="0"/>
              <a:t> et passer </a:t>
            </a:r>
            <a:r>
              <a:rPr lang="fr-FR" dirty="0" err="1"/>
              <a:t>display_errors</a:t>
            </a:r>
            <a:r>
              <a:rPr lang="fr-FR" dirty="0"/>
              <a:t> à On (au lieu de Off)</a:t>
            </a:r>
          </a:p>
          <a:p>
            <a:pPr lvl="1"/>
            <a:endParaRPr lang="fr-FR" dirty="0"/>
          </a:p>
          <a:p>
            <a:r>
              <a:rPr lang="fr-FR" dirty="0"/>
              <a:t>Pb SQL mode=</a:t>
            </a:r>
            <a:r>
              <a:rPr lang="fr-FR" dirty="0" err="1"/>
              <a:t>only</a:t>
            </a:r>
            <a:r>
              <a:rPr lang="fr-FR" dirty="0"/>
              <a:t> full group by</a:t>
            </a:r>
          </a:p>
          <a:p>
            <a:pPr lvl="1"/>
            <a:r>
              <a:rPr lang="fr-FR" dirty="0"/>
              <a:t>SET GLOBAL </a:t>
            </a:r>
            <a:r>
              <a:rPr lang="fr-FR" dirty="0" err="1"/>
              <a:t>sql_mode</a:t>
            </a:r>
            <a:r>
              <a:rPr lang="fr-FR" dirty="0"/>
              <a:t>=(SELECT REPLACE(@@</a:t>
            </a:r>
            <a:r>
              <a:rPr lang="fr-FR" dirty="0" err="1"/>
              <a:t>sql_mode,'ONLY_FULL_GROUP_BY</a:t>
            </a:r>
            <a:r>
              <a:rPr lang="fr-FR" dirty="0"/>
              <a:t>',''));</a:t>
            </a:r>
          </a:p>
        </p:txBody>
      </p:sp>
      <p:sp>
        <p:nvSpPr>
          <p:cNvPr id="2" name="Espace réservé du pied de page 1">
            <a:extLst>
              <a:ext uri="{FF2B5EF4-FFF2-40B4-BE49-F238E27FC236}">
                <a16:creationId xmlns:a16="http://schemas.microsoft.com/office/drawing/2014/main" id="{199C8D7A-1D08-ACD1-508F-5ACDD2CA3C86}"/>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3" name="Espace réservé du numéro de diapositive 2">
            <a:extLst>
              <a:ext uri="{FF2B5EF4-FFF2-40B4-BE49-F238E27FC236}">
                <a16:creationId xmlns:a16="http://schemas.microsoft.com/office/drawing/2014/main" id="{35046E68-B0FF-C748-5B08-BAE998B5DD41}"/>
              </a:ext>
            </a:extLst>
          </p:cNvPr>
          <p:cNvSpPr>
            <a:spLocks noGrp="1"/>
          </p:cNvSpPr>
          <p:nvPr>
            <p:ph type="sldNum" sz="quarter" idx="12"/>
          </p:nvPr>
        </p:nvSpPr>
        <p:spPr/>
        <p:txBody>
          <a:bodyPr/>
          <a:lstStyle/>
          <a:p>
            <a:pPr rtl="0"/>
            <a:fld id="{3A98EE3D-8CD1-4C3F-BD1C-C98C9596463C}" type="slidenum">
              <a:rPr lang="fr-FR" noProof="0" smtClean="0"/>
              <a:t>10</a:t>
            </a:fld>
            <a:endParaRPr lang="fr-FR" noProof="0"/>
          </a:p>
        </p:txBody>
      </p:sp>
    </p:spTree>
    <p:extLst>
      <p:ext uri="{BB962C8B-B14F-4D97-AF65-F5344CB8AC3E}">
        <p14:creationId xmlns:p14="http://schemas.microsoft.com/office/powerpoint/2010/main" val="394968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classes</a:t>
            </a:r>
          </a:p>
        </p:txBody>
      </p:sp>
      <p:sp>
        <p:nvSpPr>
          <p:cNvPr id="3" name="Espace réservé du contenu 2"/>
          <p:cNvSpPr>
            <a:spLocks noGrp="1"/>
          </p:cNvSpPr>
          <p:nvPr>
            <p:ph idx="1"/>
          </p:nvPr>
        </p:nvSpPr>
        <p:spPr/>
        <p:txBody>
          <a:bodyPr>
            <a:normAutofit/>
          </a:bodyPr>
          <a:lstStyle/>
          <a:p>
            <a:endParaRPr lang="fr-FR" sz="2800" dirty="0"/>
          </a:p>
        </p:txBody>
      </p:sp>
      <p:sp>
        <p:nvSpPr>
          <p:cNvPr id="5" name="Rectangle 4"/>
          <p:cNvSpPr/>
          <p:nvPr/>
        </p:nvSpPr>
        <p:spPr>
          <a:xfrm>
            <a:off x="822959" y="2575561"/>
            <a:ext cx="4953001"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 Déclaration de classe</a:t>
            </a:r>
          </a:p>
          <a:p>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&lt;?</a:t>
            </a:r>
            <a:r>
              <a:rPr lang="fr-FR" sz="1600" b="1" dirty="0" err="1">
                <a:latin typeface="Consolas" panose="020B0609020204030204" pitchFamily="49" charset="0"/>
                <a:cs typeface="Consolas" panose="020B0609020204030204" pitchFamily="49" charset="0"/>
              </a:rPr>
              <a:t>php</a:t>
            </a:r>
            <a:endParaRPr lang="fr-FR" sz="1600" b="1"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class</a:t>
            </a:r>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    public </a:t>
            </a:r>
            <a:r>
              <a:rPr lang="fr-FR" sz="1600" b="1" dirty="0" err="1">
                <a:latin typeface="Consolas" panose="020B0609020204030204" pitchFamily="49" charset="0"/>
                <a:cs typeface="Consolas" panose="020B0609020204030204" pitchFamily="49" charset="0"/>
              </a:rPr>
              <a:t>static</a:t>
            </a:r>
            <a:r>
              <a:rPr lang="fr-FR" sz="1600" dirty="0">
                <a:latin typeface="Consolas" panose="020B0609020204030204" pitchFamily="49" charset="0"/>
                <a:cs typeface="Consolas" panose="020B0609020204030204" pitchFamily="49" charset="0"/>
              </a:rPr>
              <a:t> $var;</a:t>
            </a:r>
          </a:p>
          <a:p>
            <a:r>
              <a:rPr lang="fr-FR" sz="1600" dirty="0">
                <a:latin typeface="Consolas" panose="020B0609020204030204" pitchFamily="49" charset="0"/>
                <a:cs typeface="Consolas" panose="020B0609020204030204" pitchFamily="49" charset="0"/>
              </a:rPr>
              <a:t>    </a:t>
            </a:r>
            <a:r>
              <a:rPr lang="fr-FR" sz="1600" b="1" dirty="0">
                <a:latin typeface="Consolas" panose="020B0609020204030204" pitchFamily="49" charset="0"/>
                <a:cs typeface="Consolas" panose="020B0609020204030204" pitchFamily="49" charset="0"/>
              </a:rPr>
              <a:t>public</a:t>
            </a:r>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static</a:t>
            </a:r>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function</a:t>
            </a:r>
            <a:r>
              <a:rPr lang="fr-FR" sz="1600" dirty="0">
                <a:latin typeface="Consolas" panose="020B0609020204030204" pitchFamily="49" charset="0"/>
                <a:cs typeface="Consolas" panose="020B0609020204030204" pitchFamily="49" charset="0"/>
              </a:rPr>
              <a:t> toto(){</a:t>
            </a:r>
          </a:p>
          <a:p>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    }</a:t>
            </a:r>
          </a:p>
          <a:p>
            <a:endParaRPr lang="fr-FR" sz="1600" dirty="0">
              <a:latin typeface="Consolas" panose="020B0609020204030204" pitchFamily="49" charset="0"/>
              <a:cs typeface="Consolas" panose="020B0609020204030204" pitchFamily="49" charset="0"/>
            </a:endParaRPr>
          </a:p>
          <a:p>
            <a:pPr lvl="1"/>
            <a:r>
              <a:rPr lang="fr-FR" sz="1600" b="1" dirty="0">
                <a:latin typeface="Consolas" panose="020B0609020204030204" pitchFamily="49" charset="0"/>
                <a:cs typeface="Consolas" panose="020B0609020204030204" pitchFamily="49" charset="0"/>
              </a:rPr>
              <a:t>public</a:t>
            </a:r>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function</a:t>
            </a:r>
            <a:r>
              <a:rPr lang="fr-FR" sz="1600" dirty="0">
                <a:latin typeface="Consolas" panose="020B0609020204030204" pitchFamily="49" charset="0"/>
                <a:cs typeface="Consolas" panose="020B0609020204030204" pitchFamily="49" charset="0"/>
              </a:rPr>
              <a:t> bar($</a:t>
            </a:r>
            <a:r>
              <a:rPr lang="fr-FR" sz="1600" dirty="0" err="1">
                <a:latin typeface="Consolas" panose="020B0609020204030204" pitchFamily="49" charset="0"/>
                <a:cs typeface="Consolas" panose="020B0609020204030204" pitchFamily="49" charset="0"/>
              </a:rPr>
              <a:t>param</a:t>
            </a:r>
            <a:r>
              <a:rPr lang="fr-FR" sz="1600" dirty="0">
                <a:latin typeface="Consolas" panose="020B0609020204030204" pitchFamily="49" charset="0"/>
                <a:cs typeface="Consolas" panose="020B0609020204030204" pitchFamily="49" charset="0"/>
              </a:rPr>
              <a:t>){</a:t>
            </a:r>
          </a:p>
          <a:p>
            <a:pPr lvl="1"/>
            <a:r>
              <a:rPr lang="fr-FR" sz="1600" dirty="0">
                <a:latin typeface="Consolas" panose="020B0609020204030204" pitchFamily="49" charset="0"/>
                <a:cs typeface="Consolas" panose="020B0609020204030204" pitchFamily="49" charset="0"/>
              </a:rPr>
              <a:t>	[</a:t>
            </a:r>
            <a:r>
              <a:rPr lang="mr-IN" sz="1600" dirty="0">
                <a:latin typeface="Consolas" panose="020B0609020204030204" pitchFamily="49" charset="0"/>
              </a:rPr>
              <a:t>…</a:t>
            </a:r>
            <a:r>
              <a:rPr lang="fr-FR" sz="1600" dirty="0">
                <a:latin typeface="Consolas" panose="020B0609020204030204" pitchFamily="49" charset="0"/>
                <a:cs typeface="Consolas" panose="020B0609020204030204" pitchFamily="49" charset="0"/>
              </a:rPr>
              <a:t>]</a:t>
            </a:r>
          </a:p>
          <a:p>
            <a:pPr lvl="1"/>
            <a:r>
              <a:rPr lang="fr-FR" sz="1600" dirty="0">
                <a:latin typeface="Consolas" panose="020B0609020204030204" pitchFamily="49" charset="0"/>
                <a:cs typeface="Consolas" panose="020B0609020204030204" pitchFamily="49" charset="0"/>
              </a:rPr>
              <a:t>}</a:t>
            </a:r>
          </a:p>
          <a:p>
            <a:pPr lvl="1"/>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a:t>
            </a:r>
          </a:p>
        </p:txBody>
      </p:sp>
      <p:sp>
        <p:nvSpPr>
          <p:cNvPr id="7" name="Rectangle 6"/>
          <p:cNvSpPr/>
          <p:nvPr/>
        </p:nvSpPr>
        <p:spPr>
          <a:xfrm>
            <a:off x="6416040" y="2575560"/>
            <a:ext cx="5273040"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//Utilisation d’une classe</a:t>
            </a:r>
          </a:p>
          <a:p>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&lt;?</a:t>
            </a:r>
            <a:r>
              <a:rPr lang="fr-FR" sz="1600" b="1" dirty="0" err="1">
                <a:latin typeface="Consolas" panose="020B0609020204030204" pitchFamily="49" charset="0"/>
                <a:cs typeface="Consolas" panose="020B0609020204030204" pitchFamily="49" charset="0"/>
              </a:rPr>
              <a:t>php</a:t>
            </a:r>
            <a:endParaRPr lang="fr-FR" sz="1600" b="1"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a:p>
            <a:r>
              <a:rPr lang="fr-FR" sz="1600" b="1" dirty="0" err="1">
                <a:latin typeface="Consolas" panose="020B0609020204030204" pitchFamily="49" charset="0"/>
                <a:cs typeface="Consolas" panose="020B0609020204030204" pitchFamily="49" charset="0"/>
              </a:rPr>
              <a:t>require</a:t>
            </a:r>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foo.php</a:t>
            </a:r>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a:t>
            </a:r>
            <a:r>
              <a:rPr lang="mr-IN" sz="1600" dirty="0">
                <a:latin typeface="Consolas" panose="020B0609020204030204" pitchFamily="49" charset="0"/>
              </a:rPr>
              <a:t>…</a:t>
            </a:r>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::toto(); // appel à une méthode </a:t>
            </a:r>
            <a:r>
              <a:rPr lang="fr-FR" sz="1600" dirty="0" err="1">
                <a:latin typeface="Consolas" panose="020B0609020204030204" pitchFamily="49" charset="0"/>
                <a:cs typeface="Consolas" panose="020B0609020204030204" pitchFamily="49" charset="0"/>
              </a:rPr>
              <a:t>static</a:t>
            </a:r>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::$var; // </a:t>
            </a:r>
            <a:r>
              <a:rPr lang="fr-FR" sz="1600" dirty="0" err="1">
                <a:latin typeface="Consolas" panose="020B0609020204030204" pitchFamily="49" charset="0"/>
                <a:cs typeface="Consolas" panose="020B0609020204030204" pitchFamily="49" charset="0"/>
              </a:rPr>
              <a:t>access</a:t>
            </a:r>
            <a:r>
              <a:rPr lang="fr-FR" sz="1600" dirty="0">
                <a:latin typeface="Consolas" panose="020B0609020204030204" pitchFamily="49" charset="0"/>
                <a:cs typeface="Consolas" panose="020B0609020204030204" pitchFamily="49" charset="0"/>
              </a:rPr>
              <a:t> à la variable var</a:t>
            </a:r>
          </a:p>
          <a:p>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bli</a:t>
            </a:r>
            <a:r>
              <a:rPr lang="fr-FR" sz="1600" dirty="0">
                <a:latin typeface="Consolas" panose="020B0609020204030204" pitchFamily="49" charset="0"/>
                <a:cs typeface="Consolas" panose="020B0609020204030204" pitchFamily="49" charset="0"/>
              </a:rPr>
              <a:t> = </a:t>
            </a:r>
            <a:r>
              <a:rPr lang="fr-FR" sz="1600" b="1" dirty="0">
                <a:latin typeface="Consolas" panose="020B0609020204030204" pitchFamily="49" charset="0"/>
                <a:cs typeface="Consolas" panose="020B0609020204030204" pitchFamily="49" charset="0"/>
              </a:rPr>
              <a:t>new</a:t>
            </a:r>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Foo</a:t>
            </a:r>
            <a:r>
              <a:rPr lang="fr-FR" sz="1600" dirty="0">
                <a:latin typeface="Consolas" panose="020B0609020204030204" pitchFamily="49" charset="0"/>
                <a:cs typeface="Consolas" panose="020B0609020204030204" pitchFamily="49" charset="0"/>
              </a:rPr>
              <a:t>();</a:t>
            </a:r>
          </a:p>
          <a:p>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bli</a:t>
            </a:r>
            <a:r>
              <a:rPr lang="fr-FR" sz="1600" dirty="0">
                <a:latin typeface="Consolas" panose="020B0609020204030204" pitchFamily="49" charset="0"/>
                <a:cs typeface="Consolas" panose="020B0609020204030204" pitchFamily="49" charset="0"/>
              </a:rPr>
              <a:t>-&gt;bar(12); // appel à une méthode</a:t>
            </a:r>
          </a:p>
          <a:p>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a:t>
            </a:r>
            <a:r>
              <a:rPr lang="mr-IN" sz="1600" dirty="0">
                <a:latin typeface="Consolas" panose="020B0609020204030204" pitchFamily="49" charset="0"/>
              </a:rPr>
              <a:t>…</a:t>
            </a:r>
            <a:r>
              <a:rPr lang="fr-FR" sz="1600" dirty="0">
                <a:latin typeface="Consolas" panose="020B0609020204030204" pitchFamily="49" charset="0"/>
                <a:cs typeface="Consolas" panose="020B0609020204030204" pitchFamily="49" charset="0"/>
              </a:rPr>
              <a:t>]</a:t>
            </a:r>
          </a:p>
          <a:p>
            <a:endParaRPr lang="fr-FR" sz="1600" dirty="0">
              <a:latin typeface="Consolas" panose="020B0609020204030204" pitchFamily="49" charset="0"/>
              <a:cs typeface="Consolas" panose="020B0609020204030204" pitchFamily="49" charset="0"/>
            </a:endParaRPr>
          </a:p>
        </p:txBody>
      </p:sp>
      <p:sp>
        <p:nvSpPr>
          <p:cNvPr id="4" name="Espace réservé du pied de page 1">
            <a:extLst>
              <a:ext uri="{FF2B5EF4-FFF2-40B4-BE49-F238E27FC236}">
                <a16:creationId xmlns:a16="http://schemas.microsoft.com/office/drawing/2014/main" id="{F5367E22-7186-9B8F-761F-DBED432A79EC}"/>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6" name="Espace réservé du numéro de diapositive 5">
            <a:extLst>
              <a:ext uri="{FF2B5EF4-FFF2-40B4-BE49-F238E27FC236}">
                <a16:creationId xmlns:a16="http://schemas.microsoft.com/office/drawing/2014/main" id="{52FC973D-F91B-30D9-1D64-EF6B7C013E62}"/>
              </a:ext>
            </a:extLst>
          </p:cNvPr>
          <p:cNvSpPr>
            <a:spLocks noGrp="1"/>
          </p:cNvSpPr>
          <p:nvPr>
            <p:ph type="sldNum" sz="quarter" idx="12"/>
          </p:nvPr>
        </p:nvSpPr>
        <p:spPr/>
        <p:txBody>
          <a:bodyPr/>
          <a:lstStyle/>
          <a:p>
            <a:pPr rtl="0"/>
            <a:fld id="{3A98EE3D-8CD1-4C3F-BD1C-C98C9596463C}" type="slidenum">
              <a:rPr lang="fr-FR" noProof="0" smtClean="0"/>
              <a:t>11</a:t>
            </a:fld>
            <a:endParaRPr lang="fr-FR" noProof="0"/>
          </a:p>
        </p:txBody>
      </p:sp>
    </p:spTree>
    <p:extLst>
      <p:ext uri="{BB962C8B-B14F-4D97-AF65-F5344CB8AC3E}">
        <p14:creationId xmlns:p14="http://schemas.microsoft.com/office/powerpoint/2010/main" val="958875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exceptions</a:t>
            </a:r>
          </a:p>
        </p:txBody>
      </p:sp>
      <p:sp>
        <p:nvSpPr>
          <p:cNvPr id="3" name="Espace réservé du contenu 2"/>
          <p:cNvSpPr>
            <a:spLocks noGrp="1"/>
          </p:cNvSpPr>
          <p:nvPr>
            <p:ph idx="1"/>
          </p:nvPr>
        </p:nvSpPr>
        <p:spPr>
          <a:xfrm>
            <a:off x="885990" y="445034"/>
            <a:ext cx="11029615" cy="3678303"/>
          </a:xfrm>
        </p:spPr>
        <p:txBody>
          <a:bodyPr/>
          <a:lstStyle/>
          <a:p>
            <a:r>
              <a:rPr lang="fr-FR" dirty="0"/>
              <a:t>Permet de gérer proprement les erreurs en lançant / rattrapant des exceptions (similaire à JAVA ou C#)</a:t>
            </a:r>
          </a:p>
          <a:p>
            <a:endParaRPr lang="fr-FR" dirty="0"/>
          </a:p>
        </p:txBody>
      </p:sp>
      <p:sp>
        <p:nvSpPr>
          <p:cNvPr id="4" name="Rectangle 3">
            <a:extLst>
              <a:ext uri="{FF2B5EF4-FFF2-40B4-BE49-F238E27FC236}">
                <a16:creationId xmlns:a16="http://schemas.microsoft.com/office/drawing/2014/main" id="{2F574096-ACA5-2344-8D51-9C6E3986C927}"/>
              </a:ext>
            </a:extLst>
          </p:cNvPr>
          <p:cNvSpPr/>
          <p:nvPr/>
        </p:nvSpPr>
        <p:spPr>
          <a:xfrm>
            <a:off x="6400798" y="4573814"/>
            <a:ext cx="4953001" cy="2012911"/>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//Rattrapage d’une exception personnalisée</a:t>
            </a:r>
          </a:p>
          <a:p>
            <a:endParaRPr lang="fr-FR" sz="1600" dirty="0">
              <a:latin typeface="Consolas" panose="020B0609020204030204" pitchFamily="49" charset="0"/>
              <a:cs typeface="Consolas" panose="020B0609020204030204" pitchFamily="49" charset="0"/>
            </a:endParaRPr>
          </a:p>
          <a:p>
            <a:r>
              <a:rPr lang="fr-FR" sz="1600" b="1" dirty="0" err="1">
                <a:latin typeface="Consolas" panose="020B0609020204030204" pitchFamily="49" charset="0"/>
                <a:cs typeface="Consolas" panose="020B0609020204030204" pitchFamily="49" charset="0"/>
              </a:rPr>
              <a:t>try</a:t>
            </a:r>
            <a:r>
              <a:rPr lang="fr-FR" sz="1600" dirty="0">
                <a:latin typeface="Consolas" panose="020B0609020204030204" pitchFamily="49" charset="0"/>
                <a:cs typeface="Consolas" panose="020B0609020204030204" pitchFamily="49" charset="0"/>
              </a:rPr>
              <a:t>{</a:t>
            </a:r>
          </a:p>
          <a:p>
            <a:r>
              <a:rPr lang="fr-FR" sz="1600" dirty="0">
                <a:latin typeface="Consolas" panose="020B0609020204030204" pitchFamily="49" charset="0"/>
                <a:cs typeface="Consolas" panose="020B0609020204030204" pitchFamily="49" charset="0"/>
              </a:rPr>
              <a:t>...</a:t>
            </a:r>
          </a:p>
          <a:p>
            <a:r>
              <a:rPr lang="fr-FR" sz="1600" dirty="0">
                <a:latin typeface="Consolas" panose="020B0609020204030204" pitchFamily="49" charset="0"/>
                <a:cs typeface="Consolas" panose="020B0609020204030204" pitchFamily="49" charset="0"/>
              </a:rPr>
              <a:t>}</a:t>
            </a:r>
            <a:r>
              <a:rPr lang="fr-FR" sz="1600" b="1" dirty="0">
                <a:latin typeface="Consolas" panose="020B0609020204030204" pitchFamily="49" charset="0"/>
                <a:cs typeface="Consolas" panose="020B0609020204030204" pitchFamily="49" charset="0"/>
              </a:rPr>
              <a:t>catch</a:t>
            </a:r>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MyException</a:t>
            </a:r>
            <a:r>
              <a:rPr lang="fr-FR" sz="1600" dirty="0">
                <a:latin typeface="Consolas" panose="020B0609020204030204" pitchFamily="49" charset="0"/>
                <a:cs typeface="Consolas" panose="020B0609020204030204" pitchFamily="49" charset="0"/>
              </a:rPr>
              <a:t> $e){</a:t>
            </a:r>
          </a:p>
          <a:p>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BA55477F-E138-0F41-B004-445AA617188C}"/>
              </a:ext>
            </a:extLst>
          </p:cNvPr>
          <p:cNvSpPr/>
          <p:nvPr/>
        </p:nvSpPr>
        <p:spPr>
          <a:xfrm>
            <a:off x="6400799" y="2450596"/>
            <a:ext cx="4953001" cy="1831844"/>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 Déclaration d’une exception personnalisée</a:t>
            </a:r>
          </a:p>
          <a:p>
            <a:endParaRPr lang="fr-FR" sz="1600" b="1"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&lt;?</a:t>
            </a:r>
            <a:r>
              <a:rPr lang="fr-FR" sz="1600" b="1" dirty="0" err="1">
                <a:latin typeface="Consolas" panose="020B0609020204030204" pitchFamily="49" charset="0"/>
                <a:cs typeface="Consolas" panose="020B0609020204030204" pitchFamily="49" charset="0"/>
              </a:rPr>
              <a:t>php</a:t>
            </a:r>
            <a:br>
              <a:rPr lang="fr-FR" sz="1600" dirty="0">
                <a:latin typeface="Consolas" panose="020B0609020204030204" pitchFamily="49" charset="0"/>
                <a:cs typeface="Consolas" panose="020B0609020204030204" pitchFamily="49" charset="0"/>
              </a:rPr>
            </a:br>
            <a:br>
              <a:rPr lang="fr-FR" sz="1600" dirty="0">
                <a:latin typeface="Consolas" panose="020B0609020204030204" pitchFamily="49" charset="0"/>
                <a:cs typeface="Consolas" panose="020B0609020204030204" pitchFamily="49" charset="0"/>
              </a:rPr>
            </a:br>
            <a:r>
              <a:rPr lang="fr-FR" sz="1600" b="1" dirty="0">
                <a:latin typeface="Consolas" panose="020B0609020204030204" pitchFamily="49" charset="0"/>
                <a:cs typeface="Consolas" panose="020B0609020204030204" pitchFamily="49" charset="0"/>
              </a:rPr>
              <a:t>class</a:t>
            </a:r>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MyException</a:t>
            </a:r>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extends</a:t>
            </a:r>
            <a:r>
              <a:rPr lang="fr-FR" sz="1600" dirty="0">
                <a:latin typeface="Consolas" panose="020B0609020204030204" pitchFamily="49" charset="0"/>
                <a:cs typeface="Consolas" panose="020B0609020204030204" pitchFamily="49" charset="0"/>
              </a:rPr>
              <a:t> Exception { }</a:t>
            </a:r>
          </a:p>
        </p:txBody>
      </p:sp>
      <p:sp>
        <p:nvSpPr>
          <p:cNvPr id="6" name="Rectangle 5">
            <a:extLst>
              <a:ext uri="{FF2B5EF4-FFF2-40B4-BE49-F238E27FC236}">
                <a16:creationId xmlns:a16="http://schemas.microsoft.com/office/drawing/2014/main" id="{AA8E8EC7-35FA-B146-9F01-425A5C531B51}"/>
              </a:ext>
            </a:extLst>
          </p:cNvPr>
          <p:cNvSpPr/>
          <p:nvPr/>
        </p:nvSpPr>
        <p:spPr>
          <a:xfrm>
            <a:off x="972665" y="2468881"/>
            <a:ext cx="4953001" cy="2012911"/>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 Lancer une exception</a:t>
            </a:r>
          </a:p>
          <a:p>
            <a:endParaRPr lang="fr-FR" sz="1600" dirty="0">
              <a:latin typeface="Consolas" panose="020B0609020204030204" pitchFamily="49" charset="0"/>
              <a:cs typeface="Consolas" panose="020B0609020204030204" pitchFamily="49" charset="0"/>
            </a:endParaRPr>
          </a:p>
          <a:p>
            <a:r>
              <a:rPr lang="fr-FR" sz="1600" b="1" dirty="0" err="1">
                <a:latin typeface="Consolas" panose="020B0609020204030204" pitchFamily="49" charset="0"/>
                <a:cs typeface="Consolas" panose="020B0609020204030204" pitchFamily="49" charset="0"/>
              </a:rPr>
              <a:t>function</a:t>
            </a:r>
            <a:r>
              <a:rPr lang="fr-FR" sz="1600" dirty="0">
                <a:latin typeface="Consolas" panose="020B0609020204030204" pitchFamily="49" charset="0"/>
                <a:cs typeface="Consolas" panose="020B0609020204030204" pitchFamily="49" charset="0"/>
              </a:rPr>
              <a:t> division($</a:t>
            </a:r>
            <a:r>
              <a:rPr lang="fr-FR" sz="1600" dirty="0" err="1">
                <a:latin typeface="Consolas" panose="020B0609020204030204" pitchFamily="49" charset="0"/>
                <a:cs typeface="Consolas" panose="020B0609020204030204" pitchFamily="49" charset="0"/>
              </a:rPr>
              <a:t>a,$b</a:t>
            </a:r>
            <a:r>
              <a:rPr lang="fr-FR" sz="1600" dirty="0">
                <a:latin typeface="Consolas" panose="020B0609020204030204" pitchFamily="49" charset="0"/>
                <a:cs typeface="Consolas" panose="020B0609020204030204" pitchFamily="49" charset="0"/>
              </a:rPr>
              <a:t>){</a:t>
            </a:r>
          </a:p>
          <a:p>
            <a:r>
              <a:rPr lang="fr-FR" sz="1600" dirty="0">
                <a:latin typeface="Consolas" panose="020B0609020204030204" pitchFamily="49" charset="0"/>
                <a:cs typeface="Consolas" panose="020B0609020204030204" pitchFamily="49" charset="0"/>
              </a:rPr>
              <a:t>   </a:t>
            </a:r>
            <a:r>
              <a:rPr lang="fr-FR" sz="1600" b="1" dirty="0">
                <a:latin typeface="Consolas" panose="020B0609020204030204" pitchFamily="49" charset="0"/>
                <a:cs typeface="Consolas" panose="020B0609020204030204" pitchFamily="49" charset="0"/>
              </a:rPr>
              <a:t>if</a:t>
            </a:r>
            <a:r>
              <a:rPr lang="fr-FR" sz="1600" dirty="0">
                <a:latin typeface="Consolas" panose="020B0609020204030204" pitchFamily="49" charset="0"/>
                <a:cs typeface="Consolas" panose="020B0609020204030204" pitchFamily="49" charset="0"/>
              </a:rPr>
              <a:t>($b == 0){</a:t>
            </a:r>
          </a:p>
          <a:p>
            <a:r>
              <a:rPr lang="fr-FR" sz="1600" dirty="0">
                <a:latin typeface="Consolas" panose="020B0609020204030204" pitchFamily="49" charset="0"/>
                <a:cs typeface="Consolas" panose="020B0609020204030204" pitchFamily="49" charset="0"/>
              </a:rPr>
              <a:t>      </a:t>
            </a:r>
            <a:r>
              <a:rPr lang="fr-FR" sz="1600" b="1" dirty="0" err="1">
                <a:latin typeface="Consolas" panose="020B0609020204030204" pitchFamily="49" charset="0"/>
                <a:cs typeface="Consolas" panose="020B0609020204030204" pitchFamily="49" charset="0"/>
              </a:rPr>
              <a:t>throw</a:t>
            </a:r>
            <a:r>
              <a:rPr lang="fr-FR" sz="1600" dirty="0">
                <a:latin typeface="Consolas" panose="020B0609020204030204" pitchFamily="49" charset="0"/>
                <a:cs typeface="Consolas" panose="020B0609020204030204" pitchFamily="49" charset="0"/>
              </a:rPr>
              <a:t> new Exception(«Division/0 »);</a:t>
            </a:r>
          </a:p>
          <a:p>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   </a:t>
            </a:r>
            <a:r>
              <a:rPr lang="fr-FR" sz="1600" b="1" dirty="0">
                <a:latin typeface="Consolas" panose="020B0609020204030204" pitchFamily="49" charset="0"/>
                <a:cs typeface="Consolas" panose="020B0609020204030204" pitchFamily="49" charset="0"/>
              </a:rPr>
              <a:t>return</a:t>
            </a:r>
            <a:r>
              <a:rPr lang="fr-FR" sz="1600" dirty="0">
                <a:latin typeface="Consolas" panose="020B0609020204030204" pitchFamily="49" charset="0"/>
                <a:cs typeface="Consolas" panose="020B0609020204030204" pitchFamily="49" charset="0"/>
              </a:rPr>
              <a:t> $a/$b;</a:t>
            </a:r>
          </a:p>
          <a:p>
            <a:r>
              <a:rPr lang="fr-FR" sz="1600" dirty="0">
                <a:latin typeface="Consolas" panose="020B0609020204030204" pitchFamily="49" charset="0"/>
                <a:cs typeface="Consolas" panose="020B0609020204030204" pitchFamily="49" charset="0"/>
              </a:rPr>
              <a:t>}</a:t>
            </a:r>
            <a:br>
              <a:rPr lang="fr-FR" dirty="0">
                <a:latin typeface="Consolas" panose="020B0609020204030204" pitchFamily="49" charset="0"/>
                <a:cs typeface="Consolas" panose="020B0609020204030204" pitchFamily="49" charset="0"/>
              </a:rPr>
            </a:br>
            <a:endParaRPr lang="fr-FR"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7F0DEFA5-3F02-DA48-AE25-CE99ACEFCB48}"/>
              </a:ext>
            </a:extLst>
          </p:cNvPr>
          <p:cNvSpPr/>
          <p:nvPr/>
        </p:nvSpPr>
        <p:spPr>
          <a:xfrm>
            <a:off x="972664" y="4757926"/>
            <a:ext cx="4953001" cy="1828799"/>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r>
              <a:rPr lang="fr-FR" sz="1600" b="1" dirty="0">
                <a:latin typeface="Consolas" panose="020B0609020204030204" pitchFamily="49" charset="0"/>
                <a:cs typeface="Consolas" panose="020B0609020204030204" pitchFamily="49" charset="0"/>
              </a:rPr>
              <a:t>// Rattraper une exception</a:t>
            </a:r>
          </a:p>
          <a:p>
            <a:endParaRPr lang="fr-FR" sz="1600" dirty="0">
              <a:latin typeface="Consolas" panose="020B0609020204030204" pitchFamily="49" charset="0"/>
              <a:cs typeface="Consolas" panose="020B0609020204030204" pitchFamily="49" charset="0"/>
            </a:endParaRPr>
          </a:p>
          <a:p>
            <a:pPr lvl="1"/>
            <a:r>
              <a:rPr lang="fr-FR" sz="1600" b="1" dirty="0" err="1">
                <a:latin typeface="Consolas" panose="020B0609020204030204" pitchFamily="49" charset="0"/>
                <a:cs typeface="Consolas" panose="020B0609020204030204" pitchFamily="49" charset="0"/>
              </a:rPr>
              <a:t>try</a:t>
            </a:r>
            <a:r>
              <a:rPr lang="fr-FR" sz="1600" dirty="0">
                <a:latin typeface="Consolas" panose="020B0609020204030204" pitchFamily="49" charset="0"/>
                <a:cs typeface="Consolas" panose="020B0609020204030204" pitchFamily="49" charset="0"/>
              </a:rPr>
              <a:t>{</a:t>
            </a:r>
          </a:p>
          <a:p>
            <a:pPr lvl="1"/>
            <a:r>
              <a:rPr lang="fr-FR" sz="1600" dirty="0">
                <a:latin typeface="Consolas" panose="020B0609020204030204" pitchFamily="49" charset="0"/>
                <a:cs typeface="Consolas" panose="020B0609020204030204" pitchFamily="49" charset="0"/>
              </a:rPr>
              <a:t>	division(343,0);</a:t>
            </a:r>
          </a:p>
          <a:p>
            <a:pPr lvl="1"/>
            <a:r>
              <a:rPr lang="fr-FR" sz="1600" dirty="0">
                <a:latin typeface="Consolas" panose="020B0609020204030204" pitchFamily="49" charset="0"/>
                <a:cs typeface="Consolas" panose="020B0609020204030204" pitchFamily="49" charset="0"/>
              </a:rPr>
              <a:t>}</a:t>
            </a:r>
            <a:r>
              <a:rPr lang="fr-FR" sz="1600" b="1" dirty="0">
                <a:latin typeface="Consolas" panose="020B0609020204030204" pitchFamily="49" charset="0"/>
                <a:cs typeface="Consolas" panose="020B0609020204030204" pitchFamily="49" charset="0"/>
              </a:rPr>
              <a:t>catch</a:t>
            </a:r>
            <a:r>
              <a:rPr lang="fr-FR" sz="1600" dirty="0">
                <a:latin typeface="Consolas" panose="020B0609020204030204" pitchFamily="49" charset="0"/>
                <a:cs typeface="Consolas" panose="020B0609020204030204" pitchFamily="49" charset="0"/>
              </a:rPr>
              <a:t>(Exception $e){</a:t>
            </a:r>
          </a:p>
          <a:p>
            <a:pPr lvl="1"/>
            <a:r>
              <a:rPr lang="fr-FR" sz="1600" dirty="0">
                <a:latin typeface="Consolas" panose="020B0609020204030204" pitchFamily="49" charset="0"/>
                <a:cs typeface="Consolas" panose="020B0609020204030204" pitchFamily="49" charset="0"/>
              </a:rPr>
              <a:t>	[…]</a:t>
            </a:r>
          </a:p>
          <a:p>
            <a:r>
              <a:rPr lang="fr-FR" sz="1600" dirty="0">
                <a:latin typeface="Consolas" panose="020B0609020204030204" pitchFamily="49" charset="0"/>
                <a:cs typeface="Consolas" panose="020B0609020204030204" pitchFamily="49" charset="0"/>
              </a:rPr>
              <a:t>    }</a:t>
            </a:r>
          </a:p>
        </p:txBody>
      </p:sp>
      <p:sp>
        <p:nvSpPr>
          <p:cNvPr id="8" name="Espace réservé du pied de page 1">
            <a:extLst>
              <a:ext uri="{FF2B5EF4-FFF2-40B4-BE49-F238E27FC236}">
                <a16:creationId xmlns:a16="http://schemas.microsoft.com/office/drawing/2014/main" id="{1CC001D5-74A6-53F0-D8B3-BA0799922D8A}"/>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9" name="Espace réservé du numéro de diapositive 8">
            <a:extLst>
              <a:ext uri="{FF2B5EF4-FFF2-40B4-BE49-F238E27FC236}">
                <a16:creationId xmlns:a16="http://schemas.microsoft.com/office/drawing/2014/main" id="{81613892-7B02-4414-757D-B58D40DA90C0}"/>
              </a:ext>
            </a:extLst>
          </p:cNvPr>
          <p:cNvSpPr>
            <a:spLocks noGrp="1"/>
          </p:cNvSpPr>
          <p:nvPr>
            <p:ph type="sldNum" sz="quarter" idx="12"/>
          </p:nvPr>
        </p:nvSpPr>
        <p:spPr/>
        <p:txBody>
          <a:bodyPr/>
          <a:lstStyle/>
          <a:p>
            <a:pPr rtl="0"/>
            <a:fld id="{3A98EE3D-8CD1-4C3F-BD1C-C98C9596463C}" type="slidenum">
              <a:rPr lang="fr-FR" noProof="0" smtClean="0"/>
              <a:t>12</a:t>
            </a:fld>
            <a:endParaRPr lang="fr-FR" noProof="0"/>
          </a:p>
        </p:txBody>
      </p:sp>
    </p:spTree>
    <p:extLst>
      <p:ext uri="{BB962C8B-B14F-4D97-AF65-F5344CB8AC3E}">
        <p14:creationId xmlns:p14="http://schemas.microsoft.com/office/powerpoint/2010/main" val="43842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sessions PHP</a:t>
            </a:r>
          </a:p>
        </p:txBody>
      </p:sp>
      <p:sp>
        <p:nvSpPr>
          <p:cNvPr id="3" name="Espace réservé du contenu 2"/>
          <p:cNvSpPr>
            <a:spLocks noGrp="1"/>
          </p:cNvSpPr>
          <p:nvPr>
            <p:ph idx="1"/>
          </p:nvPr>
        </p:nvSpPr>
        <p:spPr/>
        <p:txBody>
          <a:bodyPr>
            <a:normAutofit/>
          </a:bodyPr>
          <a:lstStyle/>
          <a:p>
            <a:r>
              <a:rPr lang="fr-FR" dirty="0"/>
              <a:t>Problématique :</a:t>
            </a:r>
          </a:p>
          <a:p>
            <a:pPr lvl="1"/>
            <a:r>
              <a:rPr lang="fr-FR" dirty="0"/>
              <a:t>Conserver un </a:t>
            </a:r>
            <a:r>
              <a:rPr lang="fr-FR" b="1" dirty="0"/>
              <a:t>contexte</a:t>
            </a:r>
            <a:r>
              <a:rPr lang="fr-FR" dirty="0"/>
              <a:t> comportant des informations liées à l’utilisateurs de l’application entre deux appels au serveur PHP</a:t>
            </a:r>
          </a:p>
          <a:p>
            <a:r>
              <a:rPr lang="fr-FR" dirty="0"/>
              <a:t>Solution :</a:t>
            </a:r>
          </a:p>
          <a:p>
            <a:pPr lvl="1"/>
            <a:r>
              <a:rPr lang="fr-FR" dirty="0"/>
              <a:t>Gestion de session par le serveur PHP</a:t>
            </a:r>
          </a:p>
          <a:p>
            <a:r>
              <a:rPr lang="fr-FR" dirty="0"/>
              <a:t>Qu’est ce qu’une session serveur ?</a:t>
            </a:r>
          </a:p>
          <a:p>
            <a:pPr lvl="1"/>
            <a:r>
              <a:rPr lang="fr-FR" dirty="0"/>
              <a:t>C’est un ensemble de données associées à la navigation d’une personne sur notre application, géré par le serveur PHP, en opposition aux sessions client qui sont gérées par le navigateur.</a:t>
            </a:r>
          </a:p>
          <a:p>
            <a:endParaRPr lang="fr-FR" dirty="0"/>
          </a:p>
          <a:p>
            <a:pPr lvl="1"/>
            <a:endParaRPr lang="fr-FR" dirty="0"/>
          </a:p>
        </p:txBody>
      </p:sp>
      <p:sp>
        <p:nvSpPr>
          <p:cNvPr id="4" name="Espace réservé du pied de page 1">
            <a:extLst>
              <a:ext uri="{FF2B5EF4-FFF2-40B4-BE49-F238E27FC236}">
                <a16:creationId xmlns:a16="http://schemas.microsoft.com/office/drawing/2014/main" id="{02AAD5A6-6073-7649-7839-E0FFDFAB92E5}"/>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5" name="Espace réservé du numéro de diapositive 4">
            <a:extLst>
              <a:ext uri="{FF2B5EF4-FFF2-40B4-BE49-F238E27FC236}">
                <a16:creationId xmlns:a16="http://schemas.microsoft.com/office/drawing/2014/main" id="{A59DE65C-550C-0833-7AC2-660689D0F83C}"/>
              </a:ext>
            </a:extLst>
          </p:cNvPr>
          <p:cNvSpPr>
            <a:spLocks noGrp="1"/>
          </p:cNvSpPr>
          <p:nvPr>
            <p:ph type="sldNum" sz="quarter" idx="12"/>
          </p:nvPr>
        </p:nvSpPr>
        <p:spPr/>
        <p:txBody>
          <a:bodyPr/>
          <a:lstStyle/>
          <a:p>
            <a:pPr rtl="0"/>
            <a:fld id="{3A98EE3D-8CD1-4C3F-BD1C-C98C9596463C}" type="slidenum">
              <a:rPr lang="fr-FR" noProof="0" smtClean="0"/>
              <a:t>13</a:t>
            </a:fld>
            <a:endParaRPr lang="fr-FR" noProof="0"/>
          </a:p>
        </p:txBody>
      </p:sp>
    </p:spTree>
    <p:extLst>
      <p:ext uri="{BB962C8B-B14F-4D97-AF65-F5344CB8AC3E}">
        <p14:creationId xmlns:p14="http://schemas.microsoft.com/office/powerpoint/2010/main" val="558122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5D750F-3F09-CA4B-A157-B7F4F6C2EE77}"/>
              </a:ext>
            </a:extLst>
          </p:cNvPr>
          <p:cNvSpPr>
            <a:spLocks noGrp="1"/>
          </p:cNvSpPr>
          <p:nvPr>
            <p:ph type="title"/>
          </p:nvPr>
        </p:nvSpPr>
        <p:spPr/>
        <p:txBody>
          <a:bodyPr/>
          <a:lstStyle/>
          <a:p>
            <a:r>
              <a:rPr lang="fr-FR" dirty="0"/>
              <a:t>Mécanique de gestion des sessions</a:t>
            </a:r>
          </a:p>
        </p:txBody>
      </p:sp>
      <p:sp>
        <p:nvSpPr>
          <p:cNvPr id="3" name="Espace réservé du contenu 2">
            <a:extLst>
              <a:ext uri="{FF2B5EF4-FFF2-40B4-BE49-F238E27FC236}">
                <a16:creationId xmlns:a16="http://schemas.microsoft.com/office/drawing/2014/main" id="{04A70465-93EF-FD4D-8E32-EACF6642D8CC}"/>
              </a:ext>
            </a:extLst>
          </p:cNvPr>
          <p:cNvSpPr>
            <a:spLocks noGrp="1"/>
          </p:cNvSpPr>
          <p:nvPr>
            <p:ph idx="1"/>
          </p:nvPr>
        </p:nvSpPr>
        <p:spPr/>
        <p:txBody>
          <a:bodyPr/>
          <a:lstStyle/>
          <a:p>
            <a:r>
              <a:rPr lang="fr-FR" dirty="0"/>
              <a:t>Le navigateur envoi une requête sur le serveur PHP</a:t>
            </a:r>
          </a:p>
          <a:p>
            <a:endParaRPr lang="fr-FR" dirty="0"/>
          </a:p>
          <a:p>
            <a:r>
              <a:rPr lang="fr-FR" dirty="0"/>
              <a:t>PHP vérifie si un numéro de session est communiqué par la requête</a:t>
            </a:r>
          </a:p>
          <a:p>
            <a:pPr lvl="1"/>
            <a:r>
              <a:rPr lang="fr-FR" dirty="0"/>
              <a:t>SI OUI, PHP récupère les informations de session liées à ce numéro</a:t>
            </a:r>
          </a:p>
          <a:p>
            <a:pPr lvl="1"/>
            <a:r>
              <a:rPr lang="fr-FR" dirty="0"/>
              <a:t>Si NON, PHP initie une nouvelle session</a:t>
            </a:r>
          </a:p>
          <a:p>
            <a:pPr lvl="1"/>
            <a:endParaRPr lang="fr-FR" dirty="0"/>
          </a:p>
          <a:p>
            <a:r>
              <a:rPr lang="fr-FR" dirty="0"/>
              <a:t>PHP retourne la réponse en précisant le numéro de session concernée</a:t>
            </a:r>
          </a:p>
        </p:txBody>
      </p:sp>
      <p:sp>
        <p:nvSpPr>
          <p:cNvPr id="4" name="Espace réservé du pied de page 1">
            <a:extLst>
              <a:ext uri="{FF2B5EF4-FFF2-40B4-BE49-F238E27FC236}">
                <a16:creationId xmlns:a16="http://schemas.microsoft.com/office/drawing/2014/main" id="{93DBA96B-338C-5B12-A7C9-FB9F1761161B}"/>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5" name="Espace réservé du numéro de diapositive 4">
            <a:extLst>
              <a:ext uri="{FF2B5EF4-FFF2-40B4-BE49-F238E27FC236}">
                <a16:creationId xmlns:a16="http://schemas.microsoft.com/office/drawing/2014/main" id="{C3A27678-47BE-3056-7509-67DBBCF804F3}"/>
              </a:ext>
            </a:extLst>
          </p:cNvPr>
          <p:cNvSpPr>
            <a:spLocks noGrp="1"/>
          </p:cNvSpPr>
          <p:nvPr>
            <p:ph type="sldNum" sz="quarter" idx="12"/>
          </p:nvPr>
        </p:nvSpPr>
        <p:spPr/>
        <p:txBody>
          <a:bodyPr/>
          <a:lstStyle/>
          <a:p>
            <a:pPr rtl="0"/>
            <a:fld id="{3A98EE3D-8CD1-4C3F-BD1C-C98C9596463C}" type="slidenum">
              <a:rPr lang="fr-FR" noProof="0" smtClean="0"/>
              <a:t>14</a:t>
            </a:fld>
            <a:endParaRPr lang="fr-FR" noProof="0"/>
          </a:p>
        </p:txBody>
      </p:sp>
    </p:spTree>
    <p:extLst>
      <p:ext uri="{BB962C8B-B14F-4D97-AF65-F5344CB8AC3E}">
        <p14:creationId xmlns:p14="http://schemas.microsoft.com/office/powerpoint/2010/main" val="108323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0900A-17D5-A747-B2EE-599CDE5B58F0}"/>
              </a:ext>
            </a:extLst>
          </p:cNvPr>
          <p:cNvSpPr>
            <a:spLocks noGrp="1"/>
          </p:cNvSpPr>
          <p:nvPr>
            <p:ph type="title"/>
          </p:nvPr>
        </p:nvSpPr>
        <p:spPr/>
        <p:txBody>
          <a:bodyPr/>
          <a:lstStyle/>
          <a:p>
            <a:r>
              <a:rPr lang="fr-FR" dirty="0"/>
              <a:t>Les sessions avec PHP</a:t>
            </a:r>
          </a:p>
        </p:txBody>
      </p:sp>
      <p:sp>
        <p:nvSpPr>
          <p:cNvPr id="3" name="Espace réservé du contenu 2">
            <a:extLst>
              <a:ext uri="{FF2B5EF4-FFF2-40B4-BE49-F238E27FC236}">
                <a16:creationId xmlns:a16="http://schemas.microsoft.com/office/drawing/2014/main" id="{BCBE6CFD-311D-334A-94A1-7B59F1E00765}"/>
              </a:ext>
            </a:extLst>
          </p:cNvPr>
          <p:cNvSpPr>
            <a:spLocks noGrp="1"/>
          </p:cNvSpPr>
          <p:nvPr>
            <p:ph idx="1"/>
          </p:nvPr>
        </p:nvSpPr>
        <p:spPr/>
        <p:txBody>
          <a:bodyPr>
            <a:normAutofit fontScale="92500" lnSpcReduction="20000"/>
          </a:bodyPr>
          <a:lstStyle/>
          <a:p>
            <a:r>
              <a:rPr lang="fr-FR" dirty="0"/>
              <a:t>Pour accéder à une session, il faut déclarer l’instruction suivante sur la première ligne du fichier PHP</a:t>
            </a:r>
          </a:p>
          <a:p>
            <a:pPr lvl="1"/>
            <a:r>
              <a:rPr lang="fr-FR" b="1" dirty="0" err="1"/>
              <a:t>session</a:t>
            </a:r>
            <a:r>
              <a:rPr lang="fr-FR" dirty="0" err="1"/>
              <a:t>_</a:t>
            </a:r>
            <a:r>
              <a:rPr lang="fr-FR" b="1" dirty="0" err="1"/>
              <a:t>start</a:t>
            </a:r>
            <a:r>
              <a:rPr lang="fr-FR" dirty="0"/>
              <a:t>() </a:t>
            </a:r>
          </a:p>
          <a:p>
            <a:r>
              <a:rPr lang="fr-FR" dirty="0"/>
              <a:t>Fermeture de session : </a:t>
            </a:r>
          </a:p>
          <a:p>
            <a:pPr lvl="1"/>
            <a:r>
              <a:rPr lang="fr-FR" b="1" dirty="0" err="1"/>
              <a:t>session_destroy</a:t>
            </a:r>
            <a:r>
              <a:rPr lang="fr-FR" dirty="0"/>
              <a:t>()</a:t>
            </a:r>
          </a:p>
          <a:p>
            <a:r>
              <a:rPr lang="fr-FR" dirty="0"/>
              <a:t>Les données de la session sont accessibles dans la variable globale $_SESSION qui se comporte comme un tableau</a:t>
            </a:r>
          </a:p>
          <a:p>
            <a:pPr lvl="1"/>
            <a:r>
              <a:rPr lang="fr-FR" dirty="0"/>
              <a:t>$_SESSION[‘toto’] = ‘ma valeur’; // enregistre une valeur a l’index toto</a:t>
            </a:r>
          </a:p>
          <a:p>
            <a:pPr lvl="1"/>
            <a:r>
              <a:rPr lang="fr-FR" dirty="0"/>
              <a:t>$val = $_SESSION[‘toto’]; // récupère la valeur de l’index toto</a:t>
            </a:r>
          </a:p>
          <a:p>
            <a:r>
              <a:rPr lang="fr-FR" dirty="0"/>
              <a:t>Stockage d’objet dans une session PHP :</a:t>
            </a:r>
          </a:p>
          <a:p>
            <a:pPr lvl="1"/>
            <a:r>
              <a:rPr lang="fr-FR" dirty="0"/>
              <a:t>Attention, les objets doivent être </a:t>
            </a:r>
            <a:r>
              <a:rPr lang="fr-FR" dirty="0" err="1"/>
              <a:t>serialiser</a:t>
            </a:r>
            <a:r>
              <a:rPr lang="fr-FR" dirty="0"/>
              <a:t>/</a:t>
            </a:r>
            <a:r>
              <a:rPr lang="fr-FR" dirty="0" err="1"/>
              <a:t>deserialiser</a:t>
            </a:r>
            <a:r>
              <a:rPr lang="fr-FR" dirty="0"/>
              <a:t> pour pouvoir être utilisée au sein d’une session</a:t>
            </a:r>
          </a:p>
          <a:p>
            <a:pPr lvl="2"/>
            <a:r>
              <a:rPr lang="fr-FR" dirty="0"/>
              <a:t>$_SESSION[‘</a:t>
            </a:r>
            <a:r>
              <a:rPr lang="fr-FR" dirty="0" err="1"/>
              <a:t>foo</a:t>
            </a:r>
            <a:r>
              <a:rPr lang="fr-FR" dirty="0"/>
              <a:t>’] = </a:t>
            </a:r>
            <a:r>
              <a:rPr lang="fr-FR" b="1" dirty="0" err="1"/>
              <a:t>serialize</a:t>
            </a:r>
            <a:r>
              <a:rPr lang="fr-FR" dirty="0"/>
              <a:t>($</a:t>
            </a:r>
            <a:r>
              <a:rPr lang="fr-FR" dirty="0" err="1"/>
              <a:t>monObjet</a:t>
            </a:r>
            <a:r>
              <a:rPr lang="fr-FR" dirty="0"/>
              <a:t>); // Stockage</a:t>
            </a:r>
          </a:p>
          <a:p>
            <a:pPr lvl="2"/>
            <a:r>
              <a:rPr lang="fr-FR" dirty="0"/>
              <a:t>$</a:t>
            </a:r>
            <a:r>
              <a:rPr lang="fr-FR" dirty="0" err="1"/>
              <a:t>monObjet</a:t>
            </a:r>
            <a:r>
              <a:rPr lang="fr-FR" dirty="0"/>
              <a:t> = </a:t>
            </a:r>
            <a:r>
              <a:rPr lang="fr-FR" b="1" dirty="0" err="1"/>
              <a:t>unserialize</a:t>
            </a:r>
            <a:r>
              <a:rPr lang="fr-FR" dirty="0"/>
              <a:t>($_SESSION[‘</a:t>
            </a:r>
            <a:r>
              <a:rPr lang="fr-FR" dirty="0" err="1"/>
              <a:t>monObjet</a:t>
            </a:r>
            <a:r>
              <a:rPr lang="fr-FR" dirty="0"/>
              <a:t>’]); // Récupération de l’objet</a:t>
            </a:r>
          </a:p>
          <a:p>
            <a:endParaRPr lang="fr-FR" dirty="0"/>
          </a:p>
        </p:txBody>
      </p:sp>
      <p:sp>
        <p:nvSpPr>
          <p:cNvPr id="4" name="Espace réservé du pied de page 1">
            <a:extLst>
              <a:ext uri="{FF2B5EF4-FFF2-40B4-BE49-F238E27FC236}">
                <a16:creationId xmlns:a16="http://schemas.microsoft.com/office/drawing/2014/main" id="{F59BED93-6F28-93A7-163B-38446A3C63D3}"/>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5" name="Espace réservé du numéro de diapositive 4">
            <a:extLst>
              <a:ext uri="{FF2B5EF4-FFF2-40B4-BE49-F238E27FC236}">
                <a16:creationId xmlns:a16="http://schemas.microsoft.com/office/drawing/2014/main" id="{0398361C-F07D-9945-EB77-FC1C779F0E05}"/>
              </a:ext>
            </a:extLst>
          </p:cNvPr>
          <p:cNvSpPr>
            <a:spLocks noGrp="1"/>
          </p:cNvSpPr>
          <p:nvPr>
            <p:ph type="sldNum" sz="quarter" idx="12"/>
          </p:nvPr>
        </p:nvSpPr>
        <p:spPr/>
        <p:txBody>
          <a:bodyPr/>
          <a:lstStyle/>
          <a:p>
            <a:pPr rtl="0"/>
            <a:fld id="{3A98EE3D-8CD1-4C3F-BD1C-C98C9596463C}" type="slidenum">
              <a:rPr lang="fr-FR" noProof="0" smtClean="0"/>
              <a:t>15</a:t>
            </a:fld>
            <a:endParaRPr lang="fr-FR" noProof="0"/>
          </a:p>
        </p:txBody>
      </p:sp>
    </p:spTree>
    <p:extLst>
      <p:ext uri="{BB962C8B-B14F-4D97-AF65-F5344CB8AC3E}">
        <p14:creationId xmlns:p14="http://schemas.microsoft.com/office/powerpoint/2010/main" val="851944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0900A-17D5-A747-B2EE-599CDE5B58F0}"/>
              </a:ext>
            </a:extLst>
          </p:cNvPr>
          <p:cNvSpPr>
            <a:spLocks noGrp="1"/>
          </p:cNvSpPr>
          <p:nvPr>
            <p:ph type="title"/>
          </p:nvPr>
        </p:nvSpPr>
        <p:spPr/>
        <p:txBody>
          <a:bodyPr/>
          <a:lstStyle/>
          <a:p>
            <a:r>
              <a:rPr lang="fr-FR" dirty="0"/>
              <a:t>Les COLLECTIONS</a:t>
            </a:r>
          </a:p>
        </p:txBody>
      </p:sp>
      <p:sp>
        <p:nvSpPr>
          <p:cNvPr id="4" name="Espace réservé du pied de page 1">
            <a:extLst>
              <a:ext uri="{FF2B5EF4-FFF2-40B4-BE49-F238E27FC236}">
                <a16:creationId xmlns:a16="http://schemas.microsoft.com/office/drawing/2014/main" id="{F59BED93-6F28-93A7-163B-38446A3C63D3}"/>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7" name="Rectangle 6">
            <a:extLst>
              <a:ext uri="{FF2B5EF4-FFF2-40B4-BE49-F238E27FC236}">
                <a16:creationId xmlns:a16="http://schemas.microsoft.com/office/drawing/2014/main" id="{28D8DD58-25E9-65C9-12CB-7604E7135762}"/>
              </a:ext>
            </a:extLst>
          </p:cNvPr>
          <p:cNvSpPr/>
          <p:nvPr/>
        </p:nvSpPr>
        <p:spPr>
          <a:xfrm>
            <a:off x="581192" y="2298055"/>
            <a:ext cx="4953001"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endParaRPr lang="fr-FR" sz="1600"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&lt;?</a:t>
            </a:r>
            <a:r>
              <a:rPr lang="fr-FR" sz="1600" b="1" dirty="0" err="1">
                <a:latin typeface="Consolas" panose="020B0609020204030204" pitchFamily="49" charset="0"/>
                <a:cs typeface="Consolas" panose="020B0609020204030204" pitchFamily="49" charset="0"/>
              </a:rPr>
              <a:t>php</a:t>
            </a:r>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$texte = "Bonjour le monde";</a:t>
            </a:r>
          </a:p>
          <a:p>
            <a:r>
              <a:rPr lang="fr-FR" sz="1600" b="1" dirty="0">
                <a:latin typeface="Consolas" panose="020B0609020204030204" pitchFamily="49" charset="0"/>
                <a:cs typeface="Consolas" panose="020B0609020204030204" pitchFamily="49" charset="0"/>
              </a:rPr>
              <a:t>$parts = </a:t>
            </a:r>
            <a:r>
              <a:rPr lang="fr-FR" sz="1600" b="1" dirty="0" err="1">
                <a:latin typeface="Consolas" panose="020B0609020204030204" pitchFamily="49" charset="0"/>
                <a:cs typeface="Consolas" panose="020B0609020204030204" pitchFamily="49" charset="0"/>
              </a:rPr>
              <a:t>explode</a:t>
            </a:r>
            <a:r>
              <a:rPr lang="fr-FR" sz="1600" b="1" dirty="0">
                <a:latin typeface="Consolas" panose="020B0609020204030204" pitchFamily="49" charset="0"/>
                <a:cs typeface="Consolas" panose="020B0609020204030204" pitchFamily="49" charset="0"/>
              </a:rPr>
              <a:t>(" ", $texte);</a:t>
            </a:r>
          </a:p>
          <a:p>
            <a:r>
              <a:rPr lang="fr-FR" sz="1600" b="1" dirty="0" err="1">
                <a:latin typeface="Consolas" panose="020B0609020204030204" pitchFamily="49" charset="0"/>
                <a:cs typeface="Consolas" panose="020B0609020204030204" pitchFamily="49" charset="0"/>
              </a:rPr>
              <a:t>print_r</a:t>
            </a:r>
            <a:r>
              <a:rPr lang="fr-FR" sz="1600" b="1" dirty="0">
                <a:latin typeface="Consolas" panose="020B0609020204030204" pitchFamily="49" charset="0"/>
                <a:cs typeface="Consolas" panose="020B0609020204030204" pitchFamily="49" charset="0"/>
              </a:rPr>
              <a:t>($parts);</a:t>
            </a:r>
          </a:p>
          <a:p>
            <a:endParaRPr lang="fr-FR" sz="1600" b="1" dirty="0">
              <a:latin typeface="Consolas" panose="020B0609020204030204" pitchFamily="49" charset="0"/>
              <a:cs typeface="Consolas" panose="020B0609020204030204" pitchFamily="49" charset="0"/>
            </a:endParaRPr>
          </a:p>
          <a:p>
            <a:r>
              <a:rPr lang="fr-FR" sz="1600" b="0" dirty="0">
                <a:solidFill>
                  <a:schemeClr val="tx1"/>
                </a:solidFill>
                <a:effectLst/>
                <a:latin typeface="Consolas" panose="020B0609020204030204" pitchFamily="49" charset="0"/>
              </a:rPr>
              <a:t>?&gt;</a:t>
            </a:r>
          </a:p>
          <a:p>
            <a:endParaRPr lang="fr-FR" sz="1600" b="1" dirty="0">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175706F3-3008-7234-7CD4-DD6394CF0A68}"/>
              </a:ext>
            </a:extLst>
          </p:cNvPr>
          <p:cNvSpPr/>
          <p:nvPr/>
        </p:nvSpPr>
        <p:spPr>
          <a:xfrm>
            <a:off x="6152183" y="2298056"/>
            <a:ext cx="5273040"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&lt;?</a:t>
            </a:r>
            <a:r>
              <a:rPr lang="fr-FR" sz="1600" b="1" dirty="0" err="1">
                <a:latin typeface="Consolas" panose="020B0609020204030204" pitchFamily="49" charset="0"/>
                <a:cs typeface="Consolas" panose="020B0609020204030204" pitchFamily="49" charset="0"/>
              </a:rPr>
              <a:t>php</a:t>
            </a:r>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r>
              <a:rPr lang="fr-FR" sz="1600" b="1" dirty="0">
                <a:latin typeface="Consolas" panose="020B0609020204030204" pitchFamily="49" charset="0"/>
                <a:cs typeface="Consolas" panose="020B0609020204030204" pitchFamily="49" charset="0"/>
              </a:rPr>
              <a:t>$</a:t>
            </a:r>
            <a:r>
              <a:rPr lang="fr-FR" sz="1600" b="1" dirty="0" err="1">
                <a:latin typeface="Consolas" panose="020B0609020204030204" pitchFamily="49" charset="0"/>
                <a:cs typeface="Consolas" panose="020B0609020204030204" pitchFamily="49" charset="0"/>
              </a:rPr>
              <a:t>array</a:t>
            </a:r>
            <a:r>
              <a:rPr lang="fr-FR" sz="1600" b="1" dirty="0">
                <a:latin typeface="Consolas" panose="020B0609020204030204" pitchFamily="49" charset="0"/>
                <a:cs typeface="Consolas" panose="020B0609020204030204" pitchFamily="49" charset="0"/>
              </a:rPr>
              <a:t> = ['Bonjour', 'le', 'monde'];</a:t>
            </a:r>
          </a:p>
          <a:p>
            <a:r>
              <a:rPr lang="fr-FR" sz="1600" b="1" dirty="0">
                <a:latin typeface="Consolas" panose="020B0609020204030204" pitchFamily="49" charset="0"/>
                <a:cs typeface="Consolas" panose="020B0609020204030204" pitchFamily="49" charset="0"/>
              </a:rPr>
              <a:t>$texte = </a:t>
            </a:r>
            <a:r>
              <a:rPr lang="fr-FR" sz="1600" b="1" dirty="0" err="1">
                <a:latin typeface="Consolas" panose="020B0609020204030204" pitchFamily="49" charset="0"/>
                <a:cs typeface="Consolas" panose="020B0609020204030204" pitchFamily="49" charset="0"/>
              </a:rPr>
              <a:t>implode</a:t>
            </a:r>
            <a:r>
              <a:rPr lang="fr-FR" sz="1600" b="1" dirty="0">
                <a:latin typeface="Consolas" panose="020B0609020204030204" pitchFamily="49" charset="0"/>
                <a:cs typeface="Consolas" panose="020B0609020204030204" pitchFamily="49" charset="0"/>
              </a:rPr>
              <a:t>(" ", $</a:t>
            </a:r>
            <a:r>
              <a:rPr lang="fr-FR" sz="1600" b="1" dirty="0" err="1">
                <a:latin typeface="Consolas" panose="020B0609020204030204" pitchFamily="49" charset="0"/>
                <a:cs typeface="Consolas" panose="020B0609020204030204" pitchFamily="49" charset="0"/>
              </a:rPr>
              <a:t>array</a:t>
            </a:r>
            <a:r>
              <a:rPr lang="fr-FR" sz="1600" b="1" dirty="0">
                <a:latin typeface="Consolas" panose="020B0609020204030204" pitchFamily="49" charset="0"/>
                <a:cs typeface="Consolas" panose="020B0609020204030204" pitchFamily="49" charset="0"/>
              </a:rPr>
              <a:t>);</a:t>
            </a:r>
          </a:p>
          <a:p>
            <a:r>
              <a:rPr lang="fr-FR" sz="1600" b="1" dirty="0" err="1">
                <a:latin typeface="Consolas" panose="020B0609020204030204" pitchFamily="49" charset="0"/>
                <a:cs typeface="Consolas" panose="020B0609020204030204" pitchFamily="49" charset="0"/>
              </a:rPr>
              <a:t>echo</a:t>
            </a:r>
            <a:r>
              <a:rPr lang="fr-FR" sz="1600" b="1" dirty="0">
                <a:latin typeface="Consolas" panose="020B0609020204030204" pitchFamily="49" charset="0"/>
                <a:cs typeface="Consolas" panose="020B0609020204030204" pitchFamily="49" charset="0"/>
              </a:rPr>
              <a:t> $texte;</a:t>
            </a:r>
          </a:p>
          <a:p>
            <a:r>
              <a:rPr lang="fr-FR" sz="1600" b="0" dirty="0">
                <a:solidFill>
                  <a:schemeClr val="tx1"/>
                </a:solidFill>
                <a:effectLst/>
                <a:latin typeface="Consolas" panose="020B0609020204030204" pitchFamily="49" charset="0"/>
              </a:rPr>
              <a:t>?&gt;</a:t>
            </a:r>
          </a:p>
          <a:p>
            <a:endParaRPr lang="fr-FR" sz="16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2B0ADD8D-B9E9-7040-F9D1-D700ABE8B055}"/>
              </a:ext>
            </a:extLst>
          </p:cNvPr>
          <p:cNvSpPr>
            <a:spLocks noGrp="1"/>
          </p:cNvSpPr>
          <p:nvPr>
            <p:ph type="sldNum" sz="quarter" idx="12"/>
          </p:nvPr>
        </p:nvSpPr>
        <p:spPr/>
        <p:txBody>
          <a:bodyPr/>
          <a:lstStyle/>
          <a:p>
            <a:pPr rtl="0"/>
            <a:fld id="{3A98EE3D-8CD1-4C3F-BD1C-C98C9596463C}" type="slidenum">
              <a:rPr lang="fr-FR" noProof="0" smtClean="0"/>
              <a:t>16</a:t>
            </a:fld>
            <a:endParaRPr lang="fr-FR" noProof="0"/>
          </a:p>
        </p:txBody>
      </p:sp>
    </p:spTree>
    <p:extLst>
      <p:ext uri="{BB962C8B-B14F-4D97-AF65-F5344CB8AC3E}">
        <p14:creationId xmlns:p14="http://schemas.microsoft.com/office/powerpoint/2010/main" val="1709546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0900A-17D5-A747-B2EE-599CDE5B58F0}"/>
              </a:ext>
            </a:extLst>
          </p:cNvPr>
          <p:cNvSpPr>
            <a:spLocks noGrp="1"/>
          </p:cNvSpPr>
          <p:nvPr>
            <p:ph type="title"/>
          </p:nvPr>
        </p:nvSpPr>
        <p:spPr/>
        <p:txBody>
          <a:bodyPr/>
          <a:lstStyle/>
          <a:p>
            <a:r>
              <a:rPr lang="fr-FR" dirty="0"/>
              <a:t>Fonction TABLEAU</a:t>
            </a:r>
          </a:p>
        </p:txBody>
      </p:sp>
      <p:sp>
        <p:nvSpPr>
          <p:cNvPr id="4" name="Espace réservé du pied de page 1">
            <a:extLst>
              <a:ext uri="{FF2B5EF4-FFF2-40B4-BE49-F238E27FC236}">
                <a16:creationId xmlns:a16="http://schemas.microsoft.com/office/drawing/2014/main" id="{F59BED93-6F28-93A7-163B-38446A3C63D3}"/>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3" name="ZoneTexte 2">
            <a:extLst>
              <a:ext uri="{FF2B5EF4-FFF2-40B4-BE49-F238E27FC236}">
                <a16:creationId xmlns:a16="http://schemas.microsoft.com/office/drawing/2014/main" id="{388AB21D-260E-FFEA-EFBD-A41829B5BE43}"/>
              </a:ext>
            </a:extLst>
          </p:cNvPr>
          <p:cNvSpPr txBox="1"/>
          <p:nvPr/>
        </p:nvSpPr>
        <p:spPr>
          <a:xfrm>
            <a:off x="495869" y="2024418"/>
            <a:ext cx="11341030" cy="4462760"/>
          </a:xfrm>
          <a:prstGeom prst="rect">
            <a:avLst/>
          </a:prstGeom>
          <a:noFill/>
        </p:spPr>
        <p:txBody>
          <a:bodyPr wrap="square" rtlCol="0">
            <a:spAutoFit/>
          </a:bodyPr>
          <a:lstStyle/>
          <a:p>
            <a:r>
              <a:rPr lang="fr-FR" sz="1400" b="1" dirty="0" err="1"/>
              <a:t>array</a:t>
            </a:r>
            <a:r>
              <a:rPr lang="fr-FR" sz="1400" b="1" dirty="0"/>
              <a:t>(): </a:t>
            </a:r>
            <a:r>
              <a:rPr lang="fr-FR" sz="1400" dirty="0"/>
              <a:t>Crée un tableau.</a:t>
            </a:r>
          </a:p>
          <a:p>
            <a:r>
              <a:rPr lang="fr-FR" sz="1400" b="1" dirty="0"/>
              <a:t>range(): </a:t>
            </a:r>
            <a:r>
              <a:rPr lang="fr-FR" sz="1400" dirty="0"/>
              <a:t>Crée un tableau contenant une plage d'éléments.</a:t>
            </a:r>
          </a:p>
          <a:p>
            <a:r>
              <a:rPr lang="fr-FR" sz="1400" b="1" dirty="0"/>
              <a:t>count(): </a:t>
            </a:r>
            <a:r>
              <a:rPr lang="fr-FR" sz="1400" dirty="0"/>
              <a:t>Compte tous les éléments dans un tableau ou quelque chose d'un objet.</a:t>
            </a:r>
          </a:p>
          <a:p>
            <a:r>
              <a:rPr lang="fr-FR" sz="1400" b="1" dirty="0" err="1"/>
              <a:t>is_array</a:t>
            </a:r>
            <a:r>
              <a:rPr lang="fr-FR" sz="1400" b="1" dirty="0"/>
              <a:t>(): </a:t>
            </a:r>
            <a:r>
              <a:rPr lang="fr-FR" sz="1400" dirty="0"/>
              <a:t>Vérifie si une variable est un tableau.</a:t>
            </a:r>
          </a:p>
          <a:p>
            <a:endParaRPr lang="fr-FR" sz="1400" dirty="0"/>
          </a:p>
          <a:p>
            <a:r>
              <a:rPr lang="fr-FR" sz="1400" b="1" u="sng" dirty="0"/>
              <a:t>Ajout et Suppression d'éléments</a:t>
            </a:r>
          </a:p>
          <a:p>
            <a:endParaRPr lang="fr-FR" sz="1400" dirty="0"/>
          </a:p>
          <a:p>
            <a:r>
              <a:rPr lang="fr-FR" sz="1400" b="1" dirty="0" err="1"/>
              <a:t>array_push</a:t>
            </a:r>
            <a:r>
              <a:rPr lang="fr-FR" sz="1400" b="1" dirty="0"/>
              <a:t>(): </a:t>
            </a:r>
            <a:r>
              <a:rPr lang="fr-FR" sz="1400" dirty="0"/>
              <a:t>Ajoute un ou plusieurs éléments à la fin d'un tableau.</a:t>
            </a:r>
          </a:p>
          <a:p>
            <a:r>
              <a:rPr lang="fr-FR" sz="1400" b="1" dirty="0" err="1"/>
              <a:t>array_pop</a:t>
            </a:r>
            <a:r>
              <a:rPr lang="fr-FR" sz="1400" b="1" dirty="0"/>
              <a:t>(): </a:t>
            </a:r>
            <a:r>
              <a:rPr lang="fr-FR" sz="1400" dirty="0"/>
              <a:t>Dépile et retourne le dernier élément du tableau.</a:t>
            </a:r>
          </a:p>
          <a:p>
            <a:r>
              <a:rPr lang="fr-FR" sz="1400" b="1" dirty="0" err="1"/>
              <a:t>array_unshift</a:t>
            </a:r>
            <a:r>
              <a:rPr lang="fr-FR" sz="1400" b="1" dirty="0"/>
              <a:t>(): </a:t>
            </a:r>
            <a:r>
              <a:rPr lang="fr-FR" sz="1400" dirty="0"/>
              <a:t>Ajoute un ou plusieurs éléments au début d'un tableau.</a:t>
            </a:r>
          </a:p>
          <a:p>
            <a:r>
              <a:rPr lang="fr-FR" sz="1400" b="1" dirty="0" err="1"/>
              <a:t>array_shift</a:t>
            </a:r>
            <a:r>
              <a:rPr lang="fr-FR" sz="1400" b="1" dirty="0"/>
              <a:t>(): </a:t>
            </a:r>
            <a:r>
              <a:rPr lang="fr-FR" sz="1400" dirty="0"/>
              <a:t>Dépile et retourne le premier élément d'un tableau.</a:t>
            </a:r>
          </a:p>
          <a:p>
            <a:r>
              <a:rPr lang="fr-FR" sz="1400" b="1" dirty="0" err="1"/>
              <a:t>array_splice</a:t>
            </a:r>
            <a:r>
              <a:rPr lang="fr-FR" sz="1400" b="1" dirty="0"/>
              <a:t>(): </a:t>
            </a:r>
            <a:r>
              <a:rPr lang="fr-FR" sz="1400" dirty="0"/>
              <a:t>Efface et remplace une portion de tableau.</a:t>
            </a:r>
          </a:p>
          <a:p>
            <a:endParaRPr lang="fr-FR" sz="1400" dirty="0"/>
          </a:p>
          <a:p>
            <a:r>
              <a:rPr lang="fr-FR" sz="1400" b="1" u="sng" dirty="0"/>
              <a:t>Recherche et Filtrage</a:t>
            </a:r>
          </a:p>
          <a:p>
            <a:r>
              <a:rPr lang="fr-FR" sz="1400" b="1" dirty="0" err="1"/>
              <a:t>array_search</a:t>
            </a:r>
            <a:r>
              <a:rPr lang="fr-FR" sz="1400" b="1" dirty="0"/>
              <a:t>(): </a:t>
            </a:r>
            <a:r>
              <a:rPr lang="fr-FR" sz="1400" dirty="0"/>
              <a:t>Recherche dans un tableau.</a:t>
            </a:r>
          </a:p>
          <a:p>
            <a:r>
              <a:rPr lang="fr-FR" sz="1400" b="1" dirty="0" err="1"/>
              <a:t>in_array</a:t>
            </a:r>
            <a:r>
              <a:rPr lang="fr-FR" sz="1400" b="1" dirty="0"/>
              <a:t>(): </a:t>
            </a:r>
            <a:r>
              <a:rPr lang="fr-FR" sz="1400" dirty="0"/>
              <a:t>Vérifie si une valeur existe dans un tableau.</a:t>
            </a:r>
          </a:p>
          <a:p>
            <a:r>
              <a:rPr lang="fr-FR" sz="1400" b="1" dirty="0" err="1"/>
              <a:t>array_filter</a:t>
            </a:r>
            <a:r>
              <a:rPr lang="fr-FR" sz="1400" b="1" dirty="0"/>
              <a:t>(): </a:t>
            </a:r>
            <a:r>
              <a:rPr lang="fr-FR" sz="1400" dirty="0"/>
              <a:t>Filtre les éléments d'un tableau en utilisant une fonction de rappel.</a:t>
            </a:r>
          </a:p>
          <a:p>
            <a:r>
              <a:rPr lang="fr-FR" sz="1400" b="1" dirty="0" err="1"/>
              <a:t>array_keys</a:t>
            </a:r>
            <a:r>
              <a:rPr lang="fr-FR" sz="1400" b="1" dirty="0"/>
              <a:t>(): </a:t>
            </a:r>
            <a:r>
              <a:rPr lang="fr-FR" sz="1400" dirty="0"/>
              <a:t>Retourne toutes les clés ou un ensemble de clés d'un tableau.</a:t>
            </a:r>
          </a:p>
          <a:p>
            <a:r>
              <a:rPr lang="fr-FR" sz="1400" b="1" dirty="0" err="1"/>
              <a:t>array_values</a:t>
            </a:r>
            <a:r>
              <a:rPr lang="fr-FR" sz="1400" b="1" dirty="0"/>
              <a:t>(): </a:t>
            </a:r>
            <a:r>
              <a:rPr lang="fr-FR" sz="1400" dirty="0"/>
              <a:t>Retourne toutes les valeurs d'un tableau.</a:t>
            </a:r>
          </a:p>
          <a:p>
            <a:endParaRPr lang="fr-FR" dirty="0"/>
          </a:p>
        </p:txBody>
      </p:sp>
      <p:sp>
        <p:nvSpPr>
          <p:cNvPr id="5" name="Espace réservé du numéro de diapositive 4">
            <a:extLst>
              <a:ext uri="{FF2B5EF4-FFF2-40B4-BE49-F238E27FC236}">
                <a16:creationId xmlns:a16="http://schemas.microsoft.com/office/drawing/2014/main" id="{927298C2-7C4E-4B9A-DF1D-BC88465285DC}"/>
              </a:ext>
            </a:extLst>
          </p:cNvPr>
          <p:cNvSpPr>
            <a:spLocks noGrp="1"/>
          </p:cNvSpPr>
          <p:nvPr>
            <p:ph type="sldNum" sz="quarter" idx="12"/>
          </p:nvPr>
        </p:nvSpPr>
        <p:spPr/>
        <p:txBody>
          <a:bodyPr/>
          <a:lstStyle/>
          <a:p>
            <a:pPr rtl="0"/>
            <a:fld id="{3A98EE3D-8CD1-4C3F-BD1C-C98C9596463C}" type="slidenum">
              <a:rPr lang="fr-FR" noProof="0" smtClean="0"/>
              <a:t>17</a:t>
            </a:fld>
            <a:endParaRPr lang="fr-FR" noProof="0"/>
          </a:p>
        </p:txBody>
      </p:sp>
    </p:spTree>
    <p:extLst>
      <p:ext uri="{BB962C8B-B14F-4D97-AF65-F5344CB8AC3E}">
        <p14:creationId xmlns:p14="http://schemas.microsoft.com/office/powerpoint/2010/main" val="1564152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0900A-17D5-A747-B2EE-599CDE5B58F0}"/>
              </a:ext>
            </a:extLst>
          </p:cNvPr>
          <p:cNvSpPr>
            <a:spLocks noGrp="1"/>
          </p:cNvSpPr>
          <p:nvPr>
            <p:ph type="title"/>
          </p:nvPr>
        </p:nvSpPr>
        <p:spPr/>
        <p:txBody>
          <a:bodyPr/>
          <a:lstStyle/>
          <a:p>
            <a:r>
              <a:rPr lang="fr-FR" dirty="0"/>
              <a:t>Fonction TABLEAU</a:t>
            </a:r>
          </a:p>
        </p:txBody>
      </p:sp>
      <p:sp>
        <p:nvSpPr>
          <p:cNvPr id="4" name="Espace réservé du pied de page 1">
            <a:extLst>
              <a:ext uri="{FF2B5EF4-FFF2-40B4-BE49-F238E27FC236}">
                <a16:creationId xmlns:a16="http://schemas.microsoft.com/office/drawing/2014/main" id="{F59BED93-6F28-93A7-163B-38446A3C63D3}"/>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3" name="ZoneTexte 2">
            <a:extLst>
              <a:ext uri="{FF2B5EF4-FFF2-40B4-BE49-F238E27FC236}">
                <a16:creationId xmlns:a16="http://schemas.microsoft.com/office/drawing/2014/main" id="{388AB21D-260E-FFEA-EFBD-A41829B5BE43}"/>
              </a:ext>
            </a:extLst>
          </p:cNvPr>
          <p:cNvSpPr txBox="1"/>
          <p:nvPr/>
        </p:nvSpPr>
        <p:spPr>
          <a:xfrm>
            <a:off x="518615" y="1856096"/>
            <a:ext cx="11341030" cy="4185761"/>
          </a:xfrm>
          <a:prstGeom prst="rect">
            <a:avLst/>
          </a:prstGeom>
          <a:noFill/>
        </p:spPr>
        <p:txBody>
          <a:bodyPr wrap="square" rtlCol="0">
            <a:spAutoFit/>
          </a:bodyPr>
          <a:lstStyle/>
          <a:p>
            <a:endParaRPr lang="fr-FR" sz="1400" dirty="0"/>
          </a:p>
          <a:p>
            <a:r>
              <a:rPr lang="fr-FR" sz="1400" b="1" u="sng" dirty="0"/>
              <a:t>Triage</a:t>
            </a:r>
          </a:p>
          <a:p>
            <a:r>
              <a:rPr lang="fr-FR" sz="1400" b="1" dirty="0"/>
              <a:t>sort</a:t>
            </a:r>
            <a:r>
              <a:rPr lang="fr-FR" sz="1400" dirty="0"/>
              <a:t>(): Trie un tableau en ordre croissant.</a:t>
            </a:r>
          </a:p>
          <a:p>
            <a:r>
              <a:rPr lang="fr-FR" sz="1400" b="1" dirty="0" err="1"/>
              <a:t>rsort</a:t>
            </a:r>
            <a:r>
              <a:rPr lang="fr-FR" sz="1400" dirty="0"/>
              <a:t>(): Trie un tableau en ordre décroissant.</a:t>
            </a:r>
          </a:p>
          <a:p>
            <a:r>
              <a:rPr lang="fr-FR" sz="1400" b="1" dirty="0" err="1"/>
              <a:t>asort</a:t>
            </a:r>
            <a:r>
              <a:rPr lang="fr-FR" sz="1400" dirty="0"/>
              <a:t>(): Trie un tableau et maintient l'association des indices avec les valeurs.</a:t>
            </a:r>
          </a:p>
          <a:p>
            <a:r>
              <a:rPr lang="fr-FR" sz="1400" b="1" dirty="0" err="1"/>
              <a:t>ksort</a:t>
            </a:r>
            <a:r>
              <a:rPr lang="fr-FR" sz="1400" dirty="0"/>
              <a:t>(): Trie un tableau par clé.</a:t>
            </a:r>
          </a:p>
          <a:p>
            <a:r>
              <a:rPr lang="fr-FR" sz="1400" b="1" dirty="0" err="1"/>
              <a:t>usort</a:t>
            </a:r>
            <a:r>
              <a:rPr lang="fr-FR" sz="1400" b="1" dirty="0"/>
              <a:t>(), </a:t>
            </a:r>
            <a:r>
              <a:rPr lang="fr-FR" sz="1400" b="1" dirty="0" err="1"/>
              <a:t>uasort</a:t>
            </a:r>
            <a:r>
              <a:rPr lang="fr-FR" sz="1400" b="1" dirty="0"/>
              <a:t>(), </a:t>
            </a:r>
            <a:r>
              <a:rPr lang="fr-FR" sz="1400" b="1" dirty="0" err="1"/>
              <a:t>uksort</a:t>
            </a:r>
            <a:r>
              <a:rPr lang="fr-FR" sz="1400" b="1" dirty="0"/>
              <a:t>(): </a:t>
            </a:r>
            <a:r>
              <a:rPr lang="fr-FR" sz="1400" dirty="0"/>
              <a:t>Tri personnalisé d'un tableau en utilisant une fonction de rappel.</a:t>
            </a:r>
          </a:p>
          <a:p>
            <a:endParaRPr lang="fr-FR" sz="1400" dirty="0"/>
          </a:p>
          <a:p>
            <a:r>
              <a:rPr lang="fr-FR" sz="1400" b="1" u="sng" dirty="0"/>
              <a:t>Manipulation</a:t>
            </a:r>
          </a:p>
          <a:p>
            <a:r>
              <a:rPr lang="fr-FR" sz="1400" b="1" dirty="0" err="1"/>
              <a:t>array_map</a:t>
            </a:r>
            <a:r>
              <a:rPr lang="fr-FR" sz="1400" b="1" dirty="0"/>
              <a:t>(): </a:t>
            </a:r>
            <a:r>
              <a:rPr lang="fr-FR" sz="1400" dirty="0"/>
              <a:t>Applique une fonction de rappel aux éléments d'un ou de plusieurs tableaux.</a:t>
            </a:r>
          </a:p>
          <a:p>
            <a:r>
              <a:rPr lang="fr-FR" sz="1400" b="1" dirty="0" err="1"/>
              <a:t>array_reduce</a:t>
            </a:r>
            <a:r>
              <a:rPr lang="fr-FR" sz="1400" b="1" dirty="0"/>
              <a:t>()</a:t>
            </a:r>
            <a:r>
              <a:rPr lang="fr-FR" sz="1400" dirty="0"/>
              <a:t>: Réduit un tableau en une seule valeur en utilisant une fonction de rappel.</a:t>
            </a:r>
          </a:p>
          <a:p>
            <a:r>
              <a:rPr lang="fr-FR" sz="1400" b="1" dirty="0" err="1"/>
              <a:t>array_merge</a:t>
            </a:r>
            <a:r>
              <a:rPr lang="fr-FR" sz="1400" b="1" dirty="0"/>
              <a:t>(): </a:t>
            </a:r>
            <a:r>
              <a:rPr lang="fr-FR" sz="1400" dirty="0"/>
              <a:t>Fusionne un ou plusieurs tableaux.</a:t>
            </a:r>
          </a:p>
          <a:p>
            <a:r>
              <a:rPr lang="fr-FR" sz="1400" b="1" dirty="0" err="1"/>
              <a:t>array_diff</a:t>
            </a:r>
            <a:r>
              <a:rPr lang="fr-FR" sz="1400" b="1" dirty="0"/>
              <a:t>(), </a:t>
            </a:r>
            <a:r>
              <a:rPr lang="fr-FR" sz="1400" b="1" dirty="0" err="1"/>
              <a:t>array_intersect</a:t>
            </a:r>
            <a:r>
              <a:rPr lang="fr-FR" sz="1400" b="1" dirty="0"/>
              <a:t>(): </a:t>
            </a:r>
            <a:r>
              <a:rPr lang="fr-FR" sz="1400" dirty="0"/>
              <a:t>Compare des tableaux pour trouver des différences ou des intersections.</a:t>
            </a:r>
          </a:p>
          <a:p>
            <a:endParaRPr lang="fr-FR" sz="1400" dirty="0"/>
          </a:p>
          <a:p>
            <a:r>
              <a:rPr lang="fr-FR" sz="1400" b="1" u="sng" dirty="0"/>
              <a:t>Utilitaires</a:t>
            </a:r>
          </a:p>
          <a:p>
            <a:r>
              <a:rPr lang="fr-FR" sz="1400" b="1" dirty="0" err="1"/>
              <a:t>array_unique</a:t>
            </a:r>
            <a:r>
              <a:rPr lang="fr-FR" sz="1400" b="1" dirty="0"/>
              <a:t>(): </a:t>
            </a:r>
            <a:r>
              <a:rPr lang="fr-FR" sz="1400" dirty="0"/>
              <a:t>Supprime les doublons d'un tableau.</a:t>
            </a:r>
          </a:p>
          <a:p>
            <a:r>
              <a:rPr lang="fr-FR" sz="1400" b="1" dirty="0" err="1"/>
              <a:t>array_slice</a:t>
            </a:r>
            <a:r>
              <a:rPr lang="fr-FR" sz="1400" b="1" dirty="0"/>
              <a:t>(): </a:t>
            </a:r>
            <a:r>
              <a:rPr lang="fr-FR" sz="1400" dirty="0"/>
              <a:t>Extrait une portion de tableau.</a:t>
            </a:r>
          </a:p>
          <a:p>
            <a:r>
              <a:rPr lang="fr-FR" sz="1400" b="1" dirty="0" err="1"/>
              <a:t>array_chunk</a:t>
            </a:r>
            <a:r>
              <a:rPr lang="fr-FR" sz="1400" b="1" dirty="0"/>
              <a:t>(): </a:t>
            </a:r>
            <a:r>
              <a:rPr lang="fr-FR" sz="1400" dirty="0"/>
              <a:t>Sépare un tableau en morceaux.</a:t>
            </a:r>
          </a:p>
          <a:p>
            <a:r>
              <a:rPr lang="fr-FR" sz="1400" b="1" dirty="0" err="1"/>
              <a:t>array_flip</a:t>
            </a:r>
            <a:r>
              <a:rPr lang="fr-FR" sz="1400" b="1" dirty="0"/>
              <a:t>(): </a:t>
            </a:r>
            <a:r>
              <a:rPr lang="fr-FR" sz="1400" dirty="0"/>
              <a:t>Échange toutes les clés avec leurs valeurs associées dans un tableau.</a:t>
            </a:r>
          </a:p>
        </p:txBody>
      </p:sp>
      <p:sp>
        <p:nvSpPr>
          <p:cNvPr id="5" name="Espace réservé du numéro de diapositive 4">
            <a:extLst>
              <a:ext uri="{FF2B5EF4-FFF2-40B4-BE49-F238E27FC236}">
                <a16:creationId xmlns:a16="http://schemas.microsoft.com/office/drawing/2014/main" id="{FDEC9491-029B-1C40-F2B1-BE02C3F94294}"/>
              </a:ext>
            </a:extLst>
          </p:cNvPr>
          <p:cNvSpPr>
            <a:spLocks noGrp="1"/>
          </p:cNvSpPr>
          <p:nvPr>
            <p:ph type="sldNum" sz="quarter" idx="12"/>
          </p:nvPr>
        </p:nvSpPr>
        <p:spPr/>
        <p:txBody>
          <a:bodyPr/>
          <a:lstStyle/>
          <a:p>
            <a:pPr rtl="0"/>
            <a:fld id="{3A98EE3D-8CD1-4C3F-BD1C-C98C9596463C}" type="slidenum">
              <a:rPr lang="fr-FR" noProof="0" smtClean="0"/>
              <a:t>18</a:t>
            </a:fld>
            <a:endParaRPr lang="fr-FR" noProof="0"/>
          </a:p>
        </p:txBody>
      </p:sp>
    </p:spTree>
    <p:extLst>
      <p:ext uri="{BB962C8B-B14F-4D97-AF65-F5344CB8AC3E}">
        <p14:creationId xmlns:p14="http://schemas.microsoft.com/office/powerpoint/2010/main" val="3167801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0900A-17D5-A747-B2EE-599CDE5B58F0}"/>
              </a:ext>
            </a:extLst>
          </p:cNvPr>
          <p:cNvSpPr>
            <a:spLocks noGrp="1"/>
          </p:cNvSpPr>
          <p:nvPr>
            <p:ph type="title"/>
          </p:nvPr>
        </p:nvSpPr>
        <p:spPr/>
        <p:txBody>
          <a:bodyPr/>
          <a:lstStyle/>
          <a:p>
            <a:r>
              <a:rPr lang="fr-FR" dirty="0"/>
              <a:t>Les ACCES FICHIERS</a:t>
            </a:r>
          </a:p>
        </p:txBody>
      </p:sp>
      <p:sp>
        <p:nvSpPr>
          <p:cNvPr id="4" name="Espace réservé du pied de page 1">
            <a:extLst>
              <a:ext uri="{FF2B5EF4-FFF2-40B4-BE49-F238E27FC236}">
                <a16:creationId xmlns:a16="http://schemas.microsoft.com/office/drawing/2014/main" id="{F59BED93-6F28-93A7-163B-38446A3C63D3}"/>
              </a:ext>
            </a:extLst>
          </p:cNvPr>
          <p:cNvSpPr>
            <a:spLocks noGrp="1"/>
          </p:cNvSpPr>
          <p:nvPr>
            <p:ph type="ftr" sz="quarter" idx="11"/>
          </p:nvPr>
        </p:nvSpPr>
        <p:spPr>
          <a:xfrm>
            <a:off x="355101" y="6423914"/>
            <a:ext cx="6818262" cy="365125"/>
          </a:xfrm>
        </p:spPr>
        <p:txBody>
          <a:bodyPr/>
          <a:lstStyle/>
          <a:p>
            <a:pPr algn="l" rtl="0"/>
            <a:r>
              <a:rPr lang="fr-FR" noProof="0"/>
              <a:t>Guillaume FOVEAU 2026</a:t>
            </a:r>
            <a:endParaRPr lang="fr" noProof="0" dirty="0"/>
          </a:p>
        </p:txBody>
      </p:sp>
      <p:sp>
        <p:nvSpPr>
          <p:cNvPr id="7" name="Rectangle 6">
            <a:extLst>
              <a:ext uri="{FF2B5EF4-FFF2-40B4-BE49-F238E27FC236}">
                <a16:creationId xmlns:a16="http://schemas.microsoft.com/office/drawing/2014/main" id="{28D8DD58-25E9-65C9-12CB-7604E7135762}"/>
              </a:ext>
            </a:extLst>
          </p:cNvPr>
          <p:cNvSpPr/>
          <p:nvPr/>
        </p:nvSpPr>
        <p:spPr>
          <a:xfrm>
            <a:off x="581192" y="2298055"/>
            <a:ext cx="4953001"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endParaRPr lang="fr-FR" sz="1600" dirty="0">
              <a:latin typeface="Consolas" panose="020B0609020204030204" pitchFamily="49" charset="0"/>
              <a:cs typeface="Consolas" panose="020B0609020204030204" pitchFamily="49" charset="0"/>
            </a:endParaRPr>
          </a:p>
          <a:p>
            <a:endParaRPr lang="fr-FR" sz="1200" dirty="0">
              <a:latin typeface="Consolas" panose="020B0609020204030204" pitchFamily="49" charset="0"/>
              <a:cs typeface="Consolas" panose="020B0609020204030204" pitchFamily="49" charset="0"/>
            </a:endParaRPr>
          </a:p>
          <a:p>
            <a:r>
              <a:rPr lang="fr-FR" sz="1200" dirty="0">
                <a:latin typeface="Consolas" panose="020B0609020204030204" pitchFamily="49" charset="0"/>
                <a:cs typeface="Consolas" panose="020B0609020204030204" pitchFamily="49" charset="0"/>
              </a:rPr>
              <a:t>// Ouverture d'un fichier en lecture</a:t>
            </a:r>
          </a:p>
          <a:p>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 </a:t>
            </a:r>
            <a:r>
              <a:rPr lang="fr-FR" sz="1200" dirty="0" err="1">
                <a:latin typeface="Consolas" panose="020B0609020204030204" pitchFamily="49" charset="0"/>
                <a:cs typeface="Consolas" panose="020B0609020204030204" pitchFamily="49" charset="0"/>
              </a:rPr>
              <a:t>fopen</a:t>
            </a:r>
            <a:r>
              <a:rPr lang="fr-FR" sz="1200" dirty="0">
                <a:latin typeface="Consolas" panose="020B0609020204030204" pitchFamily="49" charset="0"/>
                <a:cs typeface="Consolas" panose="020B0609020204030204" pitchFamily="49" charset="0"/>
              </a:rPr>
              <a:t>('chemin/vers/le/fichier.txt', 'r');</a:t>
            </a:r>
          </a:p>
          <a:p>
            <a:r>
              <a:rPr lang="fr-FR" sz="1200" dirty="0">
                <a:latin typeface="Consolas" panose="020B0609020204030204" pitchFamily="49" charset="0"/>
                <a:cs typeface="Consolas" panose="020B0609020204030204" pitchFamily="49" charset="0"/>
              </a:rPr>
              <a:t>if ($</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a:t>
            </a:r>
          </a:p>
          <a:p>
            <a:r>
              <a:rPr lang="fr-FR" sz="1200" dirty="0">
                <a:latin typeface="Consolas" panose="020B0609020204030204" pitchFamily="49" charset="0"/>
                <a:cs typeface="Consolas" panose="020B0609020204030204" pitchFamily="49" charset="0"/>
              </a:rPr>
              <a:t>    </a:t>
            </a:r>
            <a:r>
              <a:rPr lang="fr-FR" sz="1200" dirty="0" err="1">
                <a:latin typeface="Consolas" panose="020B0609020204030204" pitchFamily="49" charset="0"/>
                <a:cs typeface="Consolas" panose="020B0609020204030204" pitchFamily="49" charset="0"/>
              </a:rPr>
              <a:t>while</a:t>
            </a:r>
            <a:r>
              <a:rPr lang="fr-FR" sz="1200" dirty="0">
                <a:latin typeface="Consolas" panose="020B0609020204030204" pitchFamily="49" charset="0"/>
                <a:cs typeface="Consolas" panose="020B0609020204030204" pitchFamily="49" charset="0"/>
              </a:rPr>
              <a:t> (($ligne = </a:t>
            </a:r>
            <a:r>
              <a:rPr lang="fr-FR" sz="1200" dirty="0" err="1">
                <a:latin typeface="Consolas" panose="020B0609020204030204" pitchFamily="49" charset="0"/>
                <a:cs typeface="Consolas" panose="020B0609020204030204" pitchFamily="49" charset="0"/>
              </a:rPr>
              <a:t>fgets</a:t>
            </a:r>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 false) {</a:t>
            </a:r>
          </a:p>
          <a:p>
            <a:r>
              <a:rPr lang="fr-FR" sz="1200" dirty="0">
                <a:latin typeface="Consolas" panose="020B0609020204030204" pitchFamily="49" charset="0"/>
                <a:cs typeface="Consolas" panose="020B0609020204030204" pitchFamily="49" charset="0"/>
              </a:rPr>
              <a:t>        // Traitement de chaque ligne du fichier</a:t>
            </a:r>
          </a:p>
          <a:p>
            <a:r>
              <a:rPr lang="fr-FR" sz="1200" dirty="0">
                <a:latin typeface="Consolas" panose="020B0609020204030204" pitchFamily="49" charset="0"/>
                <a:cs typeface="Consolas" panose="020B0609020204030204" pitchFamily="49" charset="0"/>
              </a:rPr>
              <a:t>        </a:t>
            </a:r>
            <a:r>
              <a:rPr lang="fr-FR" sz="1200" dirty="0" err="1">
                <a:latin typeface="Consolas" panose="020B0609020204030204" pitchFamily="49" charset="0"/>
                <a:cs typeface="Consolas" panose="020B0609020204030204" pitchFamily="49" charset="0"/>
              </a:rPr>
              <a:t>echo</a:t>
            </a:r>
            <a:r>
              <a:rPr lang="fr-FR" sz="1200" dirty="0">
                <a:latin typeface="Consolas" panose="020B0609020204030204" pitchFamily="49" charset="0"/>
                <a:cs typeface="Consolas" panose="020B0609020204030204" pitchFamily="49" charset="0"/>
              </a:rPr>
              <a:t> $ligne;</a:t>
            </a:r>
          </a:p>
          <a:p>
            <a:r>
              <a:rPr lang="fr-FR" sz="1200" dirty="0">
                <a:latin typeface="Consolas" panose="020B0609020204030204" pitchFamily="49" charset="0"/>
                <a:cs typeface="Consolas" panose="020B0609020204030204" pitchFamily="49" charset="0"/>
              </a:rPr>
              <a:t>    }</a:t>
            </a:r>
          </a:p>
          <a:p>
            <a:r>
              <a:rPr lang="fr-FR" sz="1200" dirty="0">
                <a:latin typeface="Consolas" panose="020B0609020204030204" pitchFamily="49" charset="0"/>
                <a:cs typeface="Consolas" panose="020B0609020204030204" pitchFamily="49" charset="0"/>
              </a:rPr>
              <a:t>    </a:t>
            </a:r>
            <a:r>
              <a:rPr lang="fr-FR" sz="1200" dirty="0" err="1">
                <a:latin typeface="Consolas" panose="020B0609020204030204" pitchFamily="49" charset="0"/>
                <a:cs typeface="Consolas" panose="020B0609020204030204" pitchFamily="49" charset="0"/>
              </a:rPr>
              <a:t>fclose</a:t>
            </a:r>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a:t>
            </a:r>
          </a:p>
          <a:p>
            <a:r>
              <a:rPr lang="fr-FR" sz="1200" dirty="0">
                <a:latin typeface="Consolas" panose="020B0609020204030204" pitchFamily="49" charset="0"/>
                <a:cs typeface="Consolas" panose="020B0609020204030204" pitchFamily="49" charset="0"/>
              </a:rPr>
              <a:t>}</a:t>
            </a:r>
          </a:p>
          <a:p>
            <a:endParaRPr lang="fr-FR" sz="1200" dirty="0">
              <a:latin typeface="Consolas" panose="020B0609020204030204" pitchFamily="49" charset="0"/>
              <a:cs typeface="Consolas" panose="020B0609020204030204" pitchFamily="49" charset="0"/>
            </a:endParaRPr>
          </a:p>
          <a:p>
            <a:r>
              <a:rPr lang="fr-FR" sz="1200" dirty="0">
                <a:latin typeface="Consolas" panose="020B0609020204030204" pitchFamily="49" charset="0"/>
                <a:cs typeface="Consolas" panose="020B0609020204030204" pitchFamily="49" charset="0"/>
              </a:rPr>
              <a:t>// Écriture dans un fichier</a:t>
            </a:r>
          </a:p>
          <a:p>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 </a:t>
            </a:r>
            <a:r>
              <a:rPr lang="fr-FR" sz="1200" dirty="0" err="1">
                <a:latin typeface="Consolas" panose="020B0609020204030204" pitchFamily="49" charset="0"/>
                <a:cs typeface="Consolas" panose="020B0609020204030204" pitchFamily="49" charset="0"/>
              </a:rPr>
              <a:t>fopen</a:t>
            </a:r>
            <a:r>
              <a:rPr lang="fr-FR" sz="1200" dirty="0">
                <a:latin typeface="Consolas" panose="020B0609020204030204" pitchFamily="49" charset="0"/>
                <a:cs typeface="Consolas" panose="020B0609020204030204" pitchFamily="49" charset="0"/>
              </a:rPr>
              <a:t>('chemin/vers/le/fichier.txt', 'a'); // Append mode</a:t>
            </a:r>
          </a:p>
          <a:p>
            <a:r>
              <a:rPr lang="fr-FR" sz="1200" dirty="0">
                <a:latin typeface="Consolas" panose="020B0609020204030204" pitchFamily="49" charset="0"/>
                <a:cs typeface="Consolas" panose="020B0609020204030204" pitchFamily="49" charset="0"/>
              </a:rPr>
              <a:t>if ($</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a:t>
            </a:r>
          </a:p>
          <a:p>
            <a:r>
              <a:rPr lang="fr-FR" sz="1200" dirty="0">
                <a:latin typeface="Consolas" panose="020B0609020204030204" pitchFamily="49" charset="0"/>
                <a:cs typeface="Consolas" panose="020B0609020204030204" pitchFamily="49" charset="0"/>
              </a:rPr>
              <a:t>    </a:t>
            </a:r>
            <a:r>
              <a:rPr lang="fr-FR" sz="1200" dirty="0" err="1">
                <a:latin typeface="Consolas" panose="020B0609020204030204" pitchFamily="49" charset="0"/>
                <a:cs typeface="Consolas" panose="020B0609020204030204" pitchFamily="49" charset="0"/>
              </a:rPr>
              <a:t>fwrite</a:t>
            </a:r>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 "Nouvelle ligne\n");</a:t>
            </a:r>
          </a:p>
          <a:p>
            <a:r>
              <a:rPr lang="fr-FR" sz="1200" dirty="0">
                <a:latin typeface="Consolas" panose="020B0609020204030204" pitchFamily="49" charset="0"/>
                <a:cs typeface="Consolas" panose="020B0609020204030204" pitchFamily="49" charset="0"/>
              </a:rPr>
              <a:t>    </a:t>
            </a:r>
            <a:r>
              <a:rPr lang="fr-FR" sz="1200" dirty="0" err="1">
                <a:latin typeface="Consolas" panose="020B0609020204030204" pitchFamily="49" charset="0"/>
                <a:cs typeface="Consolas" panose="020B0609020204030204" pitchFamily="49" charset="0"/>
              </a:rPr>
              <a:t>fclose</a:t>
            </a:r>
            <a:r>
              <a:rPr lang="fr-FR" sz="1200" dirty="0">
                <a:latin typeface="Consolas" panose="020B0609020204030204" pitchFamily="49" charset="0"/>
                <a:cs typeface="Consolas" panose="020B0609020204030204" pitchFamily="49" charset="0"/>
              </a:rPr>
              <a:t>($</a:t>
            </a:r>
            <a:r>
              <a:rPr lang="fr-FR" sz="1200" dirty="0" err="1">
                <a:latin typeface="Consolas" panose="020B0609020204030204" pitchFamily="49" charset="0"/>
                <a:cs typeface="Consolas" panose="020B0609020204030204" pitchFamily="49" charset="0"/>
              </a:rPr>
              <a:t>handle</a:t>
            </a:r>
            <a:r>
              <a:rPr lang="fr-FR" sz="1200" dirty="0">
                <a:latin typeface="Consolas" panose="020B0609020204030204" pitchFamily="49" charset="0"/>
                <a:cs typeface="Consolas" panose="020B0609020204030204" pitchFamily="49" charset="0"/>
              </a:rPr>
              <a:t>);</a:t>
            </a:r>
          </a:p>
          <a:p>
            <a:r>
              <a:rPr lang="fr-FR" sz="1200" dirty="0">
                <a:latin typeface="Consolas" panose="020B0609020204030204" pitchFamily="49" charset="0"/>
                <a:cs typeface="Consolas" panose="020B0609020204030204" pitchFamily="49" charset="0"/>
              </a:rPr>
              <a:t>}</a:t>
            </a:r>
          </a:p>
          <a:p>
            <a:endParaRPr lang="fr-FR" sz="1600" b="1" dirty="0">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175706F3-3008-7234-7CD4-DD6394CF0A68}"/>
              </a:ext>
            </a:extLst>
          </p:cNvPr>
          <p:cNvSpPr/>
          <p:nvPr/>
        </p:nvSpPr>
        <p:spPr>
          <a:xfrm>
            <a:off x="6096000" y="2298054"/>
            <a:ext cx="5273040" cy="380114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t"/>
          <a:lstStyle/>
          <a:p>
            <a:endParaRPr lang="fr-FR" sz="1600" b="1" dirty="0">
              <a:latin typeface="Consolas" panose="020B0609020204030204" pitchFamily="49" charset="0"/>
              <a:cs typeface="Consolas" panose="020B0609020204030204" pitchFamily="49" charset="0"/>
            </a:endParaRPr>
          </a:p>
          <a:p>
            <a:endParaRPr lang="fr-FR" sz="1600" b="1" dirty="0">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'r'</a:t>
            </a:r>
            <a:r>
              <a:rPr kumimoji="0" lang="fr-FR" altLang="fr-FR" sz="1600" b="0" i="0" u="none" strike="noStrike" cap="none" normalizeH="0" baseline="0" dirty="0">
                <a:ln>
                  <a:noFill/>
                </a:ln>
                <a:solidFill>
                  <a:srgbClr val="0D0D0D"/>
                </a:solidFill>
                <a:effectLst/>
                <a:latin typeface="Söhne"/>
              </a:rPr>
              <a:t> : Ouvre le fichier en lecture seule; le pointeur commence au début du fichier.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'r+'</a:t>
            </a:r>
            <a:r>
              <a:rPr kumimoji="0" lang="fr-FR" altLang="fr-FR" sz="1600" b="0" i="0" u="none" strike="noStrike" cap="none" normalizeH="0" baseline="0" dirty="0">
                <a:ln>
                  <a:noFill/>
                </a:ln>
                <a:solidFill>
                  <a:srgbClr val="0D0D0D"/>
                </a:solidFill>
                <a:effectLst/>
                <a:latin typeface="Söhne"/>
              </a:rPr>
              <a:t> : Ouvre le fichier pour lecture et écriture; le pointeur commence au début du fichier.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'w'</a:t>
            </a:r>
            <a:r>
              <a:rPr kumimoji="0" lang="fr-FR" altLang="fr-FR" sz="1600" b="0" i="0" u="none" strike="noStrike" cap="none" normalizeH="0" baseline="0" dirty="0">
                <a:ln>
                  <a:noFill/>
                </a:ln>
                <a:solidFill>
                  <a:srgbClr val="0D0D0D"/>
                </a:solidFill>
                <a:effectLst/>
                <a:latin typeface="Söhne"/>
              </a:rPr>
              <a:t> : Ouvre le fichier en écriture seule; place le pointeur au début du fichier et réduit la longueur du fichier à zéro. Si le fichier n'existe pas, tente de le créer.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'w+'</a:t>
            </a:r>
            <a:r>
              <a:rPr kumimoji="0" lang="fr-FR" altLang="fr-FR" sz="1600" b="0" i="0" u="none" strike="noStrike" cap="none" normalizeH="0" baseline="0" dirty="0">
                <a:ln>
                  <a:noFill/>
                </a:ln>
                <a:solidFill>
                  <a:srgbClr val="0D0D0D"/>
                </a:solidFill>
                <a:effectLst/>
                <a:latin typeface="Söhne"/>
              </a:rPr>
              <a:t> : Ouvre le fichier pour lecture et écriture; sinon, a le même comportement que </a:t>
            </a:r>
            <a:r>
              <a:rPr kumimoji="0" lang="fr-FR" altLang="fr-FR" sz="1600" b="1" i="0" u="none" strike="noStrike" cap="none" normalizeH="0" baseline="0" dirty="0">
                <a:ln>
                  <a:noFill/>
                </a:ln>
                <a:solidFill>
                  <a:srgbClr val="0D0D0D"/>
                </a:solidFill>
                <a:effectLst/>
                <a:latin typeface="Söhne Mono"/>
              </a:rPr>
              <a:t>'w'</a:t>
            </a:r>
            <a:r>
              <a:rPr kumimoji="0" lang="fr-FR" altLang="fr-FR" sz="1600" b="0" i="0" u="none" strike="noStrike" cap="none" normalizeH="0" baseline="0" dirty="0">
                <a:ln>
                  <a:noFill/>
                </a:ln>
                <a:solidFill>
                  <a:srgbClr val="0D0D0D"/>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'a'</a:t>
            </a:r>
            <a:r>
              <a:rPr kumimoji="0" lang="fr-FR" altLang="fr-FR" sz="1600" b="0" i="0" u="none" strike="noStrike" cap="none" normalizeH="0" baseline="0" dirty="0">
                <a:ln>
                  <a:noFill/>
                </a:ln>
                <a:solidFill>
                  <a:srgbClr val="0D0D0D"/>
                </a:solidFill>
                <a:effectLst/>
                <a:latin typeface="Söhne"/>
              </a:rPr>
              <a:t> : Ouvre le fichier en écriture seule; le pointeur va à la fin du fichier. Si le fichier n'existe pas, tente de le créer.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rgbClr val="0D0D0D"/>
                </a:solidFill>
                <a:effectLst/>
                <a:latin typeface="Söhne Mono"/>
              </a:rPr>
              <a:t>'a+'</a:t>
            </a:r>
            <a:r>
              <a:rPr kumimoji="0" lang="fr-FR" altLang="fr-FR" sz="1600" b="0" i="0" u="none" strike="noStrike" cap="none" normalizeH="0" baseline="0" dirty="0">
                <a:ln>
                  <a:noFill/>
                </a:ln>
                <a:solidFill>
                  <a:srgbClr val="0D0D0D"/>
                </a:solidFill>
                <a:effectLst/>
                <a:latin typeface="Söhne"/>
              </a:rPr>
              <a:t> : Ouvre le fichier pour lecture et écriture; le pointeur va à la fin du fichier. Si le fichier n'existe pas, tente de le créer.</a:t>
            </a:r>
          </a:p>
          <a:p>
            <a:endParaRPr lang="fr-FR" sz="1600" b="1" dirty="0">
              <a:latin typeface="Consolas" panose="020B0609020204030204" pitchFamily="49" charset="0"/>
              <a:cs typeface="Consolas" panose="020B0609020204030204" pitchFamily="49" charset="0"/>
            </a:endParaRPr>
          </a:p>
          <a:p>
            <a:endParaRPr lang="fr-FR" sz="16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B025A857-A139-3867-86C3-2AE4DD4DD14F}"/>
              </a:ext>
            </a:extLst>
          </p:cNvPr>
          <p:cNvSpPr>
            <a:spLocks noChangeArrowheads="1"/>
          </p:cNvSpPr>
          <p:nvPr/>
        </p:nvSpPr>
        <p:spPr bwMode="auto">
          <a:xfrm>
            <a:off x="0" y="-323165"/>
            <a:ext cx="184731"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604131E6-6935-1CAC-75B5-9F104AFFC2A2}"/>
              </a:ext>
            </a:extLst>
          </p:cNvPr>
          <p:cNvSpPr>
            <a:spLocks noGrp="1"/>
          </p:cNvSpPr>
          <p:nvPr>
            <p:ph type="sldNum" sz="quarter" idx="12"/>
          </p:nvPr>
        </p:nvSpPr>
        <p:spPr/>
        <p:txBody>
          <a:bodyPr/>
          <a:lstStyle/>
          <a:p>
            <a:pPr rtl="0"/>
            <a:fld id="{3A98EE3D-8CD1-4C3F-BD1C-C98C9596463C}" type="slidenum">
              <a:rPr lang="fr-FR" noProof="0" smtClean="0"/>
              <a:t>19</a:t>
            </a:fld>
            <a:endParaRPr lang="fr-FR" noProof="0"/>
          </a:p>
        </p:txBody>
      </p:sp>
    </p:spTree>
    <p:extLst>
      <p:ext uri="{BB962C8B-B14F-4D97-AF65-F5344CB8AC3E}">
        <p14:creationId xmlns:p14="http://schemas.microsoft.com/office/powerpoint/2010/main" val="3406231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9C3D8B0C-EFCA-45C3-A92A-E9B17B93DAF7}"/>
              </a:ext>
            </a:extLst>
          </p:cNvPr>
          <p:cNvSpPr>
            <a:spLocks noGrp="1"/>
          </p:cNvSpPr>
          <p:nvPr>
            <p:ph type="title"/>
          </p:nvPr>
        </p:nvSpPr>
        <p:spPr>
          <a:xfrm>
            <a:off x="7955459" y="495297"/>
            <a:ext cx="3392382" cy="1675219"/>
          </a:xfrm>
        </p:spPr>
        <p:txBody>
          <a:bodyPr rtlCol="0"/>
          <a:lstStyle/>
          <a:p>
            <a:pPr rtl="0"/>
            <a:r>
              <a:rPr lang="fr-FR" dirty="0"/>
              <a:t>EXERCICES</a:t>
            </a:r>
          </a:p>
        </p:txBody>
      </p:sp>
      <p:pic>
        <p:nvPicPr>
          <p:cNvPr id="8" name="Espace réservé d’image 7" descr="Femmes tenant un crayon">
            <a:extLst>
              <a:ext uri="{FF2B5EF4-FFF2-40B4-BE49-F238E27FC236}">
                <a16:creationId xmlns:a16="http://schemas.microsoft.com/office/drawing/2014/main" id="{70DBF7FC-769A-4F7C-86D9-921C2CEAF6EC}"/>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1705" y="0"/>
            <a:ext cx="7534275" cy="6858000"/>
          </a:xfrm>
        </p:spPr>
      </p:pic>
      <p:sp>
        <p:nvSpPr>
          <p:cNvPr id="6" name="Espace réservé du contenu 5">
            <a:extLst>
              <a:ext uri="{FF2B5EF4-FFF2-40B4-BE49-F238E27FC236}">
                <a16:creationId xmlns:a16="http://schemas.microsoft.com/office/drawing/2014/main" id="{1E9EACF6-E8C5-485F-B9F8-6F314C3308D6}"/>
              </a:ext>
            </a:extLst>
          </p:cNvPr>
          <p:cNvSpPr>
            <a:spLocks noGrp="1"/>
          </p:cNvSpPr>
          <p:nvPr>
            <p:ph sz="quarter" idx="14"/>
          </p:nvPr>
        </p:nvSpPr>
        <p:spPr>
          <a:xfrm>
            <a:off x="7955459" y="2051248"/>
            <a:ext cx="3392382" cy="4047446"/>
          </a:xfrm>
        </p:spPr>
        <p:txBody>
          <a:bodyPr rtlCol="0"/>
          <a:lstStyle/>
          <a:p>
            <a:pPr marL="216000" indent="-216000" rtl="0">
              <a:buFont typeface="Wingdings" panose="05000000000000000000" pitchFamily="2" charset="2"/>
              <a:buChar char="§"/>
            </a:pPr>
            <a:r>
              <a:rPr lang="fr-FR" dirty="0"/>
              <a:t>Faire une fonction qui  affiche une collection de nombre en deux listes, les nombres pairs tri en ordre croissant et les nombres impairs trié en nombre décroissant.</a:t>
            </a:r>
          </a:p>
        </p:txBody>
      </p:sp>
      <p:sp>
        <p:nvSpPr>
          <p:cNvPr id="2" name="Espace réservé du pied de page 1">
            <a:extLst>
              <a:ext uri="{FF2B5EF4-FFF2-40B4-BE49-F238E27FC236}">
                <a16:creationId xmlns:a16="http://schemas.microsoft.com/office/drawing/2014/main" id="{B52ED612-3B86-4C7F-84E4-8A55085F0D64}"/>
              </a:ext>
            </a:extLst>
          </p:cNvPr>
          <p:cNvSpPr>
            <a:spLocks noGrp="1"/>
          </p:cNvSpPr>
          <p:nvPr>
            <p:ph type="ftr" sz="quarter" idx="11"/>
          </p:nvPr>
        </p:nvSpPr>
        <p:spPr/>
        <p:txBody>
          <a:bodyPr/>
          <a:lstStyle/>
          <a:p>
            <a:pPr algn="l" rtl="0"/>
            <a:r>
              <a:rPr lang="fr-FR" noProof="0"/>
              <a:t>Guillaume FOVEAU 2026</a:t>
            </a:r>
            <a:endParaRPr lang="fr" noProof="0" dirty="0"/>
          </a:p>
        </p:txBody>
      </p:sp>
      <p:sp>
        <p:nvSpPr>
          <p:cNvPr id="7" name="Espace réservé du numéro de diapositive 6">
            <a:extLst>
              <a:ext uri="{FF2B5EF4-FFF2-40B4-BE49-F238E27FC236}">
                <a16:creationId xmlns:a16="http://schemas.microsoft.com/office/drawing/2014/main" id="{60A936E1-6C57-473F-A9B6-F73F29161091}"/>
              </a:ext>
            </a:extLst>
          </p:cNvPr>
          <p:cNvSpPr>
            <a:spLocks noGrp="1"/>
          </p:cNvSpPr>
          <p:nvPr>
            <p:ph type="sldNum" sz="quarter" idx="12"/>
          </p:nvPr>
        </p:nvSpPr>
        <p:spPr/>
        <p:txBody>
          <a:bodyPr/>
          <a:lstStyle/>
          <a:p>
            <a:pPr rtl="0"/>
            <a:fld id="{F603CDE5-C1D8-4EDD-870F-A498BAFA520F}" type="slidenum">
              <a:rPr lang="en-US" noProof="0" smtClean="0"/>
              <a:t>20</a:t>
            </a:fld>
            <a:endParaRPr lang="en-US" noProof="0" dirty="0"/>
          </a:p>
        </p:txBody>
      </p:sp>
    </p:spTree>
    <p:extLst>
      <p:ext uri="{BB962C8B-B14F-4D97-AF65-F5344CB8AC3E}">
        <p14:creationId xmlns:p14="http://schemas.microsoft.com/office/powerpoint/2010/main" val="2955362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A019A2A-640A-4285-BA5E-7A47E95D04EC}"/>
              </a:ext>
            </a:extLst>
          </p:cNvPr>
          <p:cNvSpPr>
            <a:spLocks noGrp="1"/>
          </p:cNvSpPr>
          <p:nvPr>
            <p:ph type="title"/>
          </p:nvPr>
        </p:nvSpPr>
        <p:spPr/>
        <p:txBody>
          <a:bodyPr rtlCol="0"/>
          <a:lstStyle/>
          <a:p>
            <a:pPr rtl="0"/>
            <a:r>
              <a:rPr lang="fr-FR" dirty="0"/>
              <a:t>EXERCICES </a:t>
            </a:r>
          </a:p>
        </p:txBody>
      </p:sp>
      <p:pic>
        <p:nvPicPr>
          <p:cNvPr id="15" name="Espace réservé d’image 14" descr="personnes à une table de conférence consultant des ordinateurs portables">
            <a:extLst>
              <a:ext uri="{FF2B5EF4-FFF2-40B4-BE49-F238E27FC236}">
                <a16:creationId xmlns:a16="http://schemas.microsoft.com/office/drawing/2014/main" id="{60700499-F5C8-4234-A554-8E26834CCF11}"/>
              </a:ext>
            </a:extLst>
          </p:cNvPr>
          <p:cNvPicPr>
            <a:picLocks noGrp="1" noChangeAspect="1"/>
          </p:cNvPicPr>
          <p:nvPr>
            <p:ph type="pic" idx="1"/>
          </p:nvPr>
        </p:nvPicPr>
        <p:blipFill>
          <a:blip r:embed="rId3"/>
          <a:srcRect t="6" b="6"/>
          <a:stretch>
            <a:fillRect/>
          </a:stretch>
        </p:blipFill>
        <p:spPr/>
      </p:pic>
      <p:pic>
        <p:nvPicPr>
          <p:cNvPr id="14" name="Espace réservé d’image 13" descr="Salle de réunion comprenant des personnes">
            <a:extLst>
              <a:ext uri="{FF2B5EF4-FFF2-40B4-BE49-F238E27FC236}">
                <a16:creationId xmlns:a16="http://schemas.microsoft.com/office/drawing/2014/main" id="{31727492-A578-4CB1-994B-D17649C2D4AA}"/>
              </a:ext>
            </a:extLst>
          </p:cNvPr>
          <p:cNvPicPr>
            <a:picLocks noGrp="1" noChangeAspect="1"/>
          </p:cNvPicPr>
          <p:nvPr>
            <p:ph type="pic" idx="13"/>
          </p:nvPr>
        </p:nvPicPr>
        <p:blipFill>
          <a:blip r:embed="rId4">
            <a:extLst>
              <a:ext uri="{28A0092B-C50C-407E-A947-70E740481C1C}">
                <a14:useLocalDpi xmlns:a14="http://schemas.microsoft.com/office/drawing/2010/main" val="0"/>
              </a:ext>
            </a:extLst>
          </a:blip>
          <a:srcRect/>
          <a:stretch>
            <a:fillRect/>
          </a:stretch>
        </p:blipFill>
        <p:spPr/>
      </p:pic>
      <p:sp>
        <p:nvSpPr>
          <p:cNvPr id="4" name="Espace réservé du texte 3">
            <a:extLst>
              <a:ext uri="{FF2B5EF4-FFF2-40B4-BE49-F238E27FC236}">
                <a16:creationId xmlns:a16="http://schemas.microsoft.com/office/drawing/2014/main" id="{FBA1D6E0-6A9C-4ADB-984E-B54DD59C6DF0}"/>
              </a:ext>
            </a:extLst>
          </p:cNvPr>
          <p:cNvSpPr>
            <a:spLocks noGrp="1"/>
          </p:cNvSpPr>
          <p:nvPr>
            <p:ph sz="quarter" idx="14"/>
          </p:nvPr>
        </p:nvSpPr>
        <p:spPr>
          <a:xfrm>
            <a:off x="8355530" y="1941695"/>
            <a:ext cx="3394511" cy="3924000"/>
          </a:xfrm>
        </p:spPr>
        <p:txBody>
          <a:bodyPr rtlCol="0"/>
          <a:lstStyle/>
          <a:p>
            <a:pPr marL="216000" indent="-216000" rtl="0">
              <a:buFont typeface="Wingdings" panose="05000000000000000000" pitchFamily="2" charset="2"/>
              <a:buChar char="§"/>
            </a:pPr>
            <a:r>
              <a:rPr lang="fr-FR" dirty="0"/>
              <a:t>Pour </a:t>
            </a:r>
            <a:r>
              <a:rPr lang="fr-FR" dirty="0" err="1"/>
              <a:t>Student</a:t>
            </a:r>
            <a:r>
              <a:rPr lang="fr-FR" dirty="0"/>
              <a:t> PARTY CORP, Afficher la saisie du formulaire sur une page avec la méthode GET puis POST sur une autre page.</a:t>
            </a:r>
          </a:p>
          <a:p>
            <a:pPr marL="216000" indent="-216000" rtl="0">
              <a:buFont typeface="Wingdings" panose="05000000000000000000" pitchFamily="2" charset="2"/>
              <a:buChar char="§"/>
            </a:pPr>
            <a:r>
              <a:rPr lang="fr-FR" dirty="0"/>
              <a:t>Calculer avec un objet session le nombre de fois que l’on vient sur la page du formulaire.</a:t>
            </a:r>
          </a:p>
          <a:p>
            <a:pPr marL="216000" indent="-216000" rtl="0">
              <a:buFont typeface="Wingdings" panose="05000000000000000000" pitchFamily="2" charset="2"/>
              <a:buChar char="§"/>
            </a:pPr>
            <a:r>
              <a:rPr lang="fr-FR" dirty="0"/>
              <a:t>Faire un programme qui additionne deux chaines et affiche sur la page la puissance totale des enceintes.</a:t>
            </a:r>
          </a:p>
          <a:p>
            <a:pPr marL="216000" indent="-216000" rtl="0">
              <a:buFont typeface="Wingdings" panose="05000000000000000000" pitchFamily="2" charset="2"/>
              <a:buChar char="§"/>
            </a:pPr>
            <a:endParaRPr lang="fr-FR" dirty="0"/>
          </a:p>
        </p:txBody>
      </p:sp>
      <p:sp>
        <p:nvSpPr>
          <p:cNvPr id="2" name="Espace réservé du pied de page 1">
            <a:extLst>
              <a:ext uri="{FF2B5EF4-FFF2-40B4-BE49-F238E27FC236}">
                <a16:creationId xmlns:a16="http://schemas.microsoft.com/office/drawing/2014/main" id="{336570A6-70F5-40FE-BC8D-A80B0E72B539}"/>
              </a:ext>
            </a:extLst>
          </p:cNvPr>
          <p:cNvSpPr>
            <a:spLocks noGrp="1"/>
          </p:cNvSpPr>
          <p:nvPr>
            <p:ph type="ftr" sz="quarter" idx="11"/>
          </p:nvPr>
        </p:nvSpPr>
        <p:spPr/>
        <p:txBody>
          <a:bodyPr/>
          <a:lstStyle/>
          <a:p>
            <a:pPr algn="l" rtl="0"/>
            <a:r>
              <a:rPr lang="fr-FR" noProof="0"/>
              <a:t>Guillaume FOVEAU 2026</a:t>
            </a:r>
            <a:endParaRPr lang="fr" noProof="0" dirty="0"/>
          </a:p>
        </p:txBody>
      </p:sp>
      <p:sp>
        <p:nvSpPr>
          <p:cNvPr id="7" name="Espace réservé du numéro de diapositive 6">
            <a:extLst>
              <a:ext uri="{FF2B5EF4-FFF2-40B4-BE49-F238E27FC236}">
                <a16:creationId xmlns:a16="http://schemas.microsoft.com/office/drawing/2014/main" id="{9D88FDA7-1B41-4EBC-8E6E-3CADDCDD4F16}"/>
              </a:ext>
            </a:extLst>
          </p:cNvPr>
          <p:cNvSpPr>
            <a:spLocks noGrp="1"/>
          </p:cNvSpPr>
          <p:nvPr>
            <p:ph type="sldNum" sz="quarter" idx="12"/>
          </p:nvPr>
        </p:nvSpPr>
        <p:spPr/>
        <p:txBody>
          <a:bodyPr/>
          <a:lstStyle/>
          <a:p>
            <a:pPr rtl="0"/>
            <a:fld id="{F603CDE5-C1D8-4EDD-870F-A498BAFA520F}" type="slidenum">
              <a:rPr lang="en-US" noProof="0" smtClean="0"/>
              <a:t>21</a:t>
            </a:fld>
            <a:endParaRPr lang="en-US" noProof="0" dirty="0"/>
          </a:p>
        </p:txBody>
      </p:sp>
    </p:spTree>
    <p:extLst>
      <p:ext uri="{BB962C8B-B14F-4D97-AF65-F5344CB8AC3E}">
        <p14:creationId xmlns:p14="http://schemas.microsoft.com/office/powerpoint/2010/main" val="1339243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4EC38A0-3DAB-4B29-9BBE-45A9EBDBF417}"/>
              </a:ext>
            </a:extLst>
          </p:cNvPr>
          <p:cNvSpPr>
            <a:spLocks noGrp="1"/>
          </p:cNvSpPr>
          <p:nvPr>
            <p:ph type="title"/>
          </p:nvPr>
        </p:nvSpPr>
        <p:spPr/>
        <p:txBody>
          <a:bodyPr rtlCol="0"/>
          <a:lstStyle/>
          <a:p>
            <a:pPr rtl="0"/>
            <a:r>
              <a:rPr lang="fr-FR"/>
              <a:t>MERCI DE VOTRE ATTENTION!</a:t>
            </a:r>
          </a:p>
        </p:txBody>
      </p:sp>
      <p:pic>
        <p:nvPicPr>
          <p:cNvPr id="14" name="Espace réservé d’image 13" descr="Jeunes femmes dans une bibliothèque">
            <a:extLst>
              <a:ext uri="{FF2B5EF4-FFF2-40B4-BE49-F238E27FC236}">
                <a16:creationId xmlns:a16="http://schemas.microsoft.com/office/drawing/2014/main" id="{E923BD5B-22B6-4E92-B95F-5F7B6467380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450662" y="606425"/>
            <a:ext cx="11285913" cy="3536950"/>
          </a:xfrm>
          <a:prstGeom prst="rect">
            <a:avLst/>
          </a:prstGeom>
        </p:spPr>
      </p:pic>
      <p:sp>
        <p:nvSpPr>
          <p:cNvPr id="2" name="Espace réservé du pied de page 1">
            <a:extLst>
              <a:ext uri="{FF2B5EF4-FFF2-40B4-BE49-F238E27FC236}">
                <a16:creationId xmlns:a16="http://schemas.microsoft.com/office/drawing/2014/main" id="{C40D31C7-CABD-7504-10CF-6BB3B682726C}"/>
              </a:ext>
            </a:extLst>
          </p:cNvPr>
          <p:cNvSpPr>
            <a:spLocks noGrp="1"/>
          </p:cNvSpPr>
          <p:nvPr>
            <p:ph type="ftr" sz="quarter" idx="11"/>
          </p:nvPr>
        </p:nvSpPr>
        <p:spPr/>
        <p:txBody>
          <a:bodyPr/>
          <a:lstStyle/>
          <a:p>
            <a:pPr algn="l" rtl="0"/>
            <a:r>
              <a:rPr lang="fr-FR" noProof="0"/>
              <a:t>Guillaume FOVEAU 2026</a:t>
            </a:r>
          </a:p>
        </p:txBody>
      </p:sp>
      <p:sp>
        <p:nvSpPr>
          <p:cNvPr id="3" name="Espace réservé du numéro de diapositive 2">
            <a:extLst>
              <a:ext uri="{FF2B5EF4-FFF2-40B4-BE49-F238E27FC236}">
                <a16:creationId xmlns:a16="http://schemas.microsoft.com/office/drawing/2014/main" id="{FE95288E-D866-4D17-138D-7DEC623659B3}"/>
              </a:ext>
            </a:extLst>
          </p:cNvPr>
          <p:cNvSpPr>
            <a:spLocks noGrp="1"/>
          </p:cNvSpPr>
          <p:nvPr>
            <p:ph type="sldNum" sz="quarter" idx="12"/>
          </p:nvPr>
        </p:nvSpPr>
        <p:spPr/>
        <p:txBody>
          <a:bodyPr/>
          <a:lstStyle/>
          <a:p>
            <a:pPr rtl="0"/>
            <a:fld id="{F603CDE5-C1D8-4EDD-870F-A498BAFA520F}" type="slidenum">
              <a:rPr lang="fr-FR" noProof="0" smtClean="0"/>
              <a:t>22</a:t>
            </a:fld>
            <a:endParaRPr lang="fr-FR" noProof="0"/>
          </a:p>
        </p:txBody>
      </p:sp>
    </p:spTree>
    <p:extLst>
      <p:ext uri="{BB962C8B-B14F-4D97-AF65-F5344CB8AC3E}">
        <p14:creationId xmlns:p14="http://schemas.microsoft.com/office/powerpoint/2010/main" val="3798308848"/>
      </p:ext>
    </p:extLst>
  </p:cSld>
  <p:clrMapOvr>
    <a:masterClrMapping/>
  </p:clrMapOvr>
</p:sld>
</file>

<file path=ppt/theme/theme1.xml><?xml version="1.0" encoding="utf-8"?>
<a:theme xmlns:a="http://schemas.openxmlformats.org/drawingml/2006/main" name="DividendVTI">
  <a:themeElements>
    <a:clrScheme name="">
      <a:dk1>
        <a:srgbClr val="000000"/>
      </a:dk1>
      <a:lt1>
        <a:srgbClr val="FFFFFF"/>
      </a:lt1>
      <a:dk2>
        <a:srgbClr val="242F41"/>
      </a:dk2>
      <a:lt2>
        <a:srgbClr val="E2E6E8"/>
      </a:lt2>
      <a:accent1>
        <a:srgbClr val="CE7242"/>
      </a:accent1>
      <a:accent2>
        <a:srgbClr val="BC303B"/>
      </a:accent2>
      <a:accent3>
        <a:srgbClr val="CE4287"/>
      </a:accent3>
      <a:accent4>
        <a:srgbClr val="BC30AF"/>
      </a:accent4>
      <a:accent5>
        <a:srgbClr val="A042CE"/>
      </a:accent5>
      <a:accent6>
        <a:srgbClr val="6444C2"/>
      </a:accent6>
      <a:hlink>
        <a:srgbClr val="3B8AB3"/>
      </a:hlink>
      <a:folHlink>
        <a:srgbClr val="7F7F7F"/>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330679_TF00870617_Win32" id="{0C21701E-A02E-4477-B0D7-D47A31FC1B2D}" vid="{49D40C53-E881-496D-A6A9-546E4C7AC34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Formation au sein d'une entreprise traditionnelle</Template>
  <TotalTime>13308</TotalTime>
  <Words>2483</Words>
  <Application>Microsoft Office PowerPoint</Application>
  <PresentationFormat>Grand écran</PresentationFormat>
  <Paragraphs>357</Paragraphs>
  <Slides>22</Slides>
  <Notes>12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22</vt:i4>
      </vt:variant>
    </vt:vector>
  </HeadingPairs>
  <TitlesOfParts>
    <vt:vector size="31" baseType="lpstr">
      <vt:lpstr>Arial</vt:lpstr>
      <vt:lpstr>Calibri</vt:lpstr>
      <vt:lpstr>Consolas</vt:lpstr>
      <vt:lpstr>Gill Sans MT</vt:lpstr>
      <vt:lpstr>Söhne</vt:lpstr>
      <vt:lpstr>Söhne Mono</vt:lpstr>
      <vt:lpstr>Wingdings</vt:lpstr>
      <vt:lpstr>Wingdings 2</vt:lpstr>
      <vt:lpstr>DividendVTI</vt:lpstr>
      <vt:lpstr>PHP BASICS</vt:lpstr>
      <vt:lpstr>PHP</vt:lpstr>
      <vt:lpstr>ARCHITECTURE WEB PHP</vt:lpstr>
      <vt:lpstr>INSTALLATION PHP</vt:lpstr>
      <vt:lpstr>PHP BASICS</vt:lpstr>
      <vt:lpstr>PHP BASICS</vt:lpstr>
      <vt:lpstr>PHP BASICS</vt:lpstr>
      <vt:lpstr>PHP BASICS</vt:lpstr>
      <vt:lpstr>PHP BASICS</vt:lpstr>
      <vt:lpstr>Erreurs fréquentes</vt:lpstr>
      <vt:lpstr>Les classes</vt:lpstr>
      <vt:lpstr>Les exceptions</vt:lpstr>
      <vt:lpstr>Les sessions PHP</vt:lpstr>
      <vt:lpstr>Mécanique de gestion des sessions</vt:lpstr>
      <vt:lpstr>Les sessions avec PHP</vt:lpstr>
      <vt:lpstr>Les COLLECTIONS</vt:lpstr>
      <vt:lpstr>Fonction TABLEAU</vt:lpstr>
      <vt:lpstr>Fonction TABLEAU</vt:lpstr>
      <vt:lpstr>Les ACCES FICHIERS</vt:lpstr>
      <vt:lpstr>EXERCICES</vt:lpstr>
      <vt:lpstr>EXERCICES </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Enseigner un cours</dc:title>
  <dc:creator>Guillaume FOVEAU</dc:creator>
  <cp:lastModifiedBy>Guillaume FOVEAU</cp:lastModifiedBy>
  <cp:revision>2</cp:revision>
  <dcterms:created xsi:type="dcterms:W3CDTF">2024-03-02T11:02:11Z</dcterms:created>
  <dcterms:modified xsi:type="dcterms:W3CDTF">2026-04-09T10:41:50Z</dcterms:modified>
</cp:coreProperties>
</file>