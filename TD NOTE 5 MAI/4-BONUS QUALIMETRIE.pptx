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1"/>
  </p:sldMasterIdLst>
  <p:notesMasterIdLst>
    <p:notesMasterId r:id="rId6"/>
  </p:notesMasterIdLst>
  <p:handoutMasterIdLst>
    <p:handoutMasterId r:id="rId7"/>
  </p:handoutMasterIdLst>
  <p:sldIdLst>
    <p:sldId id="256" r:id="rId2"/>
    <p:sldId id="301" r:id="rId3"/>
    <p:sldId id="319" r:id="rId4"/>
    <p:sldId id="318" r:id="rId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5C84C1-6AD3-41BA-AA4D-7E4049EE65D2}" v="1" dt="2026-04-03T11:05:10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34" autoAdjust="0"/>
  </p:normalViewPr>
  <p:slideViewPr>
    <p:cSldViewPr snapToGrid="0">
      <p:cViewPr varScale="1">
        <p:scale>
          <a:sx n="75" d="100"/>
          <a:sy n="75" d="100"/>
        </p:scale>
        <p:origin x="979" y="2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9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E26D37A0-F398-4276-AAF6-E62AA90BC9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D96B402-FD6E-4995-8160-C6DD76DAAC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1E7AF26-C5F5-4F83-9BCC-79FC7D6C84FB}" type="datetime1">
              <a:rPr lang="fr-FR" smtClean="0"/>
              <a:t>03/04/2026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BA7967-B488-405D-84A2-64F6D9128F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A65115A-3EB4-4B47-8F4B-4F42519BF9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D0885D5-D443-4228-8B2C-B9DF9A30D57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78913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1A845AF-11F2-4347-97C4-4CF5A0EEB147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9D2F9AB-3C90-481E-8C34-4F549BF455D7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917179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D2F9AB-3C90-481E-8C34-4F549BF455D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9121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D2F9AB-3C90-481E-8C34-4F549BF455D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921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D2F9AB-3C90-481E-8C34-4F549BF455D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280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D2F9AB-3C90-481E-8C34-4F549BF455D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044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381BC2FB-C1E9-49DF-8D05-969E58D3C331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pied de page 5">
            <a:extLst>
              <a:ext uri="{FF2B5EF4-FFF2-40B4-BE49-F238E27FC236}">
                <a16:creationId xmlns:a16="http://schemas.microsoft.com/office/drawing/2014/main" id="{3FB45199-F13E-4CB5-AF62-71432CD4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</p:spTree>
    <p:extLst>
      <p:ext uri="{BB962C8B-B14F-4D97-AF65-F5344CB8AC3E}">
        <p14:creationId xmlns:p14="http://schemas.microsoft.com/office/powerpoint/2010/main" val="3800925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03CD5F9-E338-4782-805D-9E8CC8AB326B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Guillaume FOVEAU 2026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59F479D-7533-4EEF-A06F-7CD2FE3DB90D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0703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4E251CA5-BE9B-4B4F-8F52-F253B67FE25E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pied de page 5">
            <a:extLst>
              <a:ext uri="{FF2B5EF4-FFF2-40B4-BE49-F238E27FC236}">
                <a16:creationId xmlns:a16="http://schemas.microsoft.com/office/drawing/2014/main" id="{CAD31966-421C-41DC-9B46-21B1CD73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  <p:sp>
        <p:nvSpPr>
          <p:cNvPr id="12" name="Rectangle 11">
            <a:extLst>
              <a:ext uri="{FF2B5EF4-FFF2-40B4-BE49-F238E27FC236}">
                <a16:creationId xmlns:a16="http://schemas.microsoft.com/office/drawing/2014/main" id="{AF9102ED-C049-4F62-A2D8-58981A0621E3}"/>
              </a:ext>
            </a:extLst>
          </p:cNvPr>
          <p:cNvSpPr>
            <a:spLocks noChangeAspect="1"/>
          </p:cNvSpPr>
          <p:nvPr userDrawn="1"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CF5F73D5-EFB4-4DAE-8CBA-1128F10D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2B92446D-E0AD-4899-86E1-DFBB50D9214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9BF0768A-BCD3-4064-8FE0-C439326F00D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63523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50CE4CA-34EA-472D-A23C-1DE165FCAA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B9EA0CE6-CEFD-4AF0-93CE-ECA710F74022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2AC1173-613F-48B1-B860-00397875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0" name="Espace réservé du pied de page 5">
            <a:extLst>
              <a:ext uri="{FF2B5EF4-FFF2-40B4-BE49-F238E27FC236}">
                <a16:creationId xmlns:a16="http://schemas.microsoft.com/office/drawing/2014/main" id="{94036C93-814B-4155-A748-7731CA60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DA4EE69F-D906-40FA-8109-46DF1B1A16FA}"/>
              </a:ext>
            </a:extLst>
          </p:cNvPr>
          <p:cNvSpPr>
            <a:spLocks noChangeAspect="1"/>
          </p:cNvSpPr>
          <p:nvPr userDrawn="1"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DC41C5E-3615-4EA8-B8E6-E2B196256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9555D9C2-1EA2-4557-9496-E7AEA7A128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4" name="Espace réservé du contenu 3">
            <a:extLst>
              <a:ext uri="{FF2B5EF4-FFF2-40B4-BE49-F238E27FC236}">
                <a16:creationId xmlns:a16="http://schemas.microsoft.com/office/drawing/2014/main" id="{A464C6A4-3497-4DA5-945D-7A771E383A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91C3F39A-C070-4EEB-9285-4EFBEE5FB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16" name="Espace réservé du contenu 5">
            <a:extLst>
              <a:ext uri="{FF2B5EF4-FFF2-40B4-BE49-F238E27FC236}">
                <a16:creationId xmlns:a16="http://schemas.microsoft.com/office/drawing/2014/main" id="{07E4AC67-32FA-4B42-9340-5E57C82F743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19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F22525-79A2-451F-9944-47D4183A45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D379A592-1A0A-4EAF-BD18-F1BE14CA8535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9B8C25-AF44-4D9D-A667-69D9A92B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F54790-C8AC-4CF8-8E89-80C5C90F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20220C-6241-4A3B-9017-445FC82876DD}"/>
              </a:ext>
            </a:extLst>
          </p:cNvPr>
          <p:cNvSpPr>
            <a:spLocks noChangeAspect="1"/>
          </p:cNvSpPr>
          <p:nvPr userDrawn="1"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2206A44-565D-4C18-8891-86387B90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300412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A4B42F-2C80-4037-BF8E-C209D59D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35376"/>
            <a:ext cx="2844799" cy="365125"/>
          </a:xfrm>
        </p:spPr>
        <p:txBody>
          <a:bodyPr rtlCol="0"/>
          <a:lstStyle/>
          <a:p>
            <a:pPr rtl="0"/>
            <a:fld id="{B41C31F1-6549-4D35-8FE2-ADA41A9DFE33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E56474-3A38-4097-8649-FAF662D8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35376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5" name="Espace réservé du pied de page 5">
            <a:extLst>
              <a:ext uri="{FF2B5EF4-FFF2-40B4-BE49-F238E27FC236}">
                <a16:creationId xmlns:a16="http://schemas.microsoft.com/office/drawing/2014/main" id="{FF907DD0-6A5F-4994-AB77-82E29722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35376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</p:spTree>
    <p:extLst>
      <p:ext uri="{BB962C8B-B14F-4D97-AF65-F5344CB8AC3E}">
        <p14:creationId xmlns:p14="http://schemas.microsoft.com/office/powerpoint/2010/main" val="290211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1BF3AA-AA64-40B2-94AA-20312968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581A126E-45C1-4D8A-A97E-5FFED9972943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1444EA1-5452-4A23-B72D-9B65C311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3A5BB48A-749C-4DBB-8723-91ACE9CE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F70AE1-0373-4B8E-9C6F-A87681145315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A4CFD6FA-0DEF-4E30-82DA-0BAB26B4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1" name="Espace réservé du contenu 2">
            <a:extLst>
              <a:ext uri="{FF2B5EF4-FFF2-40B4-BE49-F238E27FC236}">
                <a16:creationId xmlns:a16="http://schemas.microsoft.com/office/drawing/2014/main" id="{C01EE411-05BB-43B4-BF85-4222430030F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7C2A48C1-57D3-4A3D-B843-6ACC41EEE8E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140227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6B7143-9C17-4A62-9B23-F2717C50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EC69D953-4481-4C5D-AA5F-100CE44A4D09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D0075C-AB97-4D80-BF0E-6D96D0A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D740D193-BF72-46A1-AFE9-DA960BAB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F47352EA-4890-4FE1-97BD-8CCB09F58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0" name="Espace réservé de l’image 2">
            <a:extLst>
              <a:ext uri="{FF2B5EF4-FFF2-40B4-BE49-F238E27FC236}">
                <a16:creationId xmlns:a16="http://schemas.microsoft.com/office/drawing/2014/main" id="{EEBAE269-6AC1-4BFB-8694-696AFD04DC8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F67E35A4-831E-477F-9962-C62C2A6492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0810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images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79842E67-35F4-4EC2-B5B4-6D02111EDAD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242275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Espace réservé d’image 2">
            <a:extLst>
              <a:ext uri="{FF2B5EF4-FFF2-40B4-BE49-F238E27FC236}">
                <a16:creationId xmlns:a16="http://schemas.microsoft.com/office/drawing/2014/main" id="{6553049D-F1F2-4E3C-B0A3-D2BCB35B18A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047164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91EB1F-E7C6-4FF7-BE74-BEF6056B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29" y="457200"/>
            <a:ext cx="3790884" cy="1600200"/>
          </a:xfrm>
        </p:spPr>
        <p:txBody>
          <a:bodyPr rtlCol="0" anchor="b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C935A1-3DFF-457D-8C70-E337C3D84F5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58529" y="2057400"/>
            <a:ext cx="3790884" cy="3811588"/>
          </a:xfrm>
        </p:spPr>
        <p:txBody>
          <a:bodyPr rtlCol="0"/>
          <a:lstStyle>
            <a:lvl1pPr marL="216000" indent="-216000">
              <a:lnSpc>
                <a:spcPct val="90000"/>
              </a:lnSpc>
              <a:buFont typeface="Wingdings" panose="05000000000000000000" pitchFamily="2" charset="2"/>
              <a:buChar char="§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6B7143-9C17-4A62-9B23-F2717C50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926FC6E6-C92B-49AC-B6AC-3300DBBC8278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D0075C-AB97-4D80-BF0E-6D96D0A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pied de page 5">
            <a:extLst>
              <a:ext uri="{FF2B5EF4-FFF2-40B4-BE49-F238E27FC236}">
                <a16:creationId xmlns:a16="http://schemas.microsoft.com/office/drawing/2014/main" id="{A620A17C-5577-4021-9044-146DC609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</p:spTree>
    <p:extLst>
      <p:ext uri="{BB962C8B-B14F-4D97-AF65-F5344CB8AC3E}">
        <p14:creationId xmlns:p14="http://schemas.microsoft.com/office/powerpoint/2010/main" val="268622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images avec légen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79842E67-35F4-4EC2-B5B4-6D02111EDAD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1959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Espace réservé d’image 2">
            <a:extLst>
              <a:ext uri="{FF2B5EF4-FFF2-40B4-BE49-F238E27FC236}">
                <a16:creationId xmlns:a16="http://schemas.microsoft.com/office/drawing/2014/main" id="{6553049D-F1F2-4E3C-B0A3-D2BCB35B18A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047164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91EB1F-E7C6-4FF7-BE74-BEF6056B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4457" y="457200"/>
            <a:ext cx="3790884" cy="1600200"/>
          </a:xfrm>
        </p:spPr>
        <p:txBody>
          <a:bodyPr rtlCol="0" anchor="b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6B7143-9C17-4A62-9B23-F2717C50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8D5112B8-1294-421C-B4EB-F596535684CE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D0075C-AB97-4D80-BF0E-6D96D0A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contenu 8">
            <a:extLst>
              <a:ext uri="{FF2B5EF4-FFF2-40B4-BE49-F238E27FC236}">
                <a16:creationId xmlns:a16="http://schemas.microsoft.com/office/drawing/2014/main" id="{8C645043-BE6A-4D32-ACA9-AB593DA6BC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144457" y="2057400"/>
            <a:ext cx="3791456" cy="3862388"/>
          </a:xfrm>
        </p:spPr>
        <p:txBody>
          <a:bodyPr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12" name="Espace réservé du pied de page 5">
            <a:extLst>
              <a:ext uri="{FF2B5EF4-FFF2-40B4-BE49-F238E27FC236}">
                <a16:creationId xmlns:a16="http://schemas.microsoft.com/office/drawing/2014/main" id="{3D444C08-6A3A-4BFB-9494-43F3DE33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</p:spTree>
    <p:extLst>
      <p:ext uri="{BB962C8B-B14F-4D97-AF65-F5344CB8AC3E}">
        <p14:creationId xmlns:p14="http://schemas.microsoft.com/office/powerpoint/2010/main" val="144552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images avec légen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79842E67-35F4-4EC2-B5B4-6D02111EDAD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1959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Espace réservé d’image 2">
            <a:extLst>
              <a:ext uri="{FF2B5EF4-FFF2-40B4-BE49-F238E27FC236}">
                <a16:creationId xmlns:a16="http://schemas.microsoft.com/office/drawing/2014/main" id="{6553049D-F1F2-4E3C-B0A3-D2BCB35B18A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244562" y="641101"/>
            <a:ext cx="3702877" cy="5749461"/>
          </a:xfrm>
          <a:solidFill>
            <a:schemeClr val="bg1">
              <a:lumMod val="8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91EB1F-E7C6-4FF7-BE74-BEF6056B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5530" y="457200"/>
            <a:ext cx="3577394" cy="1600200"/>
          </a:xfrm>
        </p:spPr>
        <p:txBody>
          <a:bodyPr rtlCol="0" anchor="b"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6B7143-9C17-4A62-9B23-F2717C50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6A09755C-9230-4E67-B642-89051B8835E0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D0075C-AB97-4D80-BF0E-6D96D0A8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11" name="Espace réservé du contenu 8">
            <a:extLst>
              <a:ext uri="{FF2B5EF4-FFF2-40B4-BE49-F238E27FC236}">
                <a16:creationId xmlns:a16="http://schemas.microsoft.com/office/drawing/2014/main" id="{8C645043-BE6A-4D32-ACA9-AB593DA6BC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55530" y="2057400"/>
            <a:ext cx="3577934" cy="3862388"/>
          </a:xfrm>
        </p:spPr>
        <p:txBody>
          <a:bodyPr rtlCol="0"/>
          <a:lstStyle>
            <a:lvl1pPr marL="0" indent="0">
              <a:lnSpc>
                <a:spcPct val="90000"/>
              </a:lnSpc>
              <a:buNone/>
              <a:def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06000" indent="-306000">
              <a:defRPr/>
            </a:lvl2pPr>
            <a:lvl3pPr marL="306000" indent="-306000">
              <a:defRPr/>
            </a:lvl3pPr>
            <a:lvl4pPr marL="306000" indent="-306000">
              <a:defRPr/>
            </a:lvl4pPr>
            <a:lvl5pPr marL="306000" indent="-306000">
              <a:defRPr/>
            </a:lvl5pPr>
          </a:lstStyle>
          <a:p>
            <a:pPr marL="216000" lvl="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§"/>
            </a:pPr>
            <a:r>
              <a:rPr lang="fr-FR" noProof="0" dirty="0"/>
              <a:t>Modifiez les styles du texte du masque</a:t>
            </a:r>
          </a:p>
          <a:p>
            <a:pPr marL="216000" lvl="1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§"/>
            </a:pPr>
            <a:r>
              <a:rPr lang="fr-FR" noProof="0" dirty="0"/>
              <a:t>Deuxième niveau</a:t>
            </a:r>
          </a:p>
        </p:txBody>
      </p:sp>
      <p:sp>
        <p:nvSpPr>
          <p:cNvPr id="9" name="Espace réservé du pied de page 5">
            <a:extLst>
              <a:ext uri="{FF2B5EF4-FFF2-40B4-BE49-F238E27FC236}">
                <a16:creationId xmlns:a16="http://schemas.microsoft.com/office/drawing/2014/main" id="{FE695AAC-8311-4518-A219-DE58BF92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</p:spTree>
    <p:extLst>
      <p:ext uri="{BB962C8B-B14F-4D97-AF65-F5344CB8AC3E}">
        <p14:creationId xmlns:p14="http://schemas.microsoft.com/office/powerpoint/2010/main" val="917956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119868" y="5356067"/>
            <a:ext cx="3625595" cy="1000782"/>
          </a:xfrm>
          <a:solidFill>
            <a:srgbClr val="465359"/>
          </a:solidFill>
        </p:spPr>
        <p:txBody>
          <a:bodyPr lIns="91440" tIns="0" rIns="91440" bIns="0" rtlCol="0">
            <a:norm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19869" y="453642"/>
            <a:ext cx="3625595" cy="4826023"/>
          </a:xfrm>
          <a:solidFill>
            <a:schemeClr val="accent1"/>
          </a:solidFill>
        </p:spPr>
        <p:txBody>
          <a:bodyPr tIns="0" bIns="0" rtlCol="0" anchor="ctr" anchorCtr="0">
            <a:noAutofit/>
          </a:bodyPr>
          <a:lstStyle>
            <a:lvl1pPr algn="ctr"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39766" y="453642"/>
            <a:ext cx="7602421" cy="5903207"/>
          </a:xfrm>
          <a:solidFill>
            <a:schemeClr val="bg1">
              <a:lumMod val="85000"/>
            </a:schemeClr>
          </a:solidFill>
        </p:spPr>
        <p:txBody>
          <a:bodyPr lIns="457200" tIns="457200" rtlCol="0" anchor="ctr" anchorCtr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>
            <a:lvl1pPr>
              <a:defRPr/>
            </a:lvl1pPr>
          </a:lstStyle>
          <a:p>
            <a:pPr rtl="0"/>
            <a:fld id="{DA3CD459-203E-40A8-B9F9-993A9AC49D9F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1790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81F13A5-61B9-419A-9B13-8BD37BE2841E}"/>
              </a:ext>
            </a:extLst>
          </p:cNvPr>
          <p:cNvSpPr/>
          <p:nvPr userDrawn="1"/>
        </p:nvSpPr>
        <p:spPr>
          <a:xfrm>
            <a:off x="446532" y="4199467"/>
            <a:ext cx="11296732" cy="2191098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2206A44-565D-4C18-8891-86387B90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226" y="4262316"/>
            <a:ext cx="9391524" cy="988332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5B084B74-38B3-42C8-B8E4-A0D13B059E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1325" y="606425"/>
            <a:ext cx="11304588" cy="353695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 dirty="0"/>
              <a:t>Cliquez sur l’icône pour ajouter une image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F22525-79A2-451F-9944-47D4183A45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23914"/>
            <a:ext cx="2844799" cy="365125"/>
          </a:xfrm>
        </p:spPr>
        <p:txBody>
          <a:bodyPr rtlCol="0"/>
          <a:lstStyle/>
          <a:p>
            <a:pPr rtl="0"/>
            <a:fld id="{C776B930-0781-4912-946A-8248BE2D40DD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B9B8C25-AF44-4D9D-A667-69D9A92B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23914"/>
            <a:ext cx="1052510" cy="365125"/>
          </a:xfrm>
        </p:spPr>
        <p:txBody>
          <a:bodyPr rtlCol="0"/>
          <a:lstStyle/>
          <a:p>
            <a:pPr rtl="0"/>
            <a:fld id="{F603CDE5-C1D8-4EDD-870F-A498BAFA520F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F54790-C8AC-4CF8-8E89-80C5C90F3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23914"/>
            <a:ext cx="6818262" cy="365125"/>
          </a:xfrm>
        </p:spPr>
        <p:txBody>
          <a:bodyPr rtlCol="0"/>
          <a:lstStyle/>
          <a:p>
            <a:pPr algn="l" rtl="0"/>
            <a:r>
              <a:rPr lang="fr-FR" noProof="0"/>
              <a:t>Guillaume FOVEAU 2026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5EB5327-3B98-4D40-987B-863866194F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8863" y="5303610"/>
            <a:ext cx="9391888" cy="614363"/>
          </a:xfrm>
        </p:spPr>
        <p:txBody>
          <a:bodyPr rtlCol="0">
            <a:normAutofit/>
          </a:bodyPr>
          <a:lstStyle>
            <a:lvl1pPr marL="0" indent="0">
              <a:buNone/>
              <a:defRPr sz="1600">
                <a:solidFill>
                  <a:schemeClr val="bg2">
                    <a:lumMod val="75000"/>
                  </a:schemeClr>
                </a:solidFill>
              </a:defRPr>
            </a:lvl1pPr>
            <a:lvl2pPr marL="324000" indent="0">
              <a:buNone/>
              <a:defRPr/>
            </a:lvl2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13052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225B9D96-06E4-4303-B49C-B7B6A223D110}" type="datetime1">
              <a:rPr lang="fr-FR" noProof="0" smtClean="0"/>
              <a:t>03/04/2026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84940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 noProof="0"/>
              <a:t>Guillaume FOVEAU 2026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795363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3A98EE3D-8CD1-4C3F-BD1C-C98C9596463C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9" name="Rectangle 8"/>
          <p:cNvSpPr/>
          <p:nvPr/>
        </p:nvSpPr>
        <p:spPr>
          <a:xfrm>
            <a:off x="446534" y="455422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8042147" y="456120"/>
            <a:ext cx="3703320" cy="93600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 10"/>
          <p:cNvSpPr/>
          <p:nvPr/>
        </p:nvSpPr>
        <p:spPr>
          <a:xfrm>
            <a:off x="4241830" y="456120"/>
            <a:ext cx="3703320" cy="93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87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43" r:id="rId2"/>
    <p:sldLayoutId id="2147483726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40" r:id="rId9"/>
    <p:sldLayoutId id="2147483741" r:id="rId10"/>
    <p:sldLayoutId id="2147483742" r:id="rId11"/>
    <p:sldLayoutId id="2147483739" r:id="rId12"/>
    <p:sldLayoutId id="2147483744" r:id="rId13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cs.sonarsource.com/sonarqube/latest/try-out-sonarqube/?_gl=1*1hwuvqi*_gcl_au*NTQxMzcxNjQ5LjE3MDk5NzkxNjc.*_ga*NTUwODg4OTY4LjE3MDk5ODA4Nzc.*_ga_9JZ0GZ5TC6*MTcxMDA2NjI3OS4yLjAuMTcxMDA2NjM0Mi42MC4wLjA." TargetMode="External"/><Relationship Id="rId4" Type="http://schemas.openxmlformats.org/officeDocument/2006/relationships/hyperlink" Target="https://www.sonarsource.com/products/sonarqube/downloads/success-download-community-editio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onarsource.com/sonarqube/latest/analyzing-source-code/scanners/sonarscanner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2D4960A-896E-4F6B-BF65-B4662AC9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84944A-8803-462C-84C5-4576C56A7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57199"/>
            <a:ext cx="3618827" cy="48224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7F3B49-8C20-42F5-831D-59306D05F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5367338"/>
            <a:ext cx="3618828" cy="9895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AA242D-B507-4381-A8CB-EFA346570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2723" y="850791"/>
            <a:ext cx="3202016" cy="4198288"/>
          </a:xfrm>
        </p:spPr>
        <p:txBody>
          <a:bodyPr rtlCol="0" anchor="ctr">
            <a:normAutofit/>
          </a:bodyPr>
          <a:lstStyle/>
          <a:p>
            <a:pPr rtl="0"/>
            <a:r>
              <a:rPr lang="fr-FR" dirty="0">
                <a:solidFill>
                  <a:srgbClr val="FFFFFF"/>
                </a:solidFill>
              </a:rPr>
              <a:t>QUALIMETRIE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4F4068D-37AE-4B7D-BC75-216B123A6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2723" y="5545331"/>
            <a:ext cx="3202016" cy="649222"/>
          </a:xfrm>
          <a:noFill/>
        </p:spPr>
        <p:txBody>
          <a:bodyPr rtlCol="0" anchor="ctr">
            <a:normAutofit/>
          </a:bodyPr>
          <a:lstStyle/>
          <a:p>
            <a:pPr rtl="0"/>
            <a:r>
              <a:rPr lang="fr-FR" sz="1800" dirty="0" err="1">
                <a:solidFill>
                  <a:schemeClr val="tx2">
                    <a:lumMod val="25000"/>
                    <a:lumOff val="75000"/>
                    <a:alpha val="75000"/>
                  </a:schemeClr>
                </a:solidFill>
              </a:rPr>
              <a:t>GUillaumE</a:t>
            </a:r>
            <a:r>
              <a:rPr lang="fr-FR" sz="1800" dirty="0">
                <a:solidFill>
                  <a:schemeClr val="tx2">
                    <a:lumMod val="25000"/>
                    <a:lumOff val="75000"/>
                    <a:alpha val="75000"/>
                  </a:schemeClr>
                </a:solidFill>
              </a:rPr>
              <a:t> FOVEAU 2024</a:t>
            </a:r>
          </a:p>
        </p:txBody>
      </p:sp>
      <p:pic>
        <p:nvPicPr>
          <p:cNvPr id="4" name="Image 3" descr="personnes assemblées autour d'un plan">
            <a:extLst>
              <a:ext uri="{FF2B5EF4-FFF2-40B4-BE49-F238E27FC236}">
                <a16:creationId xmlns:a16="http://schemas.microsoft.com/office/drawing/2014/main" id="{424717DA-0300-4297-B453-65314C5BEA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3302" y="458611"/>
            <a:ext cx="7588885" cy="589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11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071E00-ABE1-44FD-92BD-2769C2C9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54" y="702156"/>
            <a:ext cx="3568661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dirty="0">
                <a:solidFill>
                  <a:schemeClr val="accent1">
                    <a:lumMod val="75000"/>
                  </a:schemeClr>
                </a:solidFill>
              </a:rPr>
              <a:t>SONARQUBE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6" name="Espace réservé du contenu 5" descr="femmes travaillant ensemble&#10;">
            <a:extLst>
              <a:ext uri="{FF2B5EF4-FFF2-40B4-BE49-F238E27FC236}">
                <a16:creationId xmlns:a16="http://schemas.microsoft.com/office/drawing/2014/main" id="{BF79C0FC-6A53-48FD-A2FB-DC1F7E6C6B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sz="half" idx="4294967295"/>
          </p:nvPr>
        </p:nvPicPr>
        <p:blipFill>
          <a:blip r:embed="rId3"/>
          <a:srcRect/>
          <a:stretch/>
        </p:blipFill>
        <p:spPr>
          <a:xfrm>
            <a:off x="4656010" y="0"/>
            <a:ext cx="7534275" cy="6858000"/>
          </a:xfrm>
          <a:prstGeom prst="rect">
            <a:avLst/>
          </a:prstGeom>
        </p:spPr>
      </p:pic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07D91225-790F-4C13-A8A5-F2C3F67C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/>
              <a:t>Guillaume FOVEAU 2026</a:t>
            </a:r>
            <a:endParaRPr lang="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15A15AC-D6F8-4815-95AC-BE31E2458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A5EDCA9-D0C8-DC62-F712-9A8F03DBFB3A}"/>
              </a:ext>
            </a:extLst>
          </p:cNvPr>
          <p:cNvSpPr txBox="1"/>
          <p:nvPr/>
        </p:nvSpPr>
        <p:spPr>
          <a:xfrm>
            <a:off x="446534" y="2092657"/>
            <a:ext cx="36085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rtl="0">
              <a:buNone/>
            </a:pPr>
            <a:r>
              <a:rPr lang="fr-FR" sz="1800" dirty="0"/>
              <a:t>Nous aborderons ces techniques :</a:t>
            </a:r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fr-FR" sz="1800" dirty="0"/>
              <a:t>Téléchargement sur </a:t>
            </a:r>
            <a:r>
              <a:rPr lang="fr-FR" sz="1800" dirty="0" err="1">
                <a:hlinkClick r:id="rId4"/>
              </a:rPr>
              <a:t>SonarQube</a:t>
            </a:r>
            <a:r>
              <a:rPr lang="fr-FR" sz="1800" dirty="0">
                <a:hlinkClick r:id="rId4"/>
              </a:rPr>
              <a:t> Download </a:t>
            </a:r>
            <a:r>
              <a:rPr lang="fr-FR" sz="1800" dirty="0" err="1">
                <a:hlinkClick r:id="rId4"/>
              </a:rPr>
              <a:t>Success</a:t>
            </a:r>
            <a:r>
              <a:rPr lang="fr-FR" sz="1800" dirty="0">
                <a:hlinkClick r:id="rId4"/>
              </a:rPr>
              <a:t> | Community Edition | Sonar (sonarsource.com)</a:t>
            </a:r>
            <a:endParaRPr lang="fr-FR" sz="1800" dirty="0"/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fr-FR" sz="1800" dirty="0" err="1"/>
              <a:t>Unzip</a:t>
            </a:r>
            <a:r>
              <a:rPr lang="fr-FR" sz="1800" dirty="0"/>
              <a:t> dans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3B3F4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C:\sonarqube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3B3F44"/>
                </a:solidFill>
                <a:effectLst/>
                <a:latin typeface="Maven Pro"/>
              </a:rPr>
              <a:t> or 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3B3F4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3B3F4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3B3F4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3B3F44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sonarqube</a:t>
            </a:r>
            <a:r>
              <a:rPr lang="fr-FR" sz="1800" dirty="0"/>
              <a:t> </a:t>
            </a:r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en-US" sz="1800" dirty="0">
                <a:hlinkClick r:id="rId5"/>
              </a:rPr>
              <a:t>Try out SonarQube (sonarsource.com)</a:t>
            </a:r>
            <a:endParaRPr lang="en-US" sz="1800" dirty="0"/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fr-FR" sz="1800" dirty="0"/>
              <a:t>StartSonar.bat dans bin selon OS</a:t>
            </a:r>
          </a:p>
          <a:p>
            <a:pPr marL="285750" indent="-285750" rtl="0">
              <a:buFont typeface="Wingdings" panose="05000000000000000000" pitchFamily="2" charset="2"/>
              <a:buChar char="q"/>
            </a:pPr>
            <a:r>
              <a:rPr lang="fr-FR" sz="1800" dirty="0"/>
              <a:t>Localhost:9000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9873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D5A4A71-BF4C-4D5C-BFC7-87532A78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Suite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92DC2B5-5E26-4712-A72B-C467FF942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8529" y="1934334"/>
            <a:ext cx="3517435" cy="3811588"/>
          </a:xfrm>
        </p:spPr>
        <p:txBody>
          <a:bodyPr rtlCol="0"/>
          <a:lstStyle/>
          <a:p>
            <a:pPr rtl="0"/>
            <a:r>
              <a:rPr lang="fr-FR" dirty="0" err="1">
                <a:hlinkClick r:id="rId3"/>
              </a:rPr>
              <a:t>SonarScanner</a:t>
            </a:r>
            <a:r>
              <a:rPr lang="fr-FR" dirty="0">
                <a:hlinkClick r:id="rId3"/>
              </a:rPr>
              <a:t> CLI (sonarsource.com)</a:t>
            </a:r>
            <a:endParaRPr lang="fr-FR" dirty="0"/>
          </a:p>
          <a:p>
            <a:pPr rtl="0"/>
            <a:r>
              <a:rPr lang="fr-FR" dirty="0"/>
              <a:t>Installer JAVA open JDK 17</a:t>
            </a:r>
          </a:p>
          <a:p>
            <a:pPr rtl="0"/>
            <a:r>
              <a:rPr lang="fr-FR" dirty="0"/>
              <a:t>Renseigner la variable d’environnement SONAR_JAVA_PATH avec le répertoire java</a:t>
            </a:r>
          </a:p>
          <a:p>
            <a:pPr rtl="0"/>
            <a:r>
              <a:rPr lang="fr-FR" dirty="0"/>
              <a:t>SONARQUBE-HOME avec </a:t>
            </a:r>
            <a:r>
              <a:rPr lang="fr-FR" dirty="0" err="1"/>
              <a:t>sonarqube</a:t>
            </a:r>
            <a:endParaRPr lang="fr-FR" dirty="0"/>
          </a:p>
          <a:p>
            <a:pPr rtl="0"/>
            <a:r>
              <a:rPr lang="fr-FR" dirty="0"/>
              <a:t>JAVA_HOME avec le répertoire Java</a:t>
            </a:r>
          </a:p>
          <a:p>
            <a:pPr rtl="0"/>
            <a:r>
              <a:rPr lang="fr-FR" dirty="0"/>
              <a:t>N’oubliez pas </a:t>
            </a:r>
            <a:r>
              <a:rPr lang="fr-FR"/>
              <a:t>de redémarrer.</a:t>
            </a:r>
          </a:p>
          <a:p>
            <a:pPr rtl="0"/>
            <a:endParaRPr lang="fr-FR" dirty="0"/>
          </a:p>
        </p:txBody>
      </p:sp>
      <p:pic>
        <p:nvPicPr>
          <p:cNvPr id="10" name="Espace réservé d’image 9" descr="deux femmes regardent deux ordinateurs portables&#10;">
            <a:extLst>
              <a:ext uri="{FF2B5EF4-FFF2-40B4-BE49-F238E27FC236}">
                <a16:creationId xmlns:a16="http://schemas.microsoft.com/office/drawing/2014/main" id="{109874DF-4483-4899-A10C-B0C5378B013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/>
          <a:srcRect t="6" b="6"/>
          <a:stretch>
            <a:fillRect/>
          </a:stretch>
        </p:blipFill>
        <p:spPr/>
      </p:pic>
      <p:pic>
        <p:nvPicPr>
          <p:cNvPr id="9" name="Espace réservé d’image 8" descr="femme qui lit">
            <a:extLst>
              <a:ext uri="{FF2B5EF4-FFF2-40B4-BE49-F238E27FC236}">
                <a16:creationId xmlns:a16="http://schemas.microsoft.com/office/drawing/2014/main" id="{BADCDF53-1AD6-4ACB-AABB-AE333D04A938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5"/>
          <a:srcRect t="6" b="6"/>
          <a:stretch>
            <a:fillRect/>
          </a:stretch>
        </p:blipFill>
        <p:spPr/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54C18C30-67CC-4DDB-826C-ED4C71402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2026</a:t>
            </a:r>
            <a:endParaRPr lang="fr" noProof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FF2B37E-4039-4551-802B-8F2BD04D9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603CDE5-C1D8-4EDD-870F-A498BAFA520F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5652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24EC38A0-3DAB-4B29-9BBE-45A9EBDB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/>
              <a:t>MERCI DE VOTRE ATTENTION!</a:t>
            </a:r>
          </a:p>
        </p:txBody>
      </p:sp>
      <p:pic>
        <p:nvPicPr>
          <p:cNvPr id="14" name="Espace réservé d’image 13" descr="Jeunes femmes dans une bibliothèque">
            <a:extLst>
              <a:ext uri="{FF2B5EF4-FFF2-40B4-BE49-F238E27FC236}">
                <a16:creationId xmlns:a16="http://schemas.microsoft.com/office/drawing/2014/main" id="{E923BD5B-22B6-4E92-B95F-5F7B6467380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0662" y="606425"/>
            <a:ext cx="11285913" cy="3536950"/>
          </a:xfrm>
          <a:prstGeom prst="rect">
            <a:avLst/>
          </a:prstGeom>
        </p:spPr>
      </p:pic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854A996-27BE-EFEE-C946-FD25280E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r>
              <a:rPr lang="fr-FR" noProof="0"/>
              <a:t>Guillaume FOVEAU 2026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021DF4D-47C5-8DE7-A267-8877AEADC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F603CDE5-C1D8-4EDD-870F-A498BAFA520F}" type="slidenum">
              <a:rPr lang="fr-FR" noProof="0" smtClean="0"/>
              <a:t>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9830884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">
      <a:dk1>
        <a:srgbClr val="000000"/>
      </a:dk1>
      <a:lt1>
        <a:srgbClr val="FFFFFF"/>
      </a:lt1>
      <a:dk2>
        <a:srgbClr val="242F41"/>
      </a:dk2>
      <a:lt2>
        <a:srgbClr val="E2E6E8"/>
      </a:lt2>
      <a:accent1>
        <a:srgbClr val="CE7242"/>
      </a:accent1>
      <a:accent2>
        <a:srgbClr val="BC303B"/>
      </a:accent2>
      <a:accent3>
        <a:srgbClr val="CE4287"/>
      </a:accent3>
      <a:accent4>
        <a:srgbClr val="BC30AF"/>
      </a:accent4>
      <a:accent5>
        <a:srgbClr val="A042CE"/>
      </a:accent5>
      <a:accent6>
        <a:srgbClr val="6444C2"/>
      </a:accent6>
      <a:hlink>
        <a:srgbClr val="3B8AB3"/>
      </a:hlink>
      <a:folHlink>
        <a:srgbClr val="7F7F7F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330679_TF00870617_Win32" id="{0C21701E-A02E-4477-B0D7-D47A31FC1B2D}" vid="{49D40C53-E881-496D-A6A9-546E4C7AC34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Formation au sein d'une entreprise traditionnelle</Template>
  <TotalTime>10</TotalTime>
  <Words>115</Words>
  <Application>Microsoft Office PowerPoint</Application>
  <PresentationFormat>Grand écran</PresentationFormat>
  <Paragraphs>27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Calibri</vt:lpstr>
      <vt:lpstr>Courier New</vt:lpstr>
      <vt:lpstr>Gill Sans MT</vt:lpstr>
      <vt:lpstr>Maven Pro</vt:lpstr>
      <vt:lpstr>Wingdings</vt:lpstr>
      <vt:lpstr>Wingdings 2</vt:lpstr>
      <vt:lpstr>DividendVTI</vt:lpstr>
      <vt:lpstr>QUALIMETRIE</vt:lpstr>
      <vt:lpstr>SONARQUBE</vt:lpstr>
      <vt:lpstr>Suite</vt:lpstr>
      <vt:lpstr>MERCI DE VOTRE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Enseigner un cours</dc:title>
  <dc:creator>Guillaume FOVEAU</dc:creator>
  <cp:lastModifiedBy>Guillaume FOVEAU</cp:lastModifiedBy>
  <cp:revision>1</cp:revision>
  <dcterms:created xsi:type="dcterms:W3CDTF">2024-03-10T10:21:40Z</dcterms:created>
  <dcterms:modified xsi:type="dcterms:W3CDTF">2026-04-03T11:05:19Z</dcterms:modified>
</cp:coreProperties>
</file>