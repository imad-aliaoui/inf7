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3" r:id="rId3"/>
    <p:sldId id="287" r:id="rId4"/>
    <p:sldId id="288" r:id="rId5"/>
    <p:sldId id="297" r:id="rId6"/>
    <p:sldId id="291" r:id="rId7"/>
    <p:sldId id="296" r:id="rId8"/>
    <p:sldId id="323" r:id="rId9"/>
    <p:sldId id="322" r:id="rId10"/>
    <p:sldId id="301" r:id="rId11"/>
    <p:sldId id="318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95F20-1E0B-42A2-9A14-85F53C387A2A}" v="1" dt="2026-04-09T10:41:29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34" autoAdjust="0"/>
  </p:normalViewPr>
  <p:slideViewPr>
    <p:cSldViewPr snapToGrid="0">
      <p:cViewPr varScale="1">
        <p:scale>
          <a:sx n="75" d="100"/>
          <a:sy n="75" d="100"/>
        </p:scale>
        <p:origin x="979" y="2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FOVEAU" userId="dabd906ad70badc6" providerId="LiveId" clId="{43F131B2-21F0-476C-A6CD-2431D27944F7}"/>
    <pc:docChg chg="modSld">
      <pc:chgData name="Guillaume FOVEAU" userId="dabd906ad70badc6" providerId="LiveId" clId="{43F131B2-21F0-476C-A6CD-2431D27944F7}" dt="2026-04-09T10:40:06.759" v="1" actId="20577"/>
      <pc:docMkLst>
        <pc:docMk/>
      </pc:docMkLst>
      <pc:sldChg chg="modSp mod">
        <pc:chgData name="Guillaume FOVEAU" userId="dabd906ad70badc6" providerId="LiveId" clId="{43F131B2-21F0-476C-A6CD-2431D27944F7}" dt="2026-04-09T10:40:06.759" v="1" actId="20577"/>
        <pc:sldMkLst>
          <pc:docMk/>
          <pc:sldMk cId="4209711902" sldId="256"/>
        </pc:sldMkLst>
        <pc:spChg chg="mod">
          <ac:chgData name="Guillaume FOVEAU" userId="dabd906ad70badc6" providerId="LiveId" clId="{43F131B2-21F0-476C-A6CD-2431D27944F7}" dt="2026-04-09T10:40:06.759" v="1" actId="20577"/>
          <ac:spMkLst>
            <pc:docMk/>
            <pc:sldMk cId="4209711902" sldId="256"/>
            <ac:spMk id="3" creationId="{A4F4068D-37AE-4B7D-BC75-216B123A6C4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26D37A0-F398-4276-AAF6-E62AA90BC9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96B402-FD6E-4995-8160-C6DD76DAAC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1E7AF26-C5F5-4F83-9BCC-79FC7D6C84FB}" type="datetime1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BA7967-B488-405D-84A2-64F6D9128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65115A-3EB4-4B47-8F4B-4F42519BF9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D0885D5-D443-4228-8B2C-B9DF9A30D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8913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1A845AF-11F2-4347-97C4-4CF5A0EEB147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D2F9AB-3C90-481E-8C34-4F549BF455D7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91717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12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9747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921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44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CE1E75AB-08D4-4144-83F4-347EEBB5A3D2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3FB45199-F13E-4CB5-AF62-71432CD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380092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327DBC1D-C0C4-4286-8D40-E66174275168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7" name="Espace réservé du pied de page 5">
            <a:extLst>
              <a:ext uri="{FF2B5EF4-FFF2-40B4-BE49-F238E27FC236}">
                <a16:creationId xmlns:a16="http://schemas.microsoft.com/office/drawing/2014/main" id="{D5D91A8B-765C-4E59-8109-94DA4EA5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F318B-B2C4-4893-95F3-E1AB652A1F17}"/>
              </a:ext>
            </a:extLst>
          </p:cNvPr>
          <p:cNvSpPr>
            <a:spLocks noChangeAspect="1"/>
          </p:cNvSpPr>
          <p:nvPr userDrawn="1"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4FB09F2-FC78-4161-B5F8-C064B938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08CB40EA-D0BA-41DA-91DE-15B4C161DD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1849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DCFF9FC-8A7C-40D9-B86E-D4EA85AF70BF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Guillaume FOVEAU - 2026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59F479D-7533-4EEF-A06F-7CD2FE3DB90D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0703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36A95B5B-4B13-4249-AD61-CD77797CB882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CAD31966-421C-41DC-9B46-21B1CD73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AF9102ED-C049-4F62-A2D8-58981A0621E3}"/>
              </a:ext>
            </a:extLst>
          </p:cNvPr>
          <p:cNvSpPr>
            <a:spLocks noChangeAspect="1"/>
          </p:cNvSpPr>
          <p:nvPr userDrawn="1"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CF5F73D5-EFB4-4DAE-8CBA-1128F10D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2B92446D-E0AD-4899-86E1-DFBB50D9214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9BF0768A-BCD3-4064-8FE0-C439326F00D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3523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0CE4CA-34EA-472D-A23C-1DE165FC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F00D2EEC-7D84-479D-A0AA-38B5D78F0564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AC1173-613F-48B1-B860-00397875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0" name="Espace réservé du pied de page 5">
            <a:extLst>
              <a:ext uri="{FF2B5EF4-FFF2-40B4-BE49-F238E27FC236}">
                <a16:creationId xmlns:a16="http://schemas.microsoft.com/office/drawing/2014/main" id="{94036C93-814B-4155-A748-7731CA60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DA4EE69F-D906-40FA-8109-46DF1B1A16FA}"/>
              </a:ext>
            </a:extLst>
          </p:cNvPr>
          <p:cNvSpPr>
            <a:spLocks noChangeAspect="1"/>
          </p:cNvSpPr>
          <p:nvPr userDrawn="1"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DC41C5E-3615-4EA8-B8E6-E2B19625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555D9C2-1EA2-4557-9496-E7AEA7A128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A464C6A4-3497-4DA5-945D-7A771E383A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1C3F39A-C070-4EEB-9285-4EFBEE5FB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7E4AC67-32FA-4B42-9340-5E57C82F743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19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F22525-79A2-451F-9944-47D4183A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CDA38AEB-5500-434C-BF48-954574EFFB4D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9B8C25-AF44-4D9D-A667-69D9A92B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F54790-C8AC-4CF8-8E89-80C5C90F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20220C-6241-4A3B-9017-445FC82876DD}"/>
              </a:ext>
            </a:extLst>
          </p:cNvPr>
          <p:cNvSpPr>
            <a:spLocks noChangeAspect="1"/>
          </p:cNvSpPr>
          <p:nvPr userDrawn="1"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2206A44-565D-4C18-8891-86387B90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0041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A4B42F-2C80-4037-BF8E-C209D59D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35376"/>
            <a:ext cx="2844799" cy="365125"/>
          </a:xfrm>
        </p:spPr>
        <p:txBody>
          <a:bodyPr rtlCol="0"/>
          <a:lstStyle/>
          <a:p>
            <a:pPr rtl="0"/>
            <a:fld id="{BFD0C15C-1461-4A9E-B59A-D83F72BB16A4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E56474-3A38-4097-8649-FAF662D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35376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u pied de page 5">
            <a:extLst>
              <a:ext uri="{FF2B5EF4-FFF2-40B4-BE49-F238E27FC236}">
                <a16:creationId xmlns:a16="http://schemas.microsoft.com/office/drawing/2014/main" id="{FF907DD0-6A5F-4994-AB77-82E29722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35376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290211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1BF3AA-AA64-40B2-94AA-20312968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BCF3AB31-70D1-4674-B161-8F80297DF69A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444EA1-5452-4A23-B72D-9B65C311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3A5BB48A-749C-4DBB-8723-91ACE9CE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F70AE1-0373-4B8E-9C6F-A87681145315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4CFD6FA-0DEF-4E30-82DA-0BAB26B4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contenu 2">
            <a:extLst>
              <a:ext uri="{FF2B5EF4-FFF2-40B4-BE49-F238E27FC236}">
                <a16:creationId xmlns:a16="http://schemas.microsoft.com/office/drawing/2014/main" id="{C01EE411-05BB-43B4-BF85-4222430030F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7C2A48C1-57D3-4A3D-B843-6ACC41EEE8E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140227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A4533358-9839-4E56-844F-C5E29225E205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D740D193-BF72-46A1-AFE9-DA960BAB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F47352EA-4890-4FE1-97BD-8CCB09F5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e l’image 2">
            <a:extLst>
              <a:ext uri="{FF2B5EF4-FFF2-40B4-BE49-F238E27FC236}">
                <a16:creationId xmlns:a16="http://schemas.microsoft.com/office/drawing/2014/main" id="{EEBAE269-6AC1-4BFB-8694-696AFD04DC8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F67E35A4-831E-477F-9962-C62C2A6492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0810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79842E67-35F4-4EC2-B5B4-6D02111EDAD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242275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Espace réservé d’image 2">
            <a:extLst>
              <a:ext uri="{FF2B5EF4-FFF2-40B4-BE49-F238E27FC236}">
                <a16:creationId xmlns:a16="http://schemas.microsoft.com/office/drawing/2014/main" id="{6553049D-F1F2-4E3C-B0A3-D2BCB35B18A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047164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EB1F-E7C6-4FF7-BE74-BEF6056B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29" y="457200"/>
            <a:ext cx="3790884" cy="1600200"/>
          </a:xfrm>
        </p:spPr>
        <p:txBody>
          <a:bodyPr rtlCol="0" anchor="b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C935A1-3DFF-457D-8C70-E337C3D84F5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58529" y="2057400"/>
            <a:ext cx="3790884" cy="3811588"/>
          </a:xfrm>
        </p:spPr>
        <p:txBody>
          <a:bodyPr rtlCol="0"/>
          <a:lstStyle>
            <a:lvl1pPr marL="216000" indent="-216000">
              <a:lnSpc>
                <a:spcPct val="90000"/>
              </a:lnSpc>
              <a:buFont typeface="Wingdings" panose="05000000000000000000" pitchFamily="2" charset="2"/>
              <a:buChar char="§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D3BDC056-987C-4193-86BB-E816F347973D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A620A17C-5577-4021-9044-146DC609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268622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images avec légen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79842E67-35F4-4EC2-B5B4-6D02111EDAD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59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Espace réservé d’image 2">
            <a:extLst>
              <a:ext uri="{FF2B5EF4-FFF2-40B4-BE49-F238E27FC236}">
                <a16:creationId xmlns:a16="http://schemas.microsoft.com/office/drawing/2014/main" id="{6553049D-F1F2-4E3C-B0A3-D2BCB35B18A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047164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EB1F-E7C6-4FF7-BE74-BEF6056B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457" y="457200"/>
            <a:ext cx="3790884" cy="1600200"/>
          </a:xfrm>
        </p:spPr>
        <p:txBody>
          <a:bodyPr rtlCol="0" anchor="b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644E0B82-2683-4DF3-95F5-281BC6148623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contenu 8">
            <a:extLst>
              <a:ext uri="{FF2B5EF4-FFF2-40B4-BE49-F238E27FC236}">
                <a16:creationId xmlns:a16="http://schemas.microsoft.com/office/drawing/2014/main" id="{8C645043-BE6A-4D32-ACA9-AB593DA6BC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144457" y="2057400"/>
            <a:ext cx="3791456" cy="3862388"/>
          </a:xfrm>
        </p:spPr>
        <p:txBody>
          <a:bodyPr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2" name="Espace réservé du pied de page 5">
            <a:extLst>
              <a:ext uri="{FF2B5EF4-FFF2-40B4-BE49-F238E27FC236}">
                <a16:creationId xmlns:a16="http://schemas.microsoft.com/office/drawing/2014/main" id="{3D444C08-6A3A-4BFB-9494-43F3DE33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144552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images avec légen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79842E67-35F4-4EC2-B5B4-6D02111EDAD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59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Espace réservé d’image 2">
            <a:extLst>
              <a:ext uri="{FF2B5EF4-FFF2-40B4-BE49-F238E27FC236}">
                <a16:creationId xmlns:a16="http://schemas.microsoft.com/office/drawing/2014/main" id="{6553049D-F1F2-4E3C-B0A3-D2BCB35B18A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244562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EB1F-E7C6-4FF7-BE74-BEF6056B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5530" y="457200"/>
            <a:ext cx="3577394" cy="1600200"/>
          </a:xfrm>
        </p:spPr>
        <p:txBody>
          <a:bodyPr rtlCol="0" anchor="b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5B110AE3-EBA1-455D-978C-12F1B93AA8FA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contenu 8">
            <a:extLst>
              <a:ext uri="{FF2B5EF4-FFF2-40B4-BE49-F238E27FC236}">
                <a16:creationId xmlns:a16="http://schemas.microsoft.com/office/drawing/2014/main" id="{8C645043-BE6A-4D32-ACA9-AB593DA6BC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55530" y="2057400"/>
            <a:ext cx="3577934" cy="3862388"/>
          </a:xfrm>
        </p:spPr>
        <p:txBody>
          <a:bodyPr rtlCol="0"/>
          <a:lstStyle>
            <a:lvl1pPr marL="0" indent="0">
              <a:lnSpc>
                <a:spcPct val="90000"/>
              </a:lnSpc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06000" indent="-306000">
              <a:defRPr/>
            </a:lvl2pPr>
            <a:lvl3pPr marL="306000" indent="-306000">
              <a:defRPr/>
            </a:lvl3pPr>
            <a:lvl4pPr marL="306000" indent="-306000">
              <a:defRPr/>
            </a:lvl4pPr>
            <a:lvl5pPr marL="306000" indent="-306000">
              <a:defRPr/>
            </a:lvl5pPr>
          </a:lstStyle>
          <a:p>
            <a:pPr marL="216000" lvl="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r>
              <a:rPr lang="fr-FR" noProof="0" dirty="0"/>
              <a:t>Modifiez les styles du texte du masque</a:t>
            </a:r>
          </a:p>
          <a:p>
            <a:pPr marL="216000" lvl="1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r>
              <a:rPr lang="fr-FR" noProof="0" dirty="0"/>
              <a:t>Deuxième niveau</a:t>
            </a:r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FE695AAC-8311-4518-A219-DE58BF9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917956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119868" y="5356067"/>
            <a:ext cx="3625595" cy="1000782"/>
          </a:xfrm>
          <a:solidFill>
            <a:srgbClr val="465359"/>
          </a:solidFill>
        </p:spPr>
        <p:txBody>
          <a:bodyPr lIns="91440" tIns="0" rIns="91440" bIns="0" rtlCol="0">
            <a:norm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19869" y="453642"/>
            <a:ext cx="3625595" cy="4826023"/>
          </a:xfrm>
          <a:solidFill>
            <a:schemeClr val="accent1"/>
          </a:solidFill>
        </p:spPr>
        <p:txBody>
          <a:bodyPr tIns="0" bIns="0" rtlCol="0" anchor="ctr" anchorCtr="0">
            <a:noAutofit/>
          </a:bodyPr>
          <a:lstStyle>
            <a:lvl1pPr algn="ctr"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39766" y="453642"/>
            <a:ext cx="7602421" cy="5903207"/>
          </a:xfrm>
          <a:solidFill>
            <a:schemeClr val="bg1">
              <a:lumMod val="85000"/>
            </a:schemeClr>
          </a:solidFill>
        </p:spPr>
        <p:txBody>
          <a:bodyPr lIns="457200" tIns="457200" rtlCol="0"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fld id="{1AD92C76-4F63-4752-A8DE-E2A4A03B8DB8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790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1F13A5-61B9-419A-9B13-8BD37BE2841E}"/>
              </a:ext>
            </a:extLst>
          </p:cNvPr>
          <p:cNvSpPr/>
          <p:nvPr userDrawn="1"/>
        </p:nvSpPr>
        <p:spPr>
          <a:xfrm>
            <a:off x="446532" y="4199467"/>
            <a:ext cx="11296732" cy="2191098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2206A44-565D-4C18-8891-86387B90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226" y="4262316"/>
            <a:ext cx="9391524" cy="98833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5B084B74-38B3-42C8-B8E4-A0D13B059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325" y="606425"/>
            <a:ext cx="11304588" cy="353695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F22525-79A2-451F-9944-47D4183A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E7D7BCD0-BA9E-4BDE-8BFE-BAAABAE411E5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9B8C25-AF44-4D9D-A667-69D9A92B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F54790-C8AC-4CF8-8E89-80C5C90F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- 2026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EB5327-3B98-4D40-987B-863866194F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8863" y="5303610"/>
            <a:ext cx="9391888" cy="614363"/>
          </a:xfrm>
        </p:spPr>
        <p:txBody>
          <a:bodyPr rtlCol="0"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  <a:lvl2pPr marL="324000" indent="0">
              <a:buNone/>
              <a:defRPr/>
            </a:lvl2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3052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9123F228-668C-46F2-B53C-7F54CBE7BD12}" type="datetime1">
              <a:rPr lang="fr-FR" noProof="0" smtClean="0"/>
              <a:t>09/04/2026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494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Guillaume FOVEAU - 2026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795363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3A98EE3D-8CD1-4C3F-BD1C-C98C9596463C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6120"/>
            <a:ext cx="3703320" cy="93600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 10"/>
          <p:cNvSpPr/>
          <p:nvPr/>
        </p:nvSpPr>
        <p:spPr>
          <a:xfrm>
            <a:off x="4241830" y="456120"/>
            <a:ext cx="3703320" cy="9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87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28" r:id="rId2"/>
    <p:sldLayoutId id="2147483743" r:id="rId3"/>
    <p:sldLayoutId id="2147483726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40" r:id="rId10"/>
    <p:sldLayoutId id="2147483741" r:id="rId11"/>
    <p:sldLayoutId id="2147483742" r:id="rId12"/>
    <p:sldLayoutId id="2147483739" r:id="rId13"/>
    <p:sldLayoutId id="2147483744" r:id="rId14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manual-lookup.php?pattern=new&amp;lang=fr&amp;scope=quickref" TargetMode="External"/><Relationship Id="rId2" Type="http://schemas.openxmlformats.org/officeDocument/2006/relationships/hyperlink" Target="http://www.php.net/manual-lookup.php?pattern=catch&amp;lang=fr&amp;scope=quickre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hp.net/manual/fr/function.pdo.php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manual-lookup.php?pattern=catch&amp;lang=fr&amp;scope=quickre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84944A-8803-462C-84C5-4576C56A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57199"/>
            <a:ext cx="3618827" cy="48224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7F3B49-8C20-42F5-831D-59306D05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5367338"/>
            <a:ext cx="3618828" cy="9895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AA242D-B507-4381-A8CB-EFA346570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2723" y="850791"/>
            <a:ext cx="3202016" cy="4198288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>
                <a:solidFill>
                  <a:srgbClr val="FFFFFF"/>
                </a:solidFill>
              </a:rPr>
              <a:t>MYSQL basics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F4068D-37AE-4B7D-BC75-216B123A6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2723" y="5545331"/>
            <a:ext cx="3202016" cy="649222"/>
          </a:xfrm>
          <a:noFill/>
        </p:spPr>
        <p:txBody>
          <a:bodyPr rtlCol="0" anchor="ctr">
            <a:normAutofit/>
          </a:bodyPr>
          <a:lstStyle/>
          <a:p>
            <a:pPr rtl="0"/>
            <a:r>
              <a:rPr lang="fr-FR" sz="1800" dirty="0" err="1">
                <a:solidFill>
                  <a:schemeClr val="tx2">
                    <a:lumMod val="25000"/>
                    <a:lumOff val="75000"/>
                    <a:alpha val="75000"/>
                  </a:schemeClr>
                </a:solidFill>
              </a:rPr>
              <a:t>GUillaumE</a:t>
            </a:r>
            <a:r>
              <a:rPr lang="fr-FR" sz="1800" dirty="0">
                <a:solidFill>
                  <a:schemeClr val="tx2">
                    <a:lumMod val="25000"/>
                    <a:lumOff val="75000"/>
                    <a:alpha val="75000"/>
                  </a:schemeClr>
                </a:solidFill>
              </a:rPr>
              <a:t> FOVEAU 2026</a:t>
            </a:r>
          </a:p>
        </p:txBody>
      </p:sp>
      <p:pic>
        <p:nvPicPr>
          <p:cNvPr id="4" name="Image 3" descr="personnes assemblées autour d'un plan">
            <a:extLst>
              <a:ext uri="{FF2B5EF4-FFF2-40B4-BE49-F238E27FC236}">
                <a16:creationId xmlns:a16="http://schemas.microsoft.com/office/drawing/2014/main" id="{424717DA-0300-4297-B453-65314C5BEA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3302" y="458611"/>
            <a:ext cx="7588885" cy="58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1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d’une BDD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bases de données servent à stocker des informations de manière structurée et stable dans le temps.</a:t>
            </a:r>
          </a:p>
          <a:p>
            <a:endParaRPr lang="fr-FR" dirty="0"/>
          </a:p>
          <a:p>
            <a:r>
              <a:rPr lang="fr-FR" dirty="0"/>
              <a:t>C’est grâce à la persistance des données en base qu’un utilisateur va pouvoir retrouver les informations qu’il a saisies entre plusieurs utilisations d’une application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E20C1D-3164-18F1-ABFD-71B42841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1369873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Intégration avec une BDD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Pour interagir avec une base de données, on doit lui envoyer des requêtes dans un protocole qui lui est propre. Pour cela on utilise un « driver ».</a:t>
            </a:r>
          </a:p>
          <a:p>
            <a:r>
              <a:rPr lang="fr-FR" dirty="0"/>
              <a:t>En PHP, on a besoin d’utiliser des fonctions spécifiques regroupées dans différentes bibliothèques qui encapsule ces drivers.</a:t>
            </a:r>
          </a:p>
          <a:p>
            <a:endParaRPr lang="fr-FR" dirty="0"/>
          </a:p>
          <a:p>
            <a:r>
              <a:rPr lang="fr-FR" dirty="0"/>
              <a:t>Dans notre cours, nous utiliserons </a:t>
            </a:r>
            <a:r>
              <a:rPr lang="fr-FR" dirty="0" err="1"/>
              <a:t>MySql</a:t>
            </a:r>
            <a:r>
              <a:rPr lang="fr-FR" dirty="0"/>
              <a:t> qui est une base open source</a:t>
            </a:r>
          </a:p>
          <a:p>
            <a:endParaRPr lang="fr-FR" dirty="0"/>
          </a:p>
          <a:p>
            <a:r>
              <a:rPr lang="fr-FR" dirty="0"/>
              <a:t>Pour utiliser </a:t>
            </a:r>
            <a:r>
              <a:rPr lang="fr-FR" dirty="0" err="1"/>
              <a:t>MySql</a:t>
            </a:r>
            <a:r>
              <a:rPr lang="fr-FR" dirty="0"/>
              <a:t> en PHP, il existe principalement </a:t>
            </a:r>
            <a:r>
              <a:rPr lang="fr-FR" dirty="0" err="1"/>
              <a:t>mysqli</a:t>
            </a:r>
            <a:r>
              <a:rPr lang="fr-FR" dirty="0"/>
              <a:t> &amp; PDO.</a:t>
            </a:r>
          </a:p>
          <a:p>
            <a:r>
              <a:rPr lang="fr-FR" dirty="0"/>
              <a:t>PDO est une </a:t>
            </a:r>
            <a:r>
              <a:rPr lang="fr-FR"/>
              <a:t>librairie qui à </a:t>
            </a:r>
            <a:r>
              <a:rPr lang="fr-FR" dirty="0"/>
              <a:t>l’avantage de fonctionner avec un grand nombre de base de données, comme </a:t>
            </a:r>
            <a:r>
              <a:rPr lang="fr-FR" dirty="0" err="1"/>
              <a:t>Postgresql</a:t>
            </a:r>
            <a:r>
              <a:rPr lang="fr-FR" dirty="0"/>
              <a:t>, Oracle et pas uniquement </a:t>
            </a:r>
            <a:r>
              <a:rPr lang="fr-FR" dirty="0" err="1"/>
              <a:t>MySql</a:t>
            </a:r>
            <a:r>
              <a:rPr lang="fr-FR" dirty="0"/>
              <a:t>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9E8165-84B2-5252-24A9-A1A26064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199997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Faire du SQL en PHP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Principe :</a:t>
            </a:r>
          </a:p>
          <a:p>
            <a:pPr lvl="1"/>
            <a:r>
              <a:rPr lang="fr-FR" dirty="0"/>
              <a:t>Depuis notre code PHP, nous allons ouvrir une connexion vers la base de données, exécuter des requêtes, récupérer les résultats et les traiter.</a:t>
            </a:r>
          </a:p>
          <a:p>
            <a:pPr lvl="1"/>
            <a:r>
              <a:rPr lang="fr-FR" dirty="0"/>
              <a:t>Par default, les connexions PHP sont ouvertes et fermés entre chaque requêtes HTTP reçues par le serveur. Il existe cependant des mécanismes de cache pour partager les connexions.</a:t>
            </a:r>
          </a:p>
          <a:p>
            <a:pPr lvl="1"/>
            <a:r>
              <a:rPr lang="fr-FR" dirty="0"/>
              <a:t>Par default, les résultats sont retournés par la base de données sous formes de tableau, comportant plusieurs lignes, chaque ligne représentant elle-même un tableau de champs. </a:t>
            </a:r>
          </a:p>
          <a:p>
            <a:pPr lvl="1"/>
            <a:r>
              <a:rPr lang="fr-FR" dirty="0"/>
              <a:t>Exemple : SELECT id, nom FROM </a:t>
            </a:r>
            <a:r>
              <a:rPr lang="fr-FR" dirty="0" err="1"/>
              <a:t>etudiant</a:t>
            </a:r>
            <a:r>
              <a:rPr lang="fr-FR" dirty="0"/>
              <a:t>; // retourne :</a:t>
            </a:r>
          </a:p>
          <a:p>
            <a:pPr marL="457200" lvl="1" indent="0">
              <a:buNone/>
            </a:pPr>
            <a:r>
              <a:rPr lang="fr-FR" dirty="0"/>
              <a:t>[</a:t>
            </a:r>
          </a:p>
          <a:p>
            <a:pPr marL="857250" lvl="2" indent="0">
              <a:buNone/>
            </a:pPr>
            <a:r>
              <a:rPr lang="fr-FR" dirty="0"/>
              <a:t>0 =&gt; [‘id’=&gt; 1, ‘nom’ =&gt; ‘Robert’],</a:t>
            </a:r>
          </a:p>
          <a:p>
            <a:pPr marL="857250" lvl="2" indent="0">
              <a:buNone/>
            </a:pPr>
            <a:r>
              <a:rPr lang="fr-FR" dirty="0"/>
              <a:t>1 =&gt; [‘id’=&gt; 3, ‘nom’ =&gt; ‘Kevin’]</a:t>
            </a:r>
          </a:p>
          <a:p>
            <a:pPr marL="457200" lvl="1" indent="0">
              <a:buNone/>
            </a:pPr>
            <a:r>
              <a:rPr lang="fr-FR" dirty="0"/>
              <a:t>]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932FF49-92BB-8454-E329-E79F29661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200273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simple de PDO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Se connecter à une base de données </a:t>
            </a:r>
            <a:r>
              <a:rPr lang="fr-FR" dirty="0" err="1"/>
              <a:t>Mysql</a:t>
            </a:r>
            <a:r>
              <a:rPr lang="fr-FR" dirty="0"/>
              <a:t> avec PDO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r>
              <a:rPr lang="fr-FR" dirty="0"/>
              <a:t>Afin de debugger plus facilement les erreurs, il est conseiller d’activer l’affichage des erreurs SQL en PHP</a:t>
            </a:r>
          </a:p>
          <a:p>
            <a:pPr marL="0" indent="0">
              <a:buNone/>
            </a:pPr>
            <a:endParaRPr lang="fr-FR" b="1" dirty="0">
              <a:solidFill>
                <a:schemeClr val="tx1"/>
              </a:solidFill>
              <a:hlinkClick r:id="rId2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6433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i="1" dirty="0"/>
              <a:t>Sources et </a:t>
            </a:r>
            <a:r>
              <a:rPr lang="fr-FR" sz="1400" i="1"/>
              <a:t>informations complémentaires : http</a:t>
            </a:r>
            <a:r>
              <a:rPr lang="fr-FR" sz="1400" i="1" dirty="0"/>
              <a:t>://</a:t>
            </a:r>
            <a:r>
              <a:rPr lang="fr-FR" sz="1400" i="1" dirty="0" err="1"/>
              <a:t>fmaz.developpez.com</a:t>
            </a:r>
            <a:r>
              <a:rPr lang="fr-FR" sz="1400" i="1" dirty="0"/>
              <a:t>/tutoriels/</a:t>
            </a:r>
            <a:r>
              <a:rPr lang="fr-FR" sz="1400" i="1" dirty="0" err="1"/>
              <a:t>php</a:t>
            </a:r>
            <a:r>
              <a:rPr lang="fr-FR" sz="1400" i="1" dirty="0"/>
              <a:t>/comprendre-</a:t>
            </a:r>
            <a:r>
              <a:rPr lang="fr-FR" sz="1400" i="1" dirty="0" err="1"/>
              <a:t>pdo</a:t>
            </a:r>
            <a:r>
              <a:rPr lang="fr-FR" sz="1400" i="1" dirty="0"/>
              <a:t>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F7B9B-2443-5842-8F51-73B70D619D9C}"/>
              </a:ext>
            </a:extLst>
          </p:cNvPr>
          <p:cNvSpPr/>
          <p:nvPr/>
        </p:nvSpPr>
        <p:spPr>
          <a:xfrm>
            <a:off x="1635097" y="2372703"/>
            <a:ext cx="8116434" cy="70157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connStr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fr-FR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mysql:host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FR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localhost;dbname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FR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ma_base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pdo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FR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PDO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</a:t>
            </a:r>
            <a:r>
              <a:rPr lang="fr-FR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connStr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‘</a:t>
            </a:r>
            <a:r>
              <a:rPr lang="fr-FR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 ‘</a:t>
            </a:r>
            <a:r>
              <a:rPr lang="fr-FR" sz="16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fr-FR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'); 	</a:t>
            </a:r>
          </a:p>
          <a:p>
            <a:endParaRPr lang="fr-FR" sz="1600" b="1" dirty="0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EFDBB-D9E7-E646-B45A-A71CDD53253F}"/>
              </a:ext>
            </a:extLst>
          </p:cNvPr>
          <p:cNvSpPr/>
          <p:nvPr/>
        </p:nvSpPr>
        <p:spPr>
          <a:xfrm>
            <a:off x="1635097" y="4085884"/>
            <a:ext cx="8116434" cy="70157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pdo</a:t>
            </a:r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setAttribute</a:t>
            </a:r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(PDO::ATTR_ERRMODE, PDO::ERRMODE_EXCEPTION);</a:t>
            </a:r>
            <a:endParaRPr lang="fr-FR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fr-FR" sz="1600" b="1" dirty="0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9094DC-B8B1-009E-113F-99621CDC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365303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simple de PDO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b="1" dirty="0">
              <a:solidFill>
                <a:schemeClr val="tx1"/>
              </a:solidFill>
              <a:hlinkClick r:id="rId2"/>
            </a:endParaRPr>
          </a:p>
          <a:p>
            <a:r>
              <a:rPr lang="fr-FR" dirty="0"/>
              <a:t>Lancer une requête SQL SELECT</a:t>
            </a:r>
          </a:p>
          <a:p>
            <a:pPr marL="400050" lvl="1" indent="0">
              <a:buNone/>
            </a:pPr>
            <a:endParaRPr lang="fr-FR" dirty="0"/>
          </a:p>
          <a:p>
            <a:pPr marL="400050" lvl="1" indent="0">
              <a:buNone/>
            </a:pPr>
            <a:endParaRPr lang="fr-FR" dirty="0"/>
          </a:p>
          <a:p>
            <a:pPr marL="400050" lvl="1" indent="0">
              <a:buNone/>
            </a:pPr>
            <a:endParaRPr lang="fr-FR" dirty="0"/>
          </a:p>
          <a:p>
            <a:r>
              <a:rPr lang="fr-FR" dirty="0"/>
              <a:t>Lancer une requête SQL INSERT, UPDATE ou DELETE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365760" y="6400800"/>
            <a:ext cx="116433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i="1" dirty="0"/>
              <a:t>Sources et </a:t>
            </a:r>
            <a:r>
              <a:rPr lang="fr-FR" sz="1400" i="1"/>
              <a:t>informations complémentaires : http</a:t>
            </a:r>
            <a:r>
              <a:rPr lang="fr-FR" sz="1400" i="1" dirty="0"/>
              <a:t>://</a:t>
            </a:r>
            <a:r>
              <a:rPr lang="fr-FR" sz="1400" i="1" dirty="0" err="1"/>
              <a:t>fmaz.developpez.com</a:t>
            </a:r>
            <a:r>
              <a:rPr lang="fr-FR" sz="1400" i="1" dirty="0"/>
              <a:t>/tutoriels/</a:t>
            </a:r>
            <a:r>
              <a:rPr lang="fr-FR" sz="1400" i="1" dirty="0" err="1"/>
              <a:t>php</a:t>
            </a:r>
            <a:r>
              <a:rPr lang="fr-FR" sz="1400" i="1" dirty="0"/>
              <a:t>/comprendre-</a:t>
            </a:r>
            <a:r>
              <a:rPr lang="fr-FR" sz="1400" i="1" dirty="0" err="1"/>
              <a:t>pdo</a:t>
            </a:r>
            <a:r>
              <a:rPr lang="fr-FR" sz="1400" i="1" dirty="0"/>
              <a:t>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F4862-3E98-344B-90CA-770C1325AC26}"/>
              </a:ext>
            </a:extLst>
          </p:cNvPr>
          <p:cNvSpPr/>
          <p:nvPr/>
        </p:nvSpPr>
        <p:spPr>
          <a:xfrm>
            <a:off x="1603566" y="2727427"/>
            <a:ext cx="8116434" cy="70157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4288" lvl="1" defTabSz="457200">
              <a:spcBef>
                <a:spcPts val="1000"/>
              </a:spcBef>
              <a:buClr>
                <a:srgbClr val="ACD433"/>
              </a:buClr>
              <a:buSzPct val="80000"/>
            </a:pP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'SELECT * FROM 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WHERE bar=1 LIMIT 10;’</a:t>
            </a:r>
          </a:p>
          <a:p>
            <a:pPr marL="14288" lvl="1" defTabSz="457200">
              <a:spcBef>
                <a:spcPts val="1000"/>
              </a:spcBef>
              <a:buClr>
                <a:srgbClr val="ACD433"/>
              </a:buClr>
              <a:buSzPct val="80000"/>
            </a:pP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pdo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)-&gt;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fetchAll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037DB-7A78-C644-8716-8B78050C3E2C}"/>
              </a:ext>
            </a:extLst>
          </p:cNvPr>
          <p:cNvSpPr/>
          <p:nvPr/>
        </p:nvSpPr>
        <p:spPr>
          <a:xfrm>
            <a:off x="1593199" y="4259306"/>
            <a:ext cx="8116434" cy="121876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4288" lvl="1" defTabSz="457200">
              <a:spcBef>
                <a:spcPts val="1000"/>
              </a:spcBef>
              <a:buClr>
                <a:srgbClr val="ACD433"/>
              </a:buClr>
              <a:buSzPct val="80000"/>
            </a:pP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'DELETE FROM 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WHERE bar&lt;10;’; </a:t>
            </a:r>
          </a:p>
          <a:p>
            <a:pPr marL="14288" lvl="1" defTabSz="457200">
              <a:spcBef>
                <a:spcPts val="1000"/>
              </a:spcBef>
              <a:buClr>
                <a:srgbClr val="ACD433"/>
              </a:buClr>
              <a:buSzPct val="80000"/>
            </a:pP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//Retourne le nombres d’enregistrements crées, modifiés ou supprimés</a:t>
            </a:r>
          </a:p>
          <a:p>
            <a:pPr marL="14288" lvl="1" defTabSz="457200">
              <a:spcBef>
                <a:spcPts val="1000"/>
              </a:spcBef>
              <a:buClr>
                <a:srgbClr val="ACD433"/>
              </a:buClr>
              <a:buSzPct val="80000"/>
            </a:pP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rowCount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pdo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</a:t>
            </a:r>
            <a:r>
              <a:rPr lang="fr-FR" sz="1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D5BA98-1ABD-F6B1-9198-3B76AB0B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105227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Requêtes préparées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6727" y="1143266"/>
            <a:ext cx="11029615" cy="3678303"/>
          </a:xfrm>
        </p:spPr>
        <p:txBody>
          <a:bodyPr>
            <a:normAutofit/>
          </a:bodyPr>
          <a:lstStyle/>
          <a:p>
            <a:r>
              <a:rPr lang="fr-FR" sz="1600" dirty="0"/>
              <a:t>Les requêtes préparées permettent d’améliorer la performance et la sécurité :</a:t>
            </a:r>
          </a:p>
          <a:p>
            <a:pPr lvl="1"/>
            <a:r>
              <a:rPr lang="fr-FR" sz="1400" dirty="0"/>
              <a:t>La sécurité en limitant les risques d’injection SQL</a:t>
            </a:r>
          </a:p>
          <a:p>
            <a:pPr lvl="1"/>
            <a:r>
              <a:rPr lang="fr-FR" sz="1400" dirty="0"/>
              <a:t>La performance dans le cas ou une requête est utilisée plusieurs fois</a:t>
            </a:r>
          </a:p>
          <a:p>
            <a:pPr lvl="1"/>
            <a:endParaRPr lang="fr-FR" sz="14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dirty="0"/>
              <a:t>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1F8C7-5179-0642-A1F1-636E65ECDA35}"/>
              </a:ext>
            </a:extLst>
          </p:cNvPr>
          <p:cNvSpPr/>
          <p:nvPr/>
        </p:nvSpPr>
        <p:spPr>
          <a:xfrm>
            <a:off x="1477442" y="3202675"/>
            <a:ext cx="8116434" cy="338404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//On remplace les 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parametre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par des variables SQL définie notées :VAR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= 'SELECT * FROM 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WHERE nom=:nom LIMIT :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limit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;’; 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//Préparation de la requête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pdo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prepare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//Passage des paramètres avec leur type pour renforcer la sécurité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bindValue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(':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limit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', 10, PDO::PARAM_INT);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bindValue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(':nom', ‘Pika’, PDO::PARAM_STR);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//Lancement de la requête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//Récupération du résultat dans un tableau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arrAll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fetchAll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fr-FR" sz="1600" b="1" dirty="0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2281F7-32DC-AFF7-B14E-16D8B6D9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404232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Requêtes préparées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6727" y="1143266"/>
            <a:ext cx="11029615" cy="3678303"/>
          </a:xfrm>
        </p:spPr>
        <p:txBody>
          <a:bodyPr>
            <a:normAutofit/>
          </a:bodyPr>
          <a:lstStyle/>
          <a:p>
            <a:r>
              <a:rPr lang="fr-FR" sz="1600" dirty="0"/>
              <a:t>Les requêtes préparées permettent d’améliorer la performance et la sécurité :</a:t>
            </a:r>
          </a:p>
          <a:p>
            <a:pPr lvl="1"/>
            <a:r>
              <a:rPr lang="fr-FR" sz="1400" dirty="0"/>
              <a:t>La sécurité en limitant les risques d’injection SQL</a:t>
            </a:r>
          </a:p>
          <a:p>
            <a:pPr lvl="1"/>
            <a:r>
              <a:rPr lang="fr-FR" sz="1400" dirty="0"/>
              <a:t>La performance dans le cas ou une requête est utilisée plusieurs fois</a:t>
            </a:r>
          </a:p>
          <a:p>
            <a:pPr lvl="1"/>
            <a:endParaRPr lang="fr-FR" sz="14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dirty="0"/>
              <a:t>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1F8C7-5179-0642-A1F1-636E65ECDA35}"/>
              </a:ext>
            </a:extLst>
          </p:cNvPr>
          <p:cNvSpPr/>
          <p:nvPr/>
        </p:nvSpPr>
        <p:spPr>
          <a:xfrm>
            <a:off x="1477442" y="3202675"/>
            <a:ext cx="8116434" cy="338404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//On remplace les 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parametre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par des variables SQL définie notées :VAR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= 'SELECT * FROM 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WHERE nom=:nom LIMIT :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limit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;’; 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//Préparation de la requête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pdo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prepare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//Passage des paramètres avec leur type pour renforcer la sécurité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bindValue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(':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limit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', 10, PDO::PARAM_INT);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bindValue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(':nom', ‘Pika’, PDO::PARAM_STR);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//Lancement de la requête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//Récupération du résultat dans un tableau</a:t>
            </a:r>
          </a:p>
          <a:p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arrAll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fr-F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fetchAll</a:t>
            </a:r>
            <a:r>
              <a:rPr lang="fr-F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fr-FR" sz="1600" b="1" dirty="0">
              <a:solidFill>
                <a:schemeClr val="dk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639539-4D5C-6942-8DB8-8C2E8D3A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353704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62B8B63-820C-4F4B-9D8C-FA499201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PARCOURS DE PHP </a:t>
            </a:r>
            <a:r>
              <a:rPr lang="fr-FR" dirty="0" err="1"/>
              <a:t>mY</a:t>
            </a:r>
            <a:r>
              <a:rPr lang="fr-FR" dirty="0"/>
              <a:t> ADMIN</a:t>
            </a:r>
          </a:p>
        </p:txBody>
      </p:sp>
      <p:pic>
        <p:nvPicPr>
          <p:cNvPr id="12" name="Espace réservé d’image 11" descr="Homme qui écrit ">
            <a:extLst>
              <a:ext uri="{FF2B5EF4-FFF2-40B4-BE49-F238E27FC236}">
                <a16:creationId xmlns:a16="http://schemas.microsoft.com/office/drawing/2014/main" id="{29E16458-0C9B-4162-8A08-7C0E3BE746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817" y="601351"/>
            <a:ext cx="11290859" cy="3554000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A58F096-46A3-4EB4-950C-04CC7361A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1600" dirty="0"/>
              <a:t>Nous allons voir comment créer une table directement dans la console d’administration.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5BB4D0-13C7-43BD-B230-8B97D291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  <a:endParaRPr lang="fr" noProof="0"/>
          </a:p>
        </p:txBody>
      </p:sp>
    </p:spTree>
    <p:extLst>
      <p:ext uri="{BB962C8B-B14F-4D97-AF65-F5344CB8AC3E}">
        <p14:creationId xmlns:p14="http://schemas.microsoft.com/office/powerpoint/2010/main" val="260801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071E00-ABE1-44FD-92BD-2769C2C9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54" y="702156"/>
            <a:ext cx="3568661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Student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Party Corporation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7BD30D-629F-49D4-AE04-2D99B365E4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4294967295"/>
          </p:nvPr>
        </p:nvSpPr>
        <p:spPr>
          <a:xfrm>
            <a:off x="541282" y="1796715"/>
            <a:ext cx="3568661" cy="199690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 rtl="0">
              <a:buNone/>
            </a:pPr>
            <a:endParaRPr lang="fr-FR" sz="1600" dirty="0"/>
          </a:p>
          <a:p>
            <a:pPr marL="216000" indent="-216000" rtl="0"/>
            <a:r>
              <a:rPr lang="fr-FR" sz="1600" dirty="0"/>
              <a:t>Insérer dans une table les informations saisies. Si l’email n’existe pas</a:t>
            </a:r>
          </a:p>
          <a:p>
            <a:pPr marL="216000" indent="-216000" rtl="0"/>
            <a:r>
              <a:rPr lang="fr-FR" sz="1600" dirty="0"/>
              <a:t>Mettre à jour tous les champs si l’email existe.</a:t>
            </a:r>
          </a:p>
          <a:p>
            <a:pPr marL="216000" indent="-216000" rtl="0"/>
            <a:r>
              <a:rPr lang="fr-FR" sz="1600" dirty="0"/>
              <a:t>Faire un formulaire de suppression à partir d’un email</a:t>
            </a:r>
          </a:p>
        </p:txBody>
      </p:sp>
      <p:pic>
        <p:nvPicPr>
          <p:cNvPr id="6" name="Espace réservé du contenu 5" descr="femmes travaillant ensemble&#10;">
            <a:extLst>
              <a:ext uri="{FF2B5EF4-FFF2-40B4-BE49-F238E27FC236}">
                <a16:creationId xmlns:a16="http://schemas.microsoft.com/office/drawing/2014/main" id="{BF79C0FC-6A53-48FD-A2FB-DC1F7E6C6B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4294967295"/>
          </p:nvPr>
        </p:nvPicPr>
        <p:blipFill>
          <a:blip r:embed="rId3"/>
          <a:srcRect/>
          <a:stretch/>
        </p:blipFill>
        <p:spPr>
          <a:xfrm>
            <a:off x="4656010" y="0"/>
            <a:ext cx="7534275" cy="6858000"/>
          </a:xfrm>
          <a:prstGeom prst="rect">
            <a:avLst/>
          </a:pr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7D91225-790F-4C13-A8A5-F2C3F67C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/>
              <a:t>Guillaume FOVEAU - 2026</a:t>
            </a:r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789873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4EC38A0-3DAB-4B29-9BBE-45A9EBDB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MERCI DE VOTRE ATTENTION!</a:t>
            </a:r>
          </a:p>
        </p:txBody>
      </p:sp>
      <p:pic>
        <p:nvPicPr>
          <p:cNvPr id="14" name="Espace réservé d’image 13" descr="Jeunes femmes dans une bibliothèque">
            <a:extLst>
              <a:ext uri="{FF2B5EF4-FFF2-40B4-BE49-F238E27FC236}">
                <a16:creationId xmlns:a16="http://schemas.microsoft.com/office/drawing/2014/main" id="{E923BD5B-22B6-4E92-B95F-5F7B646738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662" y="606425"/>
            <a:ext cx="11285913" cy="3536950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037D8996-FBEA-49E7-102F-188EEF17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- 2026</a:t>
            </a:r>
          </a:p>
        </p:txBody>
      </p:sp>
    </p:spTree>
    <p:extLst>
      <p:ext uri="{BB962C8B-B14F-4D97-AF65-F5344CB8AC3E}">
        <p14:creationId xmlns:p14="http://schemas.microsoft.com/office/powerpoint/2010/main" val="37983088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242F41"/>
      </a:dk2>
      <a:lt2>
        <a:srgbClr val="E2E6E8"/>
      </a:lt2>
      <a:accent1>
        <a:srgbClr val="CE7242"/>
      </a:accent1>
      <a:accent2>
        <a:srgbClr val="BC303B"/>
      </a:accent2>
      <a:accent3>
        <a:srgbClr val="CE4287"/>
      </a:accent3>
      <a:accent4>
        <a:srgbClr val="BC30AF"/>
      </a:accent4>
      <a:accent5>
        <a:srgbClr val="A042CE"/>
      </a:accent5>
      <a:accent6>
        <a:srgbClr val="6444C2"/>
      </a:accent6>
      <a:hlink>
        <a:srgbClr val="3B8AB3"/>
      </a:hlink>
      <a:folHlink>
        <a:srgbClr val="7F7F7F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330679_TF00870617_Win32" id="{0C21701E-A02E-4477-B0D7-D47A31FC1B2D}" vid="{49D40C53-E881-496D-A6A9-546E4C7AC34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Formation au sein d'une entreprise traditionnelle</Template>
  <TotalTime>138</TotalTime>
  <Words>874</Words>
  <Application>Microsoft Office PowerPoint</Application>
  <PresentationFormat>Grand écran</PresentationFormat>
  <Paragraphs>120</Paragraphs>
  <Slides>11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Calibri</vt:lpstr>
      <vt:lpstr>Consolas</vt:lpstr>
      <vt:lpstr>Gill Sans MT</vt:lpstr>
      <vt:lpstr>Wingdings</vt:lpstr>
      <vt:lpstr>Wingdings 2</vt:lpstr>
      <vt:lpstr>DividendVTI</vt:lpstr>
      <vt:lpstr>MYSQL basics</vt:lpstr>
      <vt:lpstr>Présentation d’une BDD</vt:lpstr>
      <vt:lpstr>Intégration avec une BDD</vt:lpstr>
      <vt:lpstr>Faire du SQL en PHP</vt:lpstr>
      <vt:lpstr>Utilisation simple de PDO</vt:lpstr>
      <vt:lpstr>Utilisation simple de PDO</vt:lpstr>
      <vt:lpstr>Requêtes préparées</vt:lpstr>
      <vt:lpstr>Requêtes préparées</vt:lpstr>
      <vt:lpstr>PARCOURS DE PHP mY ADMIN</vt:lpstr>
      <vt:lpstr>Student Party Corporation</vt:lpstr>
      <vt:lpstr>MERCI DE VOTRE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Enseigner un cours</dc:title>
  <dc:creator>Guillaume FOVEAU</dc:creator>
  <cp:lastModifiedBy>Guillaume FOVEAU</cp:lastModifiedBy>
  <cp:revision>1</cp:revision>
  <dcterms:created xsi:type="dcterms:W3CDTF">2024-03-10T10:21:40Z</dcterms:created>
  <dcterms:modified xsi:type="dcterms:W3CDTF">2026-04-09T10:41:31Z</dcterms:modified>
</cp:coreProperties>
</file>